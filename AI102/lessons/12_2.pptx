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2b26a4-1d44-0701-481e-572696aa35c1}">
          <p14:sldIdLst>
            <p14:sldId id="256"/>
          </p14:sldIdLst>
        </p14:section>
        <p14:section name="Lesson 2: Acquisition functions and expected improvement" id="{23991c32-2813-a901-ce51-3385c4147e0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a9751a1f-0f94-8bc0-0f04-d6ce8372be0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12, Lesson 2 of the self-paced course Machine Learning Fundamentals for Surrogate-Based Engineering Optimization: Acquisition functions and expected improvement. This lesson belongs to the module Sequential learning and Bayesian optimization and takes about 14 minutes. In this lesson: Expected improvement for minimization.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improvement for minimization. Let f_{best} be the best (lowest) value observed so far. At each candidate x, the GP says the unknown value is roughly normal with mean μ and standard deviation σ. Expected improvement (EI) is the average amount by which it would beat f_{best}, counting “no improvement” as zero. EI is large where μ is low (exploitation) or σ is large (exploration). Look at the figure. Interactive Bayesian optimization in 1-D: the GP (top), the acquisition function (bottom) and the next sample (green line). Adjust ξ or switch to LCB, then press “Evaluate next point”. Top: GP mean, band, hidden true function and samples, with a horizontal line at the best observed value and a green vertical line at the next sample. Bottom: the EI curve, zero at existing samples and peaking at the chosen point. Increasing ξ shifts the peak toward unexplored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For a candidate x, the GP says the unknown value is Y ~ N(μ, σ²). With an optional margin ξ ≥ 0, define the improvement random variable I_ξ = max(f_{best} − Y − ξ, 0) and EI = E[I_ξ]: EI(x) = (f_{best} − μ − ξ) Φ(z) + σ φ(z), z = (f_{best} − μ − ξ)/(σ), for σ &gt; 0 EI(x) = max(f_{best} − μ − ξ, 0) for σ = 0 (then Y = μ with certainty, so I_ξ is deterministic)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Continuing. Φ, φ is the standard normal CDF and PDF. ξ ≥ 0 is the optional margin: larger ξ demands bigger improvement → more exploration, in units of f. z is the standardized improvement. σ = 0 must be handled separately: the formula divides by σ. With σ = 0 the outcome is certain, so the improvement is deterministic. At an existing noise-free sample μ = y_i ≥ f_{best}, hence EI = 0 — BO never re-samples a known point. In code, treat σ below a tiny threshold as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Heat-sink slice option in the demo: EI quickly concentrates samples around the minimum near s ≈ 1.9 mm. Synthetic multimodal option: with ξ = 0 EI may refine a local valley; with ξ ≈ 0.05 it explores other valleys first. (Fitting to log₁₀R in Lab 9 means EI is computed on the log scale.) A practical tip: Maximize EI with a multi-start or dense grid: EI is often flat (near zero) over large regions with narrow 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At a candidate, μ = 0.60, σ = 0.05, f_best = 0.62, ξ = 0. Is EI larger or smaller than 0.02?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Larger. The deterministic part alone gives 0.02·Φ(0.4) ≈ 0.0131; adding σφ(0.4) = 0.05 × 0.368 ≈ 0.0184 gives EI ≈ 0.0315 — uncertainty adds expected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EI is the probability of improvement. In fact: Probability of improvement (PI) is Φ(z); EI weights by how much improvement, which usually explores better. The takeaway: EI = (f_best − μ − ξ)Φ(z) + σφ(z); handle σ = 0 as max(f_best − μ − ξ,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Expected improvement for minimization: EI = (f_best − μ − ξ)Φ(z) + σφ(z); handle σ = 0 as max(f_best − μ − ξ,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12: Acquisition functions and expected improvement. Next comes Lesson 3: Noise, batches, constraints — and the assumptions behind 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12, Lesson 2 · Acquisition functions and expected improvement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12, Lesson 2 · Acquisition functions and expected improvement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12 · LESSON 2 OF 3 · ≈ 14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Acquisition functions and expected improvement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12: Sequential learning and Bayesian optimization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Expected improvement for minimization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12.2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improvement for minimization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Let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be the best (lowest) value observed so far. At each candidate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the GP says the unknown value is roughly normal with mean μ and standard deviation σ.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Expected improvement (EI)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 the average amount by which it would beat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counting “no improvement” as zero. EI is large where μ is low (exploitation) or σ is large (exploration).</a:t>
            </a:r>
            <a:endParaRPr lang="en-US" sz="2000" dirty="0"/>
          </a:p>
        </p:txBody>
      </p:sp>
      <p:pic>
        <p:nvPicPr>
          <p:cNvPr id="9" name="figure" descr="Top: GP mean, band, hidden true function and samples, with a horizontal line at the best observed value and a green vertical line at the next sample. Bottom: the EI curve, zero at existing samples and peaking at the chosen point. Increasing ξ shifts the peak toward unexplored region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006" y="1691640"/>
            <a:ext cx="4946364" cy="3977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715000"/>
            <a:ext cx="5653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Interactive Bayesian optimization in 1-D: the GP (top), the acquisition function (bottom) and the next sample (green line). Adjust ξ or switch to LCB, then press “Evaluate next point”.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The mathematics (1/2)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improvement for minimization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2336800"/>
          </a:xfrm>
          <a:prstGeom prst="roundRect">
            <a:avLst>
              <a:gd name="adj" fmla="val 4696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2245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 a candidate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the GP says the unknown value is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~ N(μ, σ²). With an optional margin ξ ≥ 0, define the improvement random variable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ξ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max(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ξ, 0) and EI = E[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ξ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]: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EI(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ξ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Φ(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φ(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ξ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for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&gt; 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EI(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max(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ξ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0) for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0 (then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with certainty, so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ξ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is deterministic)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The mathematics (2/2)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improvement for minimization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graphicFrame>
        <p:nvGraphicFramePr>
          <p:cNvPr id="5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64592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Φ, φ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standard normal CDF and PDF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ξ ≥ 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optional margin: larger ξ demands bigger improvement → more exploration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units of 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standardized improvement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math-card"/>
          <p:cNvSpPr/>
          <p:nvPr/>
        </p:nvSpPr>
        <p:spPr>
          <a:xfrm>
            <a:off x="1143000" y="4078224"/>
            <a:ext cx="10500055" cy="1513840"/>
          </a:xfrm>
          <a:prstGeom prst="roundRect">
            <a:avLst>
              <a:gd name="adj" fmla="val 724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9" name="math-text"/>
          <p:cNvSpPr txBox="1"/>
          <p:nvPr/>
        </p:nvSpPr>
        <p:spPr>
          <a:xfrm>
            <a:off x="1234440" y="4123944"/>
            <a:ext cx="10408615" cy="1422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σ = 0 must be handled separately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the formula divides by σ. With σ = 0 the outcome is certain, so the improvement is deterministic. At an existing noise-free sample μ =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≥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best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hence EI = 0 — BO never re-samples a known point. In code, treat σ below a tiny threshold as zero.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improvement for minimization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Heat-sink slice option in the demo: EI quickly concentrates samples around the minimum near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≈ 1.9 mm. Synthetic multimodal option: with ξ = 0 EI may refine a local valley; with ξ ≈ 0.05 it explores other valleys first. (Fitting to log₁₀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 Lab 9 means EI is computed on the log scale.)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Maximize EI with a multi-start or dense grid: EI is often flat (near zero) over large regions with narrow peaks.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At a candidate, μ = 0.60, σ = 0.05, f_best = 0.62, ξ = 0. Is EI larger or smaller than 0.02?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At a candidate, μ = 0.60, σ = 0.05, f_best = 0.62, ξ = 0. Is EI larger or smaller than 0.02?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Larger. The deterministic part alone gives 0.02·Φ(0.4) ≈ 0.0131; adding σφ(0.4) = 0.05 × 0.368 ≈ 0.0184 gives EI ≈ 0.0315 — uncertainty adds expected upside.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Acquisition functions and expected improvement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improvement for minimization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EI is the probability of improvement.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Probability of improvement (PI) is Φ(z); EI weights by how much improvement, which usually explores better.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EI = (f_best − μ − ξ)Φ(z) + σφ(z); handle σ = 0 as max(f_best − μ − ξ, 0).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Expected improvement for minimization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EI = (f_best − μ − ξ)Φ(z) + σφ(z); handle σ = 0 as max(f_best − μ − ξ, 0).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12.3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Noise, batches, constraints — and the assumptions behind BO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12: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12, Lesson 2: Acquisition functions and expected improvement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2026-10-07T01:12:32Z</dcterms:created>
  <dcterms:modified xsi:type="dcterms:W3CDTF">2026-10-07T01:12:32Z</dcterms:modified>
</cp:coreProperties>
</file>