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92a0f3b-b822-5641-5d35-3267c8c43f56}">
          <p14:sldIdLst>
            <p14:sldId id="256"/>
          </p14:sldIdLst>
        </p14:section>
        <p14:section name="Lesson 4: When ML is useful — and when it is unnecessary" id="{7e3581cc-b787-11c7-33aa-b38b6d7bdf01}">
          <p14:sldIdLst>
            <p14:sldId id="257"/>
            <p14:sldId id="258"/>
            <p14:sldId id="259"/>
            <p14:sldId id="260"/>
            <p14:sldId id="261"/>
            <p14:sldId id="262"/>
          </p14:sldIdLst>
        </p14:section>
        <p14:section name="Summary" id="{add90420-af94-f030-247c-f5ae9a4aa3ae}">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Lesson 4 of the self-paced course Machine Learning Fundamentals for Surrogate-Based Engineering Optimization: When ML is useful — and when it is unnecessary. This lesson belongs to the module AI and ML from the beginning and takes about 7 minutes. In this lesson: A decision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checklist. Three questions decide whether ML is a sensible tool: (1) Is there a validated model that is already fast enough? (2) Can you get enough representative data? (3) Are errors acceptable and checkable? Only if the first answer is “no” and the others “yes” does an ML surrogate make sense. Look at the figure. Decision flow for choosing between a physics model, more data, or an ML surrogate. Flowchart starting from “Need to predict y from x?”. If a validated physics model is fast enough, use it. Otherwise, if not enough representative data exist, collect or design data first. If data exist and errors are acceptable and checkable, an ML surrogate is a good candidate, with verification of key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No new mathematics — but note the information argument: a model fitted to n samples cannot reliably represent features of f(x) that the samples never revealed. More model flexibility cannot replace missing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Thermal systems: LMTD/ε-NTU calculations for a standard shell-and-tube exchanger are instant — no ML needed. Fluid machinery: a full-annulus unsteady CFD of a turbine stage — strong surrogate candidate. Additive manufacturing: porosity vs laser power and scan speed from 25 printed coupons — feasible, but small data and noisy measurements call for simple models and honest uncertainty. A practical tip: Write the decision down in your report: why a surrogate was needed, what it replaces, and how its key outputs were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 beam-deflection formula gives results in microseconds and agrees with tests within 3%. A student proposes a neural network trained on the formula’s outputs. Good idea?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The network can only reproduce the formula (with added error) and adds training cost and extrapolation risk. Use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More data always fixes a bad ML model. In fact: Data must be representative of where the model will be used; 10 000 samples from the wrong region do not help near the optimum. The takeaway: ML is a tool for expensive or missing physics, not a default. Verification remains your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A decision checklist: ML is a tool for expensive or missing physics, not a default. Verification remains your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4 of Module 1: When ML is useful — and when it is unnecessary. This was the last lesson of the module, so review the flashcards and take the Module 1 quiz in the course. Next comes Module 2, Python and Jupyter foundations, starting with Notebooks, cells, execution order and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 Lesson 4 · When ML is useful — and when it is unnecessary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 Lesson 4 · When ML is useful — and when it is unnecessary</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01 · LESSON 4 OF 4 · ≈ 7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When ML is useful — and when it is unnecessary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 AI and ML from the beginning</a:t>
            </a:r>
            <a:endParaRPr lang="en-US" sz="1800" dirty="0"/>
          </a:p>
          <a:p>
            <a:pPr marL="342900" indent="-342900">
              <a:buSzPct val="100000"/>
              <a:buChar char="•"/>
            </a:pPr>
            <a:r>
              <a:rPr lang="en-US" sz="1800" dirty="0">
                <a:solidFill>
                  <a:srgbClr val="D6E2F0"/>
                </a:solidFill>
              </a:rPr>
              <a:t>A decision checklist</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1.4</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decision checklist</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600" dirty="0">
                <a:solidFill>
                  <a:schemeClr val="tx1"/>
                </a:solidFill>
              </a:rPr>
              <a:t>Three questions decide whether ML is a sensible tool: (1) Is there a validated model that is already fast enough? (2) Can you get enough representative data? (3) Are errors acceptable and checkable? Only if the first answer is “no” and the others “yes” does an ML surrogate make sense.</a:t>
            </a:r>
            <a:endParaRPr lang="en-US" sz="1600" dirty="0"/>
          </a:p>
        </p:txBody>
      </p:sp>
      <p:pic>
        <p:nvPicPr>
          <p:cNvPr id="8" name="figure" descr="Flowchart starting from “Need to predict y from x?”. If a validated physics model is fast enough, use it. Otherwise, if not enough representative data exist, collect or design data first. If data exist and errors are acceptable and checkable, an ML surrogate is a good candidate, with verification of key results.">    </p:cNvPr>
          <p:cNvPicPr>
            <a:picLocks noChangeAspect="1"/>
          </p:cNvPicPr>
          <p:nvPr/>
        </p:nvPicPr>
        <p:blipFill>
          <a:blip r:embed="rId2"/>
          <a:stretch>
            <a:fillRect/>
          </a:stretch>
        </p:blipFill>
        <p:spPr>
          <a:xfrm>
            <a:off x="2616703" y="2743200"/>
            <a:ext cx="6958289"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Decision flow for choosing between a physics model, more data, or an ML surrogate.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decision checklist</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203960"/>
          </a:xfrm>
          <a:prstGeom prst="roundRect">
            <a:avLst>
              <a:gd name="adj" fmla="val 9114"/>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112520"/>
          </a:xfrm>
          <a:prstGeom prst="rect">
            <a:avLst/>
          </a:prstGeom>
          <a:noFill/>
          <a:ln/>
        </p:spPr>
        <p:txBody>
          <a:bodyPr wrap="square" lIns="1270" tIns="1270" rIns="1270" bIns="1270" rtlCol="0" anchor="ctr"/>
          <a:lstStyle/>
          <a:p>
            <a:pPr indent="0" marL="0">
              <a:buNone/>
            </a:pPr>
            <a:r>
              <a:rPr lang="en-US" sz="2000" dirty="0">
                <a:solidFill>
                  <a:schemeClr val="tx1"/>
                </a:solidFill>
              </a:rPr>
              <a:t>No new mathematics — but note the information argument: a model fitted to </a:t>
            </a:r>
            <a:pPr indent="0" marL="0">
              <a:buNone/>
            </a:pPr>
            <a:r>
              <a:rPr lang="en-US" sz="2000" i="1" dirty="0">
                <a:solidFill>
                  <a:schemeClr val="tx1"/>
                </a:solidFill>
              </a:rPr>
              <a:t>n</a:t>
            </a:r>
            <a:pPr indent="0" marL="0">
              <a:buNone/>
            </a:pPr>
            <a:r>
              <a:rPr lang="en-US" sz="2000" dirty="0">
                <a:solidFill>
                  <a:schemeClr val="tx1"/>
                </a:solidFill>
              </a:rPr>
              <a:t> samples cannot reliably represent features of </a:t>
            </a:r>
            <a:pPr indent="0" marL="0">
              <a:buNone/>
            </a:pPr>
            <a:r>
              <a:rPr lang="en-US" sz="2000" i="1" dirty="0">
                <a:solidFill>
                  <a:schemeClr val="tx1"/>
                </a:solidFill>
              </a:rPr>
              <a:t>f</a:t>
            </a:r>
            <a:pPr indent="0" marL="0">
              <a:buNone/>
            </a:pPr>
            <a:r>
              <a:rPr lang="en-US" sz="2000" dirty="0">
                <a:solidFill>
                  <a:schemeClr val="tx1"/>
                </a:solidFill>
              </a:rPr>
              <a:t>(</a:t>
            </a:r>
            <a:pPr indent="0" marL="0">
              <a:buNone/>
            </a:pPr>
            <a:r>
              <a:rPr lang="en-US" sz="2000" b="1" dirty="0">
                <a:solidFill>
                  <a:schemeClr val="tx1"/>
                </a:solidFill>
              </a:rPr>
              <a:t>x</a:t>
            </a:r>
            <a:pPr indent="0" marL="0">
              <a:buNone/>
            </a:pPr>
            <a:r>
              <a:rPr lang="en-US" sz="2000" dirty="0">
                <a:solidFill>
                  <a:schemeClr val="tx1"/>
                </a:solidFill>
              </a:rPr>
              <a:t>) that the samples never revealed. More model flexibility cannot replace missing data.</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decision checklist</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1800" b="1" dirty="0">
                <a:solidFill>
                  <a:schemeClr val="tx1"/>
                </a:solidFill>
              </a:rPr>
              <a:t>Thermal systems:</a:t>
            </a:r>
            <a:pPr indent="0" marL="0">
              <a:spcAft>
                <a:spcPts val="600"/>
              </a:spcAft>
              <a:buNone/>
            </a:pPr>
            <a:r>
              <a:rPr lang="en-US" sz="1800" dirty="0">
                <a:solidFill>
                  <a:schemeClr val="tx1"/>
                </a:solidFill>
              </a:rPr>
              <a:t> LMTD/ε-NTU calculations for a standard shell-and-tube exchanger are instant — no ML needed. </a:t>
            </a:r>
            <a:pPr indent="0" marL="0">
              <a:spcAft>
                <a:spcPts val="600"/>
              </a:spcAft>
              <a:buNone/>
            </a:pPr>
            <a:r>
              <a:rPr lang="en-US" sz="1800" b="1" dirty="0">
                <a:solidFill>
                  <a:schemeClr val="tx1"/>
                </a:solidFill>
              </a:rPr>
              <a:t>Fluid machinery:</a:t>
            </a:r>
            <a:pPr indent="0" marL="0">
              <a:spcAft>
                <a:spcPts val="600"/>
              </a:spcAft>
              <a:buNone/>
            </a:pPr>
            <a:r>
              <a:rPr lang="en-US" sz="1800" dirty="0">
                <a:solidFill>
                  <a:schemeClr val="tx1"/>
                </a:solidFill>
              </a:rPr>
              <a:t> a full-annulus unsteady CFD of a turbine stage — strong surrogate candidate. </a:t>
            </a:r>
            <a:pPr indent="0" marL="0">
              <a:spcAft>
                <a:spcPts val="600"/>
              </a:spcAft>
              <a:buNone/>
            </a:pPr>
            <a:r>
              <a:rPr lang="en-US" sz="1800" b="1" dirty="0">
                <a:solidFill>
                  <a:schemeClr val="tx1"/>
                </a:solidFill>
              </a:rPr>
              <a:t>Additive manufacturing:</a:t>
            </a:r>
            <a:pPr indent="0" marL="0">
              <a:spcAft>
                <a:spcPts val="600"/>
              </a:spcAft>
              <a:buNone/>
            </a:pPr>
            <a:r>
              <a:rPr lang="en-US" sz="1800" dirty="0">
                <a:solidFill>
                  <a:schemeClr val="tx1"/>
                </a:solidFill>
              </a:rPr>
              <a:t> porosity vs laser power and scan speed from 25 printed coupons — feasible, but small data and noisy measurements call for simple models and honest uncertainty.</a:t>
            </a:r>
            <a:endParaRPr lang="en-US" sz="18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Write the decision down in your report: why a surrogate was needed, what it replaces, and how its key outputs were verified.</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 beam-deflection formula gives results in microseconds and agrees with tests within 3%. A student proposes a neural network trained on the formula’s outputs. Good idea?</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 beam-deflection formula gives results in microseconds and agrees with tests within 3%. A student proposes a neural network trained on the formula’s outputs. Good idea?</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The network can only reproduce the formula (with added error) and adds training cost and extrapolation risk. Use the formula.</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When ML is useful — and when it is unnecessary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A decision checklist</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More data always fixes a bad ML model.</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Data must be representative of where the model will be used; 10 000 samples from the wrong region do not help near the optimum.</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ML is a tool for expensive or missing physics, not a default. Verification remains your responsibility.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A decision checklist</a:t>
            </a:r>
            <a:endParaRPr lang="en-US" sz="2100" dirty="0"/>
          </a:p>
          <a:p>
            <a:pPr indent="0" marL="0">
              <a:buNone/>
            </a:pPr>
            <a:r>
              <a:rPr lang="en-US" sz="2100" dirty="0">
                <a:solidFill>
                  <a:schemeClr val="tx1"/>
                </a:solidFill>
              </a:rPr>
              <a:t>ML is a tool for expensive or missing physics, not a default. Verification remains your responsibility.</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2.1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Notebooks, cells, execution order and variables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1. Before moving on, review the Module 1 flashcards and take its quiz in the course (pass mark 70%). Next: Module 2, Python and Jupyter foundations.</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Lesson 4: When ML is useful — and when it is unnecessary</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