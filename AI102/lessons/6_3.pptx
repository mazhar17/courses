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2a15e3-54c8-6f21-e032-6cbe239262bc}">
          <p14:sldIdLst>
            <p14:sldId id="256"/>
          </p14:sldIdLst>
        </p14:section>
        <p14:section name="Lesson 3: Interpolation vs extrapolation; global vs local accuracy" id="{ee8c0a17-7930-5991-aecd-0d992908d977}">
          <p14:sldIdLst>
            <p14:sldId id="257"/>
            <p14:sldId id="258"/>
            <p14:sldId id="259"/>
            <p14:sldId id="260"/>
            <p14:sldId id="261"/>
            <p14:sldId id="262"/>
          </p14:sldIdLst>
        </p14:section>
        <p14:section name="Summary" id="{9b7c3e0b-89a9-b909-da4a-bc0bb66b29a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6, Lesson 3 of the self-paced course Machine Learning Fundamentals for Surrogate-Based Engineering Optimization: Interpolation vs extrapolation; global vs local accuracy. This lesson belongs to the module What engineering surrogates are and takes about 10 minutes. In this lesson: Where can you trust a surrogate?.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can you trust a surrogate?. Interpolation: predicting inside the region covered by training samples. Extrapolation: predicting outside it. Surrogates are usually far less reliable when extrapolating, because nothing in the data constrains them there. Global accuracy is error averaged over the whole design space; local accuracy is error in a particular region (e.g., near the optimum). Look at the figure. Training data only cover 1.3–2.3 mm; move the prediction point into the extrapolation regions and compare models. Plot of R versus fin gap with six training points in a green interpolation band; red-shaded extrapolation regions on both sides. A slider moves a query point; the readout labels it interpolation or extrapolation and gives prediction, truth and error. The GP option shows an uncertainty band that widens outside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In several dimensions, “inside” is subtler than “within the bounds of each variable”. A useful working definition is the convex hull of the samples; even inside the hull, large empty regions behave like local extrapolation. The fill distance (largest distance from any design to its nearest sample) measures how big those holes are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 machining roughness surrogate fitted for feeds 0.05–0.2 mm/rev should not be used at 0.4 mm/rev. In heat-sink optimization, an optimizer may push the design to a corner of the space where samples are sparse — local extrapolation. A practical tip: Before trusting a prediction, check its distance to the nearest training sample and, if available, its predictive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 GP and a cubic polynomial agree closely at s = 1.8 mm but disagree strongly at s = 0.9 mm. What does the disagreement suggest?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That 0.9 mm is outside or far from the data, where each model is following its own assumptions. Disagreement between plausible models is a useful warning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If a point lies within the variable bounds, the surrogate is interpolating. In fact: Samples may not cover all of the bounded box; corners and gaps can still be extrapolation in effect. The takeaway: Trust interpolation more than extrapolation; check local accuracy where decisions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Where can you trust a surrogate?: Trust interpolation more than extrapolation; check local accuracy where decisions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6: Interpolation vs extrapolation; global vs local accuracy. Next comes Lesson 4: The surrogate-assisted optimization workflow,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6, Lesson 3 · Interpolation vs extrapolation; global vs local accuracy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6, Lesson 3 · Interpolation vs extrapolation; global vs local accuracy</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06 · LESSON 3 OF 4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Interpolation vs extrapolation; global vs local accuracy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6: What engineering surrogates are</a:t>
            </a:r>
            <a:endParaRPr lang="en-US" sz="1800" dirty="0"/>
          </a:p>
          <a:p>
            <a:pPr marL="342900" indent="-342900">
              <a:buSzPct val="100000"/>
              <a:buChar char="•"/>
            </a:pPr>
            <a:r>
              <a:rPr lang="en-US" sz="1800" dirty="0">
                <a:solidFill>
                  <a:srgbClr val="D6E2F0"/>
                </a:solidFill>
              </a:rPr>
              <a:t>Where can you trust a surrogate?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6.3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Where can you trust a surrogate?</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2000" b="1" dirty="0">
                <a:solidFill>
                  <a:schemeClr val="tx1"/>
                </a:solidFill>
              </a:rPr>
              <a:t>Interpolation</a:t>
            </a:r>
            <a:pPr indent="0" marL="0">
              <a:spcAft>
                <a:spcPts val="600"/>
              </a:spcAft>
              <a:buNone/>
            </a:pPr>
            <a:r>
              <a:rPr lang="en-US" sz="2000" dirty="0">
                <a:solidFill>
                  <a:schemeClr val="tx1"/>
                </a:solidFill>
              </a:rPr>
              <a:t>: predicting inside the region covered by training samples. </a:t>
            </a:r>
            <a:pPr indent="0" marL="0">
              <a:spcAft>
                <a:spcPts val="600"/>
              </a:spcAft>
              <a:buNone/>
            </a:pPr>
            <a:r>
              <a:rPr lang="en-US" sz="2000" b="1" dirty="0">
                <a:solidFill>
                  <a:schemeClr val="tx1"/>
                </a:solidFill>
              </a:rPr>
              <a:t>Extrapolation</a:t>
            </a:r>
            <a:pPr indent="0" marL="0">
              <a:spcAft>
                <a:spcPts val="600"/>
              </a:spcAft>
              <a:buNone/>
            </a:pPr>
            <a:r>
              <a:rPr lang="en-US" sz="2000" dirty="0">
                <a:solidFill>
                  <a:schemeClr val="tx1"/>
                </a:solidFill>
              </a:rPr>
              <a:t>: predicting outside it. Surrogates are usually far less reliable when extrapolating, because nothing in the data constrains them there. </a:t>
            </a:r>
            <a:pPr indent="0" marL="0">
              <a:spcAft>
                <a:spcPts val="600"/>
              </a:spcAft>
              <a:buNone/>
            </a:pPr>
            <a:r>
              <a:rPr lang="en-US" sz="2000" b="1" dirty="0">
                <a:solidFill>
                  <a:schemeClr val="tx1"/>
                </a:solidFill>
              </a:rPr>
              <a:t>Global accuracy</a:t>
            </a:r>
            <a:pPr indent="0" marL="0">
              <a:spcAft>
                <a:spcPts val="600"/>
              </a:spcAft>
              <a:buNone/>
            </a:pPr>
            <a:r>
              <a:rPr lang="en-US" sz="2000" dirty="0">
                <a:solidFill>
                  <a:schemeClr val="tx1"/>
                </a:solidFill>
              </a:rPr>
              <a:t> is error averaged over the whole design space; </a:t>
            </a:r>
            <a:pPr indent="0" marL="0">
              <a:spcAft>
                <a:spcPts val="600"/>
              </a:spcAft>
              <a:buNone/>
            </a:pPr>
            <a:r>
              <a:rPr lang="en-US" sz="2000" b="1" dirty="0">
                <a:solidFill>
                  <a:schemeClr val="tx1"/>
                </a:solidFill>
              </a:rPr>
              <a:t>local accuracy</a:t>
            </a:r>
            <a:pPr indent="0" marL="0">
              <a:spcAft>
                <a:spcPts val="600"/>
              </a:spcAft>
              <a:buNone/>
            </a:pPr>
            <a:r>
              <a:rPr lang="en-US" sz="2000" dirty="0">
                <a:solidFill>
                  <a:schemeClr val="tx1"/>
                </a:solidFill>
              </a:rPr>
              <a:t> is error in a particular region (e.g., near the optimum).</a:t>
            </a:r>
            <a:endParaRPr lang="en-US" sz="2000" dirty="0"/>
          </a:p>
        </p:txBody>
      </p:sp>
      <p:pic>
        <p:nvPicPr>
          <p:cNvPr id="9" name="figure" descr="Plot of R versus fin gap with six training points in a green interpolation band; red-shaded extrapolation regions on both sides. A slider moves a query point; the readout labels it interpolation or extrapolation and gives prediction, truth and error. The GP option shows an uncertainty band that widens outside the data.">    </p:cNvPr>
          <p:cNvPicPr>
            <a:picLocks noChangeAspect="1"/>
          </p:cNvPicPr>
          <p:nvPr/>
        </p:nvPicPr>
        <p:blipFill>
          <a:blip r:embed="rId2"/>
          <a:stretch>
            <a:fillRect/>
          </a:stretch>
        </p:blipFill>
        <p:spPr>
          <a:xfrm>
            <a:off x="5989320" y="1691640"/>
            <a:ext cx="5653735" cy="3212731"/>
          </a:xfrm>
          <a:prstGeom prst="rect">
            <a:avLst/>
          </a:prstGeom>
        </p:spPr>
      </p:pic>
      <p:sp>
        <p:nvSpPr>
          <p:cNvPr id="10" name="Text 5"/>
          <p:cNvSpPr txBox="1"/>
          <p:nvPr/>
        </p:nvSpPr>
        <p:spPr>
          <a:xfrm>
            <a:off x="5989320" y="4950091"/>
            <a:ext cx="5653735" cy="1267829"/>
          </a:xfrm>
          <a:prstGeom prst="rect">
            <a:avLst/>
          </a:prstGeom>
          <a:noFill/>
          <a:ln/>
        </p:spPr>
        <p:txBody>
          <a:bodyPr wrap="square" lIns="0" tIns="0" rIns="0" bIns="0" rtlCol="0" anchor="t"/>
          <a:lstStyle/>
          <a:p>
            <a:pPr indent="0" marL="0">
              <a:buNone/>
            </a:pPr>
            <a:r>
              <a:rPr lang="en-US" sz="1200" i="1" dirty="0">
                <a:solidFill>
                  <a:srgbClr val="46525F"/>
                </a:solidFill>
              </a:rPr>
              <a:t>Training data only cover 1.3–2.3 mm; move the prediction point into the extrapolation regions and compare models.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Where can you trust a surrogate?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823720"/>
          </a:xfrm>
          <a:prstGeom prst="roundRect">
            <a:avLst>
              <a:gd name="adj" fmla="val 6017"/>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732280"/>
          </a:xfrm>
          <a:prstGeom prst="rect">
            <a:avLst/>
          </a:prstGeom>
          <a:noFill/>
          <a:ln/>
        </p:spPr>
        <p:txBody>
          <a:bodyPr wrap="square" lIns="1270" tIns="1270" rIns="1270" bIns="1270" rtlCol="0" anchor="ctr"/>
          <a:lstStyle/>
          <a:p>
            <a:pPr indent="0" marL="0">
              <a:buNone/>
            </a:pPr>
            <a:r>
              <a:rPr lang="en-US" sz="2000" dirty="0">
                <a:solidFill>
                  <a:schemeClr val="tx1"/>
                </a:solidFill>
              </a:rPr>
              <a:t>In several dimensions, “inside” is subtler than “within the bounds of each variable”. A useful working definition is the </a:t>
            </a:r>
            <a:pPr indent="0" marL="0">
              <a:buNone/>
            </a:pPr>
            <a:r>
              <a:rPr lang="en-US" sz="2000" b="1" dirty="0">
                <a:solidFill>
                  <a:schemeClr val="tx1"/>
                </a:solidFill>
              </a:rPr>
              <a:t>convex hull</a:t>
            </a:r>
            <a:pPr indent="0" marL="0">
              <a:buNone/>
            </a:pPr>
            <a:r>
              <a:rPr lang="en-US" sz="2000" dirty="0">
                <a:solidFill>
                  <a:schemeClr val="tx1"/>
                </a:solidFill>
              </a:rPr>
              <a:t> of the samples; even inside the hull, large empty regions behave like local extrapolation. The fill distance (largest distance from any design to its nearest sample) measures how big those holes are (Module 7).</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Where can you trust a surrogate?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 machining roughness surrogate fitted for feeds 0.05–0.2 mm/rev should not be used at 0.4 mm/rev. In heat-sink optimization, an optimizer may push the design to a corner of the space where samples are sparse — local extrapolation.</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Before trusting a prediction, check its distance to the nearest training sample and, if available, its predictive uncertainty.</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 GP and a cubic polynomial agree closely at s = 1.8 mm but disagree strongly at s = 0.9 mm. What does the disagreement suggest?</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 GP and a cubic polynomial agree closely at s = 1.8 mm but disagree strongly at s = 0.9 mm. What does the disagreement suggest?</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That 0.9 mm is outside or far from the data, where each model is following its own assumptions. Disagreement between plausible models is a useful warning sign.</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Interpolation vs extrapolation; global vs local accuracy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Where can you trust a surrogate?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If a point lies within the variable bounds, the surrogate is interpolating.</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Samples may not cover all of the bounded box; corners and gaps can still be extrapolation in effect.</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Trust interpolation more than extrapolation; check local accuracy where decisions are made.</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Where can you trust a surrogate?</a:t>
            </a:r>
            <a:endParaRPr lang="en-US" sz="2100" dirty="0"/>
          </a:p>
          <a:p>
            <a:pPr indent="0" marL="0">
              <a:buNone/>
            </a:pPr>
            <a:r>
              <a:rPr lang="en-US" sz="2100" dirty="0">
                <a:solidFill>
                  <a:schemeClr val="tx1"/>
                </a:solidFill>
              </a:rPr>
              <a:t>Trust interpolation more than extrapolation; check local accuracy where decisions are made.</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6.4</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The surrogate-assisted optimization workflow, and limitations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6: Lesson 4.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Lesson 3: Interpolation vs extrapolation; global vs local accuracy</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