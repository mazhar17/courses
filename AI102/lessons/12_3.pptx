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cedae2e-c195-0ecf-2025-f2a73f2ce298}">
          <p14:sldIdLst>
            <p14:sldId id="256"/>
          </p14:sldIdLst>
        </p14:section>
        <p14:section name="Lesson 3: Noise, batches, constraints — and the assumptions behind BO" id="{d471efbf-8364-c001-3856-1b9beabea4b4}">
          <p14:sldIdLst>
            <p14:sldId id="257"/>
            <p14:sldId id="258"/>
            <p14:sldId id="259"/>
            <p14:sldId id="260"/>
            <p14:sldId id="261"/>
            <p14:sldId id="262"/>
          </p14:sldIdLst>
        </p14:section>
        <p14:section name="Summary" id="{21fe4638-923f-fa1c-0073-6ee900ae94a8}">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12, Lesson 3 of the self-paced course Machine Learning Fundamentals for Surrogate-Based Engineering Optimization: Noise, batches, constraints — and the assumptions behind BO. This lesson belongs to the module Sequential learning and Bayesian optimization and takes about 10 minutes. In this lesson: Extensions and honest caveats.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Extensions and honest caveats. Noisy evaluations (experiments): use a GP with a noise term. A simple incumbent heuristic is to take f_{best} as the lowest GP mean at sampled points rather than the luckiest noisy observation. This is a pragmatic plug-in, not a complete noise-aware method: proper noisy-EI variants (e.g., noisy or augmented EI, or knowledge-gradient) account for the noise in both the incumbent and the candidate and are beyond this course. Batch selection: when several simulations can run in parallel, choose several points per iteration (e.g., by temporarily “fantasizing” outcomes or penalizing nearby points). Constrained BO: multiply EI by the probability of feasibility from constraint GPs. Look at the figure. Synthetic illustration: EI, probability of feasibility (PoF) and their product. Three curves over a 1-D variable: EI with peaks in several places, PoF rising from 0 to 1 near x = 0.55, and their product, which suppresses EI peaks in the infeasible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PoF(x) = Π_j Φ( (0 − μ_{gj}(x))/(σ_{gj}(x)) ), acquisition = EI(x) · PoF(x) The product form assumes independent constraint GPs. Cheap constraints (mass) are enforced exactly by excluding infeasible designs from the search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Lab 9 implements constrained EI for the heat sink: EI on log₁₀R, PoF from a GP of log₁₀ΔT_{air} with limit log₁₀12, and exact mass exclusion. In the course’s convergence study, BO and simple sequential SBO perform similarly on this smooth 2-D problem — BO’s advantages are larger on multimodal problems. A practical tip: Refit GP hyperparameters as data accumulate and inspect them; track the best verified value per evaluation, and stop on budget or stagnation.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Which uncertainty does EI rely on?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The GP’s predictive σ — a model-based, mostly epistemic uncertainty that depends on kernel, length scales and scaling. If σ is badly calibrated, EI misjudges where to explore.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BO is guaranteed to find the global optimum efficiently. In fact: Its efficiency depends on the GP being a reasonable model of the function. With a poor kernel or wrong length scale it can over-exploit or waste evaluations. Theoretical guarantees exist only under assumptions. The takeaway: BO extends to noise, batches and constraints, but relies on the GP’s assumptions and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Extensions and honest caveats: BO extends to noise, batches and constraints, but relies on the GP’s assumptions and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3 of Module 12: Noise, batches, constraints — and the assumptions behind BO. This was the last lesson of the module, so review the flashcards and take the Module 12 quiz in the course. Next comes Module 13, Reproducible engineering research, starting with Provenance: seeds, versions, units and budgets.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12, Lesson 3 · Noise, batches, constraints — and the assumptions behind BO</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12, Lesson 3 · Noise, batches, constraints — and the assumptions behind BO</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12 · LESSON 3 OF 3 · ≈ 10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Noise, batches, constraints — and the assumptions behind BO</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12: Sequential learning and Bayesian optimization</a:t>
            </a:r>
            <a:endParaRPr lang="en-US" sz="1800" dirty="0"/>
          </a:p>
          <a:p>
            <a:pPr marL="342900" indent="-342900">
              <a:buSzPct val="100000"/>
              <a:buChar char="•"/>
            </a:pPr>
            <a:r>
              <a:rPr lang="en-US" sz="1800" dirty="0">
                <a:solidFill>
                  <a:srgbClr val="D6E2F0"/>
                </a:solidFill>
              </a:rPr>
              <a:t>Extensions and honest caveats</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12.3</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Noise, batches, constraints — and the assumptions behind BO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Extensions and honest caveats</a:t>
            </a:r>
            <a:endParaRPr lang="en-US" sz="3200" dirty="0"/>
          </a:p>
        </p:txBody>
      </p:sp>
      <p:sp>
        <p:nvSpPr>
          <p:cNvPr id="5" name="intuition-card"/>
          <p:cNvSpPr/>
          <p:nvPr/>
        </p:nvSpPr>
        <p:spPr>
          <a:xfrm>
            <a:off x="548640" y="1691640"/>
            <a:ext cx="5120640" cy="4480560"/>
          </a:xfrm>
          <a:prstGeom prst="roundRect">
            <a:avLst>
              <a:gd name="adj" fmla="val 2449"/>
            </a:avLst>
          </a:prstGeom>
          <a:solidFill>
            <a:schemeClr val="accent1">
              <a:alpha val="7000"/>
            </a:schemeClr>
          </a:solidFill>
          <a:ln w="12700">
            <a:solidFill>
              <a:schemeClr val="accent1">
                <a:alpha val="30000"/>
              </a:schemeClr>
            </a:solidFill>
            <a:prstDash val="solid"/>
          </a:ln>
        </p:spPr>
      </p:sp>
      <p:sp>
        <p:nvSpPr>
          <p:cNvPr id="6" name="icon-bg-intu"/>
          <p:cNvSpPr/>
          <p:nvPr/>
        </p:nvSpPr>
        <p:spPr>
          <a:xfrm>
            <a:off x="777240" y="1874520"/>
            <a:ext cx="502920" cy="502920"/>
          </a:xfrm>
          <a:prstGeom prst="ellipse">
            <a:avLst/>
          </a:prstGeom>
          <a:solidFill>
            <a:schemeClr val="accent1"/>
          </a:solidFill>
          <a:ln w="12700">
            <a:solidFill>
              <a:schemeClr val="accent1"/>
            </a:solidFill>
            <a:prstDash val="solid"/>
          </a:ln>
        </p:spPr>
      </p:sp>
      <p:pic>
        <p:nvPicPr>
          <p:cNvPr id="7" name="icon-intu" descr="preencoded.png">    </p:cNvPr>
          <p:cNvPicPr>
            <a:picLocks noChangeAspect="1"/>
          </p:cNvPicPr>
          <p:nvPr/>
        </p:nvPicPr>
        <p:blipFill>
          <a:blip r:embed="rId1"/>
          <a:stretch>
            <a:fillRect/>
          </a:stretch>
        </p:blipFill>
        <p:spPr>
          <a:xfrm>
            <a:off x="897941" y="1995221"/>
            <a:ext cx="261518" cy="261518"/>
          </a:xfrm>
          <a:prstGeom prst="rect">
            <a:avLst/>
          </a:prstGeom>
        </p:spPr>
      </p:pic>
      <p:sp>
        <p:nvSpPr>
          <p:cNvPr id="8" name="text"/>
          <p:cNvSpPr txBox="1"/>
          <p:nvPr/>
        </p:nvSpPr>
        <p:spPr>
          <a:xfrm>
            <a:off x="685800" y="2468880"/>
            <a:ext cx="4846320" cy="3611880"/>
          </a:xfrm>
          <a:prstGeom prst="rect">
            <a:avLst/>
          </a:prstGeom>
          <a:noFill/>
          <a:ln/>
        </p:spPr>
        <p:txBody>
          <a:bodyPr wrap="square" lIns="1270" tIns="1270" rIns="1270" bIns="1270" rtlCol="0" anchor="t"/>
          <a:lstStyle/>
          <a:p>
            <a:pPr indent="0" marL="0">
              <a:spcAft>
                <a:spcPts val="600"/>
              </a:spcAft>
              <a:buNone/>
            </a:pPr>
            <a:r>
              <a:rPr lang="en-US" sz="1400" b="1" dirty="0">
                <a:solidFill>
                  <a:schemeClr val="tx1"/>
                </a:solidFill>
              </a:rPr>
              <a:t>Noisy evaluations</a:t>
            </a:r>
            <a:pPr indent="0" marL="0">
              <a:spcAft>
                <a:spcPts val="600"/>
              </a:spcAft>
              <a:buNone/>
            </a:pPr>
            <a:r>
              <a:rPr lang="en-US" sz="1400" dirty="0">
                <a:solidFill>
                  <a:schemeClr val="tx1"/>
                </a:solidFill>
              </a:rPr>
              <a:t> (experiments): use a GP with a noise term. A simple </a:t>
            </a:r>
            <a:pPr indent="0" marL="0">
              <a:spcAft>
                <a:spcPts val="600"/>
              </a:spcAft>
              <a:buNone/>
            </a:pPr>
            <a:r>
              <a:rPr lang="en-US" sz="1400" i="1" dirty="0">
                <a:solidFill>
                  <a:schemeClr val="tx1"/>
                </a:solidFill>
              </a:rPr>
              <a:t>incumbent heuristic</a:t>
            </a:r>
            <a:pPr indent="0" marL="0">
              <a:spcAft>
                <a:spcPts val="600"/>
              </a:spcAft>
              <a:buNone/>
            </a:pPr>
            <a:r>
              <a:rPr lang="en-US" sz="1400" dirty="0">
                <a:solidFill>
                  <a:schemeClr val="tx1"/>
                </a:solidFill>
              </a:rPr>
              <a:t> is to take </a:t>
            </a:r>
            <a:pPr indent="0" marL="0">
              <a:spcAft>
                <a:spcPts val="600"/>
              </a:spcAft>
              <a:buNone/>
            </a:pPr>
            <a:r>
              <a:rPr lang="en-US" sz="1400" i="1" dirty="0">
                <a:solidFill>
                  <a:schemeClr val="tx1"/>
                </a:solidFill>
              </a:rPr>
              <a:t>f</a:t>
            </a:r>
            <a:pPr indent="0" marL="0">
              <a:spcAft>
                <a:spcPts val="600"/>
              </a:spcAft>
              <a:buNone/>
            </a:pPr>
            <a:r>
              <a:rPr lang="en-US" sz="1400" baseline="-40000" dirty="0">
                <a:solidFill>
                  <a:schemeClr val="tx1"/>
                </a:solidFill>
              </a:rPr>
              <a:t>best</a:t>
            </a:r>
            <a:pPr indent="0" marL="0">
              <a:spcAft>
                <a:spcPts val="600"/>
              </a:spcAft>
              <a:buNone/>
            </a:pPr>
            <a:r>
              <a:rPr lang="en-US" sz="1400" dirty="0">
                <a:solidFill>
                  <a:schemeClr val="tx1"/>
                </a:solidFill>
              </a:rPr>
              <a:t> as the lowest GP mean at sampled points rather than the luckiest noisy observation. This is a pragmatic plug-in, not a complete noise-aware method: proper noisy-EI variants (e.g., noisy or augmented EI, or knowledge-gradient) account for the noise in both the incumbent and the candidate and are beyond this course. </a:t>
            </a:r>
            <a:pPr indent="0" marL="0">
              <a:spcAft>
                <a:spcPts val="600"/>
              </a:spcAft>
              <a:buNone/>
            </a:pPr>
            <a:r>
              <a:rPr lang="en-US" sz="1400" b="1" dirty="0">
                <a:solidFill>
                  <a:schemeClr val="tx1"/>
                </a:solidFill>
              </a:rPr>
              <a:t>Batch selection</a:t>
            </a:r>
            <a:pPr indent="0" marL="0">
              <a:spcAft>
                <a:spcPts val="600"/>
              </a:spcAft>
              <a:buNone/>
            </a:pPr>
            <a:r>
              <a:rPr lang="en-US" sz="1400" dirty="0">
                <a:solidFill>
                  <a:schemeClr val="tx1"/>
                </a:solidFill>
              </a:rPr>
              <a:t>: when several simulations can run in parallel, choose several points per iteration (e.g., by temporarily “fantasizing” outcomes or penalizing nearby points). </a:t>
            </a:r>
            <a:pPr indent="0" marL="0">
              <a:spcAft>
                <a:spcPts val="600"/>
              </a:spcAft>
              <a:buNone/>
            </a:pPr>
            <a:r>
              <a:rPr lang="en-US" sz="1400" b="1" dirty="0">
                <a:solidFill>
                  <a:schemeClr val="tx1"/>
                </a:solidFill>
              </a:rPr>
              <a:t>Constrained BO</a:t>
            </a:r>
            <a:pPr indent="0" marL="0">
              <a:spcAft>
                <a:spcPts val="600"/>
              </a:spcAft>
              <a:buNone/>
            </a:pPr>
            <a:r>
              <a:rPr lang="en-US" sz="1400" dirty="0">
                <a:solidFill>
                  <a:schemeClr val="tx1"/>
                </a:solidFill>
              </a:rPr>
              <a:t>: multiply EI by the probability of feasibility from constraint GPs.</a:t>
            </a:r>
            <a:endParaRPr lang="en-US" sz="1400" dirty="0"/>
          </a:p>
        </p:txBody>
      </p:sp>
      <p:pic>
        <p:nvPicPr>
          <p:cNvPr id="9" name="figure" descr="Three curves over a 1-D variable: EI with peaks in several places, PoF rising from 0 to 1 near x = 0.55, and their product, which suppresses EI peaks in the infeasible region.">    </p:cNvPr>
          <p:cNvPicPr>
            <a:picLocks noChangeAspect="1"/>
          </p:cNvPicPr>
          <p:nvPr/>
        </p:nvPicPr>
        <p:blipFill>
          <a:blip r:embed="rId2"/>
          <a:stretch>
            <a:fillRect/>
          </a:stretch>
        </p:blipFill>
        <p:spPr>
          <a:xfrm>
            <a:off x="5989320" y="1691640"/>
            <a:ext cx="5653735" cy="3036576"/>
          </a:xfrm>
          <a:prstGeom prst="rect">
            <a:avLst/>
          </a:prstGeom>
        </p:spPr>
      </p:pic>
      <p:sp>
        <p:nvSpPr>
          <p:cNvPr id="10" name="Text 5"/>
          <p:cNvSpPr txBox="1"/>
          <p:nvPr/>
        </p:nvSpPr>
        <p:spPr>
          <a:xfrm>
            <a:off x="5989320" y="4773936"/>
            <a:ext cx="5653735" cy="1443984"/>
          </a:xfrm>
          <a:prstGeom prst="rect">
            <a:avLst/>
          </a:prstGeom>
          <a:noFill/>
          <a:ln/>
        </p:spPr>
        <p:txBody>
          <a:bodyPr wrap="square" lIns="0" tIns="0" rIns="0" bIns="0" rtlCol="0" anchor="t"/>
          <a:lstStyle/>
          <a:p>
            <a:pPr indent="0" marL="0">
              <a:buNone/>
            </a:pPr>
            <a:r>
              <a:rPr lang="en-US" sz="1200" i="1" dirty="0">
                <a:solidFill>
                  <a:srgbClr val="46525F"/>
                </a:solidFill>
              </a:rPr>
              <a:t>Synthetic illustration: EI, probability of feasibility (PoF) and their product.</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Noise, batches, constraints — and the assumptions behind BO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Extensions and honest caveats</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1615440"/>
          </a:xfrm>
          <a:prstGeom prst="roundRect">
            <a:avLst>
              <a:gd name="adj" fmla="val 6792"/>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524000"/>
          </a:xfrm>
          <a:prstGeom prst="rect">
            <a:avLst/>
          </a:prstGeom>
          <a:noFill/>
          <a:ln/>
        </p:spPr>
        <p:txBody>
          <a:bodyPr wrap="square" lIns="1270" tIns="1270" rIns="1270" bIns="1270" rtlCol="0" anchor="ctr"/>
          <a:lstStyle/>
          <a:p>
            <a:pPr algn="ctr" indent="0" marL="0">
              <a:spcAft>
                <a:spcPts val="800"/>
              </a:spcAft>
              <a:buNone/>
            </a:pPr>
            <a:r>
              <a:rPr lang="en-US" sz="2000" dirty="0">
                <a:solidFill>
                  <a:schemeClr val="tx1"/>
                </a:solidFill>
              </a:rPr>
              <a:t>PoF(</a:t>
            </a:r>
            <a:pPr algn="ctr" indent="0" marL="0">
              <a:buNone/>
            </a:pPr>
            <a:r>
              <a:rPr lang="en-US" sz="2000" b="1" dirty="0">
                <a:solidFill>
                  <a:schemeClr val="tx1"/>
                </a:solidFill>
              </a:rPr>
              <a:t>x</a:t>
            </a:r>
            <a:pPr algn="ctr" indent="0" marL="0">
              <a:buNone/>
            </a:pPr>
            <a:r>
              <a:rPr lang="en-US" sz="2000" dirty="0">
                <a:solidFill>
                  <a:schemeClr val="tx1"/>
                </a:solidFill>
              </a:rPr>
              <a:t>) = Π</a:t>
            </a:r>
            <a:pPr algn="ctr" indent="0" marL="0">
              <a:buNone/>
            </a:pPr>
            <a:r>
              <a:rPr lang="en-US" sz="2000" i="1" baseline="-40000" dirty="0">
                <a:solidFill>
                  <a:schemeClr val="tx1"/>
                </a:solidFill>
              </a:rPr>
              <a:t>j</a:t>
            </a:r>
            <a:pPr algn="ctr" indent="0" marL="0">
              <a:buNone/>
            </a:pPr>
            <a:r>
              <a:rPr lang="en-US" sz="2000" dirty="0">
                <a:solidFill>
                  <a:schemeClr val="tx1"/>
                </a:solidFill>
              </a:rPr>
              <a:t> Φ( (0 − </a:t>
            </a:r>
            <a:pPr algn="ctr" indent="0" marL="0">
              <a:buNone/>
            </a:pPr>
            <a:r>
              <a:rPr lang="en-US" sz="2000" i="1" dirty="0">
                <a:solidFill>
                  <a:schemeClr val="tx1"/>
                </a:solidFill>
              </a:rPr>
              <a:t>μ</a:t>
            </a:r>
            <a:pPr algn="ctr" indent="0" marL="0">
              <a:buNone/>
            </a:pPr>
            <a:r>
              <a:rPr lang="en-US" sz="2000" i="1" baseline="-40000" dirty="0">
                <a:solidFill>
                  <a:schemeClr val="tx1"/>
                </a:solidFill>
              </a:rPr>
              <a:t>gj</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dirty="0">
                <a:solidFill>
                  <a:schemeClr val="tx1"/>
                </a:solidFill>
              </a:rPr>
              <a:t>))/(</a:t>
            </a:r>
            <a:pPr algn="ctr" indent="0" marL="0">
              <a:buNone/>
            </a:pPr>
            <a:r>
              <a:rPr lang="en-US" sz="2000" i="1" dirty="0">
                <a:solidFill>
                  <a:schemeClr val="tx1"/>
                </a:solidFill>
              </a:rPr>
              <a:t>σ</a:t>
            </a:r>
            <a:pPr algn="ctr" indent="0" marL="0">
              <a:buNone/>
            </a:pPr>
            <a:r>
              <a:rPr lang="en-US" sz="2000" i="1" baseline="-40000" dirty="0">
                <a:solidFill>
                  <a:schemeClr val="tx1"/>
                </a:solidFill>
              </a:rPr>
              <a:t>gj</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dirty="0">
                <a:solidFill>
                  <a:schemeClr val="tx1"/>
                </a:solidFill>
              </a:rPr>
              <a:t>)) ), acquisition = EI(</a:t>
            </a:r>
            <a:pPr algn="ctr" indent="0" marL="0">
              <a:buNone/>
            </a:pPr>
            <a:r>
              <a:rPr lang="en-US" sz="2000" b="1" dirty="0">
                <a:solidFill>
                  <a:schemeClr val="tx1"/>
                </a:solidFill>
              </a:rPr>
              <a:t>x</a:t>
            </a:r>
            <a:pPr algn="ctr" indent="0" marL="0">
              <a:buNone/>
            </a:pPr>
            <a:r>
              <a:rPr lang="en-US" sz="2000" dirty="0">
                <a:solidFill>
                  <a:schemeClr val="tx1"/>
                </a:solidFill>
              </a:rPr>
              <a:t>) · PoF(</a:t>
            </a:r>
            <a:pPr algn="ctr" indent="0" marL="0">
              <a:buNone/>
            </a:pPr>
            <a:r>
              <a:rPr lang="en-US" sz="2000" b="1" dirty="0">
                <a:solidFill>
                  <a:schemeClr val="tx1"/>
                </a:solidFill>
              </a:rPr>
              <a:t>x</a:t>
            </a:r>
            <a:pPr algn="ctr" indent="0" marL="0">
              <a:buNone/>
            </a:pPr>
            <a:r>
              <a:rPr lang="en-US" sz="2000" dirty="0">
                <a:solidFill>
                  <a:schemeClr val="tx1"/>
                </a:solidFill>
              </a:rPr>
              <a:t>)</a:t>
            </a:r>
            <a:endParaRPr lang="en-US" sz="2000" dirty="0"/>
          </a:p>
          <a:p>
            <a:pPr indent="0" marL="0">
              <a:buNone/>
            </a:pPr>
            <a:r>
              <a:rPr lang="en-US" sz="2000" dirty="0">
                <a:solidFill>
                  <a:schemeClr val="tx1"/>
                </a:solidFill>
              </a:rPr>
              <a:t>The product form assumes independent constraint GPs. Cheap constraints (mass) are enforced exactly by excluding infeasible designs from the search instead.</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Noise, batches, constraints — and the assumptions behind BO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Extensions and honest caveats</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Lab 9 implements constrained EI for the heat sink: EI on log₁₀</a:t>
            </a:r>
            <a:pPr indent="0" marL="0">
              <a:spcAft>
                <a:spcPts val="600"/>
              </a:spcAft>
              <a:buNone/>
            </a:pPr>
            <a:r>
              <a:rPr lang="en-US" sz="2000" i="1" dirty="0">
                <a:solidFill>
                  <a:schemeClr val="tx1"/>
                </a:solidFill>
              </a:rPr>
              <a:t>R</a:t>
            </a:r>
            <a:pPr indent="0" marL="0">
              <a:spcAft>
                <a:spcPts val="600"/>
              </a:spcAft>
              <a:buNone/>
            </a:pPr>
            <a:r>
              <a:rPr lang="en-US" sz="2000" dirty="0">
                <a:solidFill>
                  <a:schemeClr val="tx1"/>
                </a:solidFill>
              </a:rPr>
              <a:t>, PoF from a GP of log₁₀Δ</a:t>
            </a:r>
            <a:pPr indent="0" marL="0">
              <a:spcAft>
                <a:spcPts val="600"/>
              </a:spcAft>
              <a:buNone/>
            </a:pPr>
            <a:r>
              <a:rPr lang="en-US" sz="2000" i="1" dirty="0">
                <a:solidFill>
                  <a:schemeClr val="tx1"/>
                </a:solidFill>
              </a:rPr>
              <a:t>T</a:t>
            </a:r>
            <a:pPr indent="0" marL="0">
              <a:spcAft>
                <a:spcPts val="600"/>
              </a:spcAft>
              <a:buNone/>
            </a:pPr>
            <a:r>
              <a:rPr lang="en-US" sz="2000" baseline="-40000" dirty="0">
                <a:solidFill>
                  <a:schemeClr val="tx1"/>
                </a:solidFill>
              </a:rPr>
              <a:t>air</a:t>
            </a:r>
            <a:pPr indent="0" marL="0">
              <a:spcAft>
                <a:spcPts val="600"/>
              </a:spcAft>
              <a:buNone/>
            </a:pPr>
            <a:r>
              <a:rPr lang="en-US" sz="2000" dirty="0">
                <a:solidFill>
                  <a:schemeClr val="tx1"/>
                </a:solidFill>
              </a:rPr>
              <a:t> with limit log₁₀12, and exact mass exclusion. In the course’s convergence study, BO and simple sequential SBO perform similarly on this smooth 2-D problem — BO’s advantages are larger on multimodal problems.</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Refit GP hyperparameters as data accumulate and inspect them; track the best verified value per evaluation, and stop on budget or stagnation.</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Noise, batches, constraints — and the assumptions behind BO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Which uncertainty does EI rely on?</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Noise, batches, constraints — and the assumptions behind BO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Which uncertainty does EI rely on?</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The GP’s predictive σ — a model-based, mostly epistemic uncertainty that depends on kernel, length scales and scaling. If σ is badly calibrated, EI misjudges where to explore.</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Noise, batches, constraints — and the assumptions behind BO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Extensions and honest caveats</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BO is guaranteed to find the global optimum efficiently.</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1900" dirty="0">
                <a:solidFill>
                  <a:schemeClr val="tx1"/>
                </a:solidFill>
              </a:rPr>
              <a:t> Its efficiency depends on the GP being a reasonable model of the function. With a poor kernel or wrong length scale it can over-exploit or waste evaluations. Theoretical guarantees exist only under assumptions.</a:t>
            </a:r>
            <a:endParaRPr lang="en-US" sz="19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BO extends to noise, batches and constraints, but relies on the GP’s assumptions and calibration.</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2100" b="1" dirty="0">
                <a:solidFill>
                  <a:schemeClr val="tx2"/>
                </a:solidFill>
              </a:rPr>
              <a:t>Extensions and honest caveats</a:t>
            </a:r>
            <a:endParaRPr lang="en-US" sz="2100" dirty="0"/>
          </a:p>
          <a:p>
            <a:pPr indent="0" marL="0">
              <a:buNone/>
            </a:pPr>
            <a:r>
              <a:rPr lang="en-US" sz="2100" dirty="0">
                <a:solidFill>
                  <a:schemeClr val="tx1"/>
                </a:solidFill>
              </a:rPr>
              <a:t>BO extends to noise, batches and constraints, but relies on the GP’s assumptions and calibration.</a:t>
            </a:r>
            <a:endParaRPr lang="en-US" sz="2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13.1</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Provenance: seeds, versions, units and budgets</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That completes Module 12. Before moving on, review the Module 12 flashcards and take its quiz in the course (pass mark 70%). Next: Module 13, Reproducible engineering research.</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12, Lesson 3: Noise, batches, constraints — and the assumptions behind BO</dc:title>
  <dc:subject>Machine Learning Fundamentals for Surrogate-Based Engineering Optimization</dc:subject>
  <dc:creator>Prof. Mazharul Islam</dc:creator>
  <cp:lastModifiedBy>Prof. Mazharul Islam</cp:lastModifiedBy>
  <cp:revision>1</cp:revision>
  <dcterms:created xsi:type="dcterms:W3CDTF">2026-10-07T01:12:32Z</dcterms:created>
  <dcterms:modified xsi:type="dcterms:W3CDTF">2026-10-07T01:12:32Z</dcterms:modified>
</cp:coreProperties>
</file>