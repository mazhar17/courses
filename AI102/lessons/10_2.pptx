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8187cdb-327d-90cf-2fb9-21960fd9db3e}">
          <p14:sldIdLst>
            <p14:sldId id="256"/>
          </p14:sldIdLst>
        </p14:section>
        <p14:section name="Lesson 2: Local vs global optima; gradient-based vs derivative-free methods" id="{6f82c54b-f736-15d0-4402-2b1327f425b5}">
          <p14:sldIdLst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Summary" id="{122e729c-d991-20da-6e31-99f1297bd8f0}">
          <p14:sldIdLst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Module 10, Lesson 2 of the self-paced course Machine Learning Fundamentals for Surrogate-Based Engineering Optimization: Local vs global optima; gradient-based vs derivative-free methods. This lesson belongs to the module Optimization foundations and takes about 12 minutes. In this lesson: Landscapes with more than one valley.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Landscapes with more than one valley. A local minimum is lowest within its neighbourhood; the global minimum is lowest over the whole feasible region. Gradient-based methods (gradient descent, quasi-Newton BFGS, SLSQP) follow slopes efficiently to a nearby local minimum. Derivative-free methods (Nelder–Mead, pattern search, grid/random search, evolutionary algorithms) use only function values; some explore globally but need many evaluations — affordable on a cheap surrogate, unaffordable on CFD. Look at the figure. Gradient descent from different starting points on a synthetic multimodal function. A wavy curve with several valleys. Points trace gradient-descent iterates from a chosen start to the nearest valley bottom; a star marks the global minimum found by a dense grid. Some starts reach it; others are trapped in local minima.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the mathematics. gradient step: x_k_{+1} = x_k − α ∇f(x_k) α is the step size (learning rate), in units of x² per unit f. ∇f is the gradient, in units of f per unit x. Necessary condition for an interior local minimum: ∇f = 0. At a constrained minimum, the objective gradient is balanced by active-constraint gradients (Karush–Kuhn–Tucker conditions) — no need to compute these by hand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does this matter in engineering? Multi-start strategy: run a local optimizer from many starting points (e.g., an LHS of starts) and keep the best — cheap on a surrogate. This page’s surrogate optimizer uses a dense grid followed by Nelder–Mead refinement from the best few grid points. A practical tip: Never claim global optimality from a single local run. Say “best design found” and describe the search (multi-start, grid, budget).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 to predict. On a smooth surrogate with one valley, which is more efficient: Nelder–Mead or BFGS with analytic gradients? Pause here and commit to an answer before moving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the answer. BFGS with gradients typically converges in far fewer evaluations on smooth problems. Derivative-free methods shine when gradients are unavailable or the function is noisy or non-smooth.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common misconception is this: A converged optimizer has found the global optimum. In fact: Convergence means a local stopping criterion was met. Without global search or problem structure (e.g., convexity), global optimality is not established. The takeaway: Gradient methods: fast, local. Derivative-free/global methods: more robust, more evaluations — fine on surrogates.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 up this lesson. Landscapes with more than one valley: Gradient methods: fast, local. Derivative-free/global methods: more robust, more evaluations — fine on surrogates.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 completes Lesson 2 of Module 10: Local vs global optima; gradient-based vs derivative-free methods. Next comes Lesson 3: Multi-objective optimization and Pareto fronts.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76809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spc="200" kern="0" dirty="0">
                <a:solidFill>
                  <a:srgbClr val="F2C14E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768096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886200"/>
            <a:ext cx="76809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D6E2F0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58064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6"/>
                </a:solidFill>
              </a:rPr>
              <a:t>Machine Learning Fundamentals for Surrogate-Based Engineering Optimization · course version 3.0.0</a:t>
            </a:r>
            <a:endParaRPr lang="en-US" sz="1200" dirty="0"/>
          </a:p>
        </p:txBody>
      </p:sp>
      <p:sp>
        <p:nvSpPr>
          <p:cNvPr id="6" name="Text 1"/>
          <p:cNvSpPr/>
          <p:nvPr/>
        </p:nvSpPr>
        <p:spPr>
          <a:xfrm>
            <a:off x="548640" y="61264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6"/>
                </a:solidFill>
              </a:rPr>
              <a:t>© 2026 Prof. Mazharul Islam · CC BY 4.0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10058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dirty="0">
                <a:solidFill>
                  <a:srgbClr val="F2C14E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33172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931920"/>
            <a:ext cx="1051560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E3ECF7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2F0"/>
                </a:solidFill>
              </a:rPr>
              <a:t>Module 10, Lesson 2 · Local vs global optima; gradient-based vs derivative-free methods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72"/>
                </a:solidFill>
              </a:rPr>
              <a:t>Module 10, Lesson 2 · Local vs global optima; gradient-based vs derivative-free methods</a:t>
            </a:r>
            <a:endParaRPr lang="en-US" sz="1000" dirty="0"/>
          </a:p>
        </p:txBody>
      </p:sp>
      <p:sp>
        <p:nvSpPr>
          <p:cNvPr id="5" name="Text 1"/>
          <p:cNvSpPr/>
          <p:nvPr/>
        </p:nvSpPr>
        <p:spPr>
          <a:xfrm>
            <a:off x="7223760" y="6400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2"/>
                </a:solidFill>
              </a:rPr>
              <a:t>© 2026 Prof. Mazharul Islam · CC BY 4.0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2C14E"/>
                </a:solidFill>
              </a:rPr>
              <a:t>MODULE 10 · LESSON 2 OF 4 · ≈ 12 MIN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Local vs global optima; gradient-based vs derivative-free methods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88620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D6E2F0"/>
                </a:solidFill>
              </a:rPr>
              <a:t>Module 10: Optimization foundations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D6E2F0"/>
                </a:solidFill>
              </a:rPr>
              <a:t>Landscapes with more than one valley</a:t>
            </a:r>
            <a:endParaRPr lang="en-US" sz="1800" dirty="0"/>
          </a:p>
        </p:txBody>
      </p:sp>
      <p:sp>
        <p:nvSpPr>
          <p:cNvPr id="5" name="lesson-number-ring"/>
          <p:cNvSpPr/>
          <p:nvPr/>
        </p:nvSpPr>
        <p:spPr>
          <a:xfrm>
            <a:off x="8732520" y="1417320"/>
            <a:ext cx="2926080" cy="2926080"/>
          </a:xfrm>
          <a:prstGeom prst="ellipse">
            <a:avLst/>
          </a:prstGeom>
          <a:solidFill>
            <a:schemeClr val="bg1">
              <a:alpha val="12000"/>
            </a:schemeClr>
          </a:solidFill>
          <a:ln w="38100">
            <a:solidFill>
              <a:srgbClr val="F2C14E"/>
            </a:solidFill>
            <a:prstDash val="solid"/>
          </a:ln>
        </p:spPr>
      </p:sp>
      <p:sp>
        <p:nvSpPr>
          <p:cNvPr id="6" name="lesson-number"/>
          <p:cNvSpPr txBox="1"/>
          <p:nvPr/>
        </p:nvSpPr>
        <p:spPr>
          <a:xfrm>
            <a:off x="8732520" y="1417320"/>
            <a:ext cx="2926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chemeClr val="bg1"/>
                </a:solidFill>
              </a:rPr>
              <a:t>10.2</a:t>
            </a:r>
            <a:endParaRPr lang="en-US" sz="8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2 · Local vs global optima; gradient-based vs derivative-free methods · Intuition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Landscapes with more than one valley</a:t>
            </a:r>
            <a:endParaRPr lang="en-US" sz="3200" dirty="0"/>
          </a:p>
        </p:txBody>
      </p:sp>
      <p:sp>
        <p:nvSpPr>
          <p:cNvPr id="5" name="intuition-card"/>
          <p:cNvSpPr/>
          <p:nvPr/>
        </p:nvSpPr>
        <p:spPr>
          <a:xfrm>
            <a:off x="548640" y="1691640"/>
            <a:ext cx="5120640" cy="4480560"/>
          </a:xfrm>
          <a:prstGeom prst="roundRect">
            <a:avLst>
              <a:gd name="adj" fmla="val 2449"/>
            </a:avLst>
          </a:prstGeom>
          <a:solidFill>
            <a:schemeClr val="accent1">
              <a:alpha val="7000"/>
            </a:schemeClr>
          </a:solidFill>
          <a:ln w="12700">
            <a:solidFill>
              <a:schemeClr val="accent1">
                <a:alpha val="30000"/>
              </a:schemeClr>
            </a:solidFill>
            <a:prstDash val="solid"/>
          </a:ln>
        </p:spPr>
      </p:sp>
      <p:sp>
        <p:nvSpPr>
          <p:cNvPr id="6" name="icon-bg-intu"/>
          <p:cNvSpPr/>
          <p:nvPr/>
        </p:nvSpPr>
        <p:spPr>
          <a:xfrm>
            <a:off x="777240" y="18745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-intu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95221"/>
            <a:ext cx="261518" cy="261518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685800" y="2468880"/>
            <a:ext cx="4846320" cy="36118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A </a:t>
            </a:r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local minimum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 is lowest within its neighbourhood; the </a:t>
            </a:r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global minimum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 is lowest over the whole feasible region. </a:t>
            </a:r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Gradient-based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 methods (gradient descent, quasi-Newton BFGS, SLSQP) follow slopes efficiently to a nearby local minimum. </a:t>
            </a:r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Derivative-free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 methods (Nelder–Mead, pattern search, grid/random search, evolutionary algorithms) use only function values; some explore globally but need many evaluations — affordable on a cheap surrogate, unaffordable on CFD.</a:t>
            </a:r>
            <a:endParaRPr lang="en-US" sz="1700" dirty="0"/>
          </a:p>
        </p:txBody>
      </p:sp>
      <p:pic>
        <p:nvPicPr>
          <p:cNvPr id="9" name="figure" descr="A wavy curve with several valleys. Points trace gradient-descent iterates from a chosen start to the nearest valley bottom; a star marks the global minimum found by a dense grid. Some starts reach it; others are trapped in local minima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691640"/>
            <a:ext cx="5653735" cy="3221119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989320" y="4958479"/>
            <a:ext cx="5653735" cy="125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6525F"/>
                </a:solidFill>
              </a:rPr>
              <a:t>Gradient descent from different starting points on a synthetic multimodal function. (Interactive in the online course.)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2 · Local vs global optima; gradient-based vs derivative-free methods · The mathematics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Landscapes with more than one valley</a:t>
            </a:r>
            <a:endParaRPr lang="en-US" sz="3200" dirty="0"/>
          </a:p>
        </p:txBody>
      </p:sp>
      <p:sp>
        <p:nvSpPr>
          <p:cNvPr id="5" name="icon-bg-math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-mat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1766621"/>
            <a:ext cx="261518" cy="261518"/>
          </a:xfrm>
          <a:prstGeom prst="rect">
            <a:avLst/>
          </a:prstGeom>
        </p:spPr>
      </p:pic>
      <p:sp>
        <p:nvSpPr>
          <p:cNvPr id="7" name="math-card"/>
          <p:cNvSpPr/>
          <p:nvPr/>
        </p:nvSpPr>
        <p:spPr>
          <a:xfrm>
            <a:off x="1143000" y="1600200"/>
            <a:ext cx="10500055" cy="584200"/>
          </a:xfrm>
          <a:prstGeom prst="roundRect">
            <a:avLst>
              <a:gd name="adj" fmla="val 18783"/>
            </a:avLst>
          </a:prstGeom>
          <a:solidFill>
            <a:schemeClr val="bg2"/>
          </a:solidFill>
          <a:ln w="12700">
            <a:solidFill>
              <a:schemeClr val="bg2">
                <a:alpha val="30000"/>
              </a:schemeClr>
            </a:solidFill>
            <a:prstDash val="solid"/>
          </a:ln>
        </p:spPr>
      </p:sp>
      <p:sp>
        <p:nvSpPr>
          <p:cNvPr id="8" name="math-text"/>
          <p:cNvSpPr txBox="1"/>
          <p:nvPr/>
        </p:nvSpPr>
        <p:spPr>
          <a:xfrm>
            <a:off x="1234440" y="1645920"/>
            <a:ext cx="10408615" cy="4927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gradient step: </a:t>
            </a:r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x</a:t>
            </a:r>
            <a:pPr algn="ctr" indent="0" marL="0">
              <a:buNone/>
            </a:pPr>
            <a:r>
              <a:rPr lang="en-US" sz="2000" i="1" baseline="-40000" dirty="0">
                <a:solidFill>
                  <a:schemeClr val="tx1"/>
                </a:solidFill>
              </a:rPr>
              <a:t>k</a:t>
            </a:r>
            <a:pPr algn="ctr" indent="0" marL="0"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+1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= </a:t>
            </a:r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x</a:t>
            </a:r>
            <a:pPr algn="ctr" indent="0" marL="0">
              <a:buNone/>
            </a:pPr>
            <a:r>
              <a:rPr lang="en-US" sz="2000" i="1" baseline="-40000" dirty="0">
                <a:solidFill>
                  <a:schemeClr val="tx1"/>
                </a:solidFill>
              </a:rPr>
              <a:t>k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− 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α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∇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f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(</a:t>
            </a:r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x</a:t>
            </a:r>
            <a:pPr algn="ctr" indent="0" marL="0">
              <a:buNone/>
            </a:pPr>
            <a:r>
              <a:rPr lang="en-US" sz="2000" i="1" baseline="-40000" dirty="0">
                <a:solidFill>
                  <a:schemeClr val="tx1"/>
                </a:solidFill>
              </a:rPr>
              <a:t>k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)</a:t>
            </a:r>
            <a:endParaRPr lang="en-US" sz="2000" dirty="0"/>
          </a:p>
        </p:txBody>
      </p:sp>
      <p:graphicFrame>
        <p:nvGraphicFramePr>
          <p:cNvPr id="4" name="math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34440" y="2367280"/>
          <a:ext cx="10408615" cy="914400"/>
        </p:xfrm>
        <a:graphic>
          <a:graphicData uri="http://schemas.openxmlformats.org/drawingml/2006/table">
            <a:tbl>
              <a:tblPr/>
              <a:tblGrid>
                <a:gridCol w="2289895"/>
                <a:gridCol w="6036997"/>
                <a:gridCol w="208172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Symbol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Unit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α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step size (learning rate)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units of x² per unit f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∇f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gradient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units of f per unit x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10" name="math-card"/>
          <p:cNvSpPr/>
          <p:nvPr/>
        </p:nvSpPr>
        <p:spPr>
          <a:xfrm>
            <a:off x="1143000" y="3848608"/>
            <a:ext cx="10500055" cy="1203960"/>
          </a:xfrm>
          <a:prstGeom prst="roundRect">
            <a:avLst>
              <a:gd name="adj" fmla="val 9114"/>
            </a:avLst>
          </a:prstGeom>
          <a:solidFill>
            <a:schemeClr val="bg2"/>
          </a:solidFill>
          <a:ln w="12700">
            <a:solidFill>
              <a:schemeClr val="bg2">
                <a:alpha val="30000"/>
              </a:schemeClr>
            </a:solidFill>
            <a:prstDash val="solid"/>
          </a:ln>
        </p:spPr>
      </p:sp>
      <p:sp>
        <p:nvSpPr>
          <p:cNvPr id="11" name="math-text"/>
          <p:cNvSpPr txBox="1"/>
          <p:nvPr/>
        </p:nvSpPr>
        <p:spPr>
          <a:xfrm>
            <a:off x="1234440" y="3894328"/>
            <a:ext cx="10408615" cy="11125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Necessary condition for an interior local minimum: ∇</a:t>
            </a:r>
            <a:pPr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f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= 0. At a constrained minimum, the objective gradient is balanced by active-constraint gradients (Karush–Kuhn–Tucker conditions) — no need to compute these by hand here.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2 · Local vs global optima; gradient-based vs derivative-free methods · In engineering practice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Landscapes with more than one valley</a:t>
            </a:r>
            <a:endParaRPr lang="en-US" sz="3200" dirty="0"/>
          </a:p>
        </p:txBody>
      </p:sp>
      <p:sp>
        <p:nvSpPr>
          <p:cNvPr id="5" name="Engineering application"/>
          <p:cNvSpPr/>
          <p:nvPr/>
        </p:nvSpPr>
        <p:spPr>
          <a:xfrm>
            <a:off x="548640" y="1691640"/>
            <a:ext cx="5364328" cy="4480560"/>
          </a:xfrm>
          <a:prstGeom prst="roundRect">
            <a:avLst>
              <a:gd name="adj" fmla="val 2449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30000"/>
              </a:schemeClr>
            </a:solidFill>
            <a:prstDash val="solid"/>
          </a:ln>
        </p:spPr>
      </p:sp>
      <p:sp>
        <p:nvSpPr>
          <p:cNvPr id="6" name="icon-bg-app"/>
          <p:cNvSpPr/>
          <p:nvPr/>
        </p:nvSpPr>
        <p:spPr>
          <a:xfrm>
            <a:off x="822960" y="1920240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7" name="icon-app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023" y="2056303"/>
            <a:ext cx="294803" cy="29480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965960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Engineering application</a:t>
            </a:r>
            <a:endParaRPr lang="en-US" sz="2000" dirty="0"/>
          </a:p>
        </p:txBody>
      </p:sp>
      <p:sp>
        <p:nvSpPr>
          <p:cNvPr id="9" name="text"/>
          <p:cNvSpPr txBox="1"/>
          <p:nvPr/>
        </p:nvSpPr>
        <p:spPr>
          <a:xfrm>
            <a:off x="777240" y="2697480"/>
            <a:ext cx="4907128" cy="33375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Multi-start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strategy: run a local optimizer from many starting points (e.g., an LHS of starts) and keep the best — cheap on a surrogate. This page’s surrogate optimizer uses a dense grid followed by Nelder–Mead refinement from the best few grid points.</a:t>
            </a:r>
            <a:endParaRPr lang="en-US" sz="2000" dirty="0"/>
          </a:p>
        </p:txBody>
      </p:sp>
      <p:sp>
        <p:nvSpPr>
          <p:cNvPr id="10" name="Practical tip"/>
          <p:cNvSpPr/>
          <p:nvPr/>
        </p:nvSpPr>
        <p:spPr>
          <a:xfrm>
            <a:off x="6278728" y="1691640"/>
            <a:ext cx="5364328" cy="4480560"/>
          </a:xfrm>
          <a:prstGeom prst="roundRect">
            <a:avLst>
              <a:gd name="adj" fmla="val 2449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>
                <a:alpha val="30000"/>
              </a:schemeClr>
            </a:solidFill>
            <a:prstDash val="solid"/>
          </a:ln>
        </p:spPr>
      </p:sp>
      <p:sp>
        <p:nvSpPr>
          <p:cNvPr id="11" name="icon-bg-tip"/>
          <p:cNvSpPr/>
          <p:nvPr/>
        </p:nvSpPr>
        <p:spPr>
          <a:xfrm>
            <a:off x="6553048" y="1920240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2" name="icon-tip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9110" y="2056303"/>
            <a:ext cx="294803" cy="29480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238848" y="1965960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Practical tip</a:t>
            </a:r>
            <a:endParaRPr lang="en-US" sz="2000" dirty="0"/>
          </a:p>
        </p:txBody>
      </p:sp>
      <p:sp>
        <p:nvSpPr>
          <p:cNvPr id="14" name="text"/>
          <p:cNvSpPr txBox="1"/>
          <p:nvPr/>
        </p:nvSpPr>
        <p:spPr>
          <a:xfrm>
            <a:off x="6507328" y="2697480"/>
            <a:ext cx="4907128" cy="33375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Never claim global optimality from a single local run. Say “best design found” and describe the search (multi-start, grid, budget).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2 · Local vs global optima; gradient-based vs derivative-free methods · Predict before you look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Pause and predict</a:t>
            </a:r>
            <a:endParaRPr lang="en-US" sz="3200" dirty="0"/>
          </a:p>
        </p:txBody>
      </p:sp>
      <p:sp>
        <p:nvSpPr>
          <p:cNvPr id="5" name="question-card"/>
          <p:cNvSpPr/>
          <p:nvPr/>
        </p:nvSpPr>
        <p:spPr>
          <a:xfrm>
            <a:off x="548640" y="1737360"/>
            <a:ext cx="11094415" cy="3291840"/>
          </a:xfrm>
          <a:prstGeom prst="roundRect">
            <a:avLst>
              <a:gd name="adj" fmla="val 3333"/>
            </a:avLst>
          </a:prstGeom>
          <a:solidFill>
            <a:schemeClr val="accent2">
              <a:alpha val="9000"/>
            </a:schemeClr>
          </a:solidFill>
          <a:ln w="12700">
            <a:solidFill>
              <a:schemeClr val="accent2">
                <a:alpha val="30000"/>
              </a:schemeClr>
            </a:solidFill>
            <a:prstDash val="solid"/>
          </a:ln>
        </p:spPr>
      </p:sp>
      <p:sp>
        <p:nvSpPr>
          <p:cNvPr id="6" name="icon-bg-predict"/>
          <p:cNvSpPr/>
          <p:nvPr/>
        </p:nvSpPr>
        <p:spPr>
          <a:xfrm>
            <a:off x="868680" y="201168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icon-predic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2187245"/>
            <a:ext cx="380390" cy="380390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1874520" y="1965960"/>
            <a:ext cx="9448495" cy="28346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On a smooth surrogate with one valley, which is more efficient: Nelder–Mead or BFGS with analytic gradients?</a:t>
            </a:r>
            <a:endParaRPr lang="en-US" sz="28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3035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6525F"/>
                </a:solidFill>
              </a:rPr>
              <a:t>Write down your answer, then continue to the next slide.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2 · Local vs global optima; gradient-based vs derivative-free methods · Answer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What happens, and why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0020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6525F"/>
                </a:solidFill>
              </a:rPr>
              <a:t>Question: </a:t>
            </a:r>
            <a:pPr indent="0" marL="0">
              <a:buNone/>
            </a:pPr>
            <a:r>
              <a:rPr lang="en-US" sz="1400" dirty="0">
                <a:solidFill>
                  <a:srgbClr val="46525F"/>
                </a:solidFill>
              </a:rPr>
              <a:t>On a smooth surrogate with one valley, which is more efficient: Nelder–Mead or BFGS with analytic gradients?</a:t>
            </a:r>
            <a:endParaRPr lang="en-US" sz="1400" dirty="0"/>
          </a:p>
        </p:txBody>
      </p:sp>
      <p:sp>
        <p:nvSpPr>
          <p:cNvPr id="6" name="answer-card"/>
          <p:cNvSpPr/>
          <p:nvPr/>
        </p:nvSpPr>
        <p:spPr>
          <a:xfrm>
            <a:off x="548640" y="2606040"/>
            <a:ext cx="11094415" cy="3566160"/>
          </a:xfrm>
          <a:prstGeom prst="roundRect">
            <a:avLst>
              <a:gd name="adj" fmla="val 3077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30000"/>
              </a:schemeClr>
            </a:solidFill>
            <a:prstDash val="solid"/>
          </a:ln>
        </p:spPr>
      </p:sp>
      <p:sp>
        <p:nvSpPr>
          <p:cNvPr id="7" name="icon-bg-answer"/>
          <p:cNvSpPr/>
          <p:nvPr/>
        </p:nvSpPr>
        <p:spPr>
          <a:xfrm>
            <a:off x="868680" y="288036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8" name="icon-answe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3055925"/>
            <a:ext cx="380390" cy="380390"/>
          </a:xfrm>
          <a:prstGeom prst="rect">
            <a:avLst/>
          </a:prstGeom>
        </p:spPr>
      </p:pic>
      <p:sp>
        <p:nvSpPr>
          <p:cNvPr id="9" name="text"/>
          <p:cNvSpPr txBox="1"/>
          <p:nvPr/>
        </p:nvSpPr>
        <p:spPr>
          <a:xfrm>
            <a:off x="1874520" y="2788920"/>
            <a:ext cx="9448495" cy="32004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BFGS with gradients typically converges in far fewer evaluations on smooth problems. Derivative-free methods shine when gradients are unavailable or the function is noisy or non-smooth.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2 · Local vs global optima; gradient-based vs derivative-free methods · Common misconception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Landscapes with more than one valley</a:t>
            </a:r>
            <a:endParaRPr lang="en-US" sz="3200" dirty="0"/>
          </a:p>
        </p:txBody>
      </p:sp>
      <p:sp>
        <p:nvSpPr>
          <p:cNvPr id="5" name="Misconception"/>
          <p:cNvSpPr/>
          <p:nvPr/>
        </p:nvSpPr>
        <p:spPr>
          <a:xfrm>
            <a:off x="548640" y="1691640"/>
            <a:ext cx="5364328" cy="2971800"/>
          </a:xfrm>
          <a:prstGeom prst="roundRect">
            <a:avLst>
              <a:gd name="adj" fmla="val 3692"/>
            </a:avLst>
          </a:prstGeom>
          <a:solidFill>
            <a:schemeClr val="accent6">
              <a:alpha val="9000"/>
            </a:schemeClr>
          </a:solidFill>
          <a:ln w="12700">
            <a:solidFill>
              <a:schemeClr val="accent6">
                <a:alpha val="30000"/>
              </a:schemeClr>
            </a:solidFill>
            <a:prstDash val="solid"/>
          </a:ln>
        </p:spPr>
      </p:sp>
      <p:sp>
        <p:nvSpPr>
          <p:cNvPr id="6" name="icon-bg-mis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7" name="icon-mi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2006194"/>
            <a:ext cx="285293" cy="28529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901952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Misconception</a:t>
            </a:r>
            <a:endParaRPr lang="en-US" sz="2000" dirty="0"/>
          </a:p>
        </p:txBody>
      </p:sp>
      <p:sp>
        <p:nvSpPr>
          <p:cNvPr id="9" name="text"/>
          <p:cNvSpPr txBox="1"/>
          <p:nvPr/>
        </p:nvSpPr>
        <p:spPr>
          <a:xfrm>
            <a:off x="777240" y="2560320"/>
            <a:ext cx="4907128" cy="20116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A converged optimizer has found the global optimum.</a:t>
            </a:r>
            <a:endParaRPr lang="en-US" sz="2000" dirty="0"/>
          </a:p>
        </p:txBody>
      </p:sp>
      <p:sp>
        <p:nvSpPr>
          <p:cNvPr id="10" name="What is actually true"/>
          <p:cNvSpPr/>
          <p:nvPr/>
        </p:nvSpPr>
        <p:spPr>
          <a:xfrm>
            <a:off x="6278728" y="1691640"/>
            <a:ext cx="5364328" cy="2971800"/>
          </a:xfrm>
          <a:prstGeom prst="roundRect">
            <a:avLst>
              <a:gd name="adj" fmla="val 3692"/>
            </a:avLst>
          </a:prstGeom>
          <a:solidFill>
            <a:schemeClr val="accent3">
              <a:alpha val="9000"/>
            </a:schemeClr>
          </a:solidFill>
          <a:ln w="12700">
            <a:solidFill>
              <a:schemeClr val="accent3">
                <a:alpha val="30000"/>
              </a:schemeClr>
            </a:solidFill>
            <a:prstDash val="solid"/>
          </a:ln>
        </p:spPr>
      </p:sp>
      <p:sp>
        <p:nvSpPr>
          <p:cNvPr id="11" name="icon-bg-cor"/>
          <p:cNvSpPr/>
          <p:nvPr/>
        </p:nvSpPr>
        <p:spPr>
          <a:xfrm>
            <a:off x="6553048" y="187452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2" name="icon-co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721" y="2006194"/>
            <a:ext cx="285293" cy="28529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238848" y="1901952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What is actually true</a:t>
            </a:r>
            <a:endParaRPr lang="en-US" sz="2000" dirty="0"/>
          </a:p>
        </p:txBody>
      </p:sp>
      <p:sp>
        <p:nvSpPr>
          <p:cNvPr id="14" name="text"/>
          <p:cNvSpPr txBox="1"/>
          <p:nvPr/>
        </p:nvSpPr>
        <p:spPr>
          <a:xfrm>
            <a:off x="6507328" y="2560320"/>
            <a:ext cx="4907128" cy="20116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Convergence means a local stopping criterion was met. Without global search or problem structure (e.g., convexity), global optimality is not established.</a:t>
            </a:r>
            <a:endParaRPr lang="en-US" sz="2000" dirty="0"/>
          </a:p>
        </p:txBody>
      </p:sp>
      <p:sp>
        <p:nvSpPr>
          <p:cNvPr id="15" name="takeaway"/>
          <p:cNvSpPr/>
          <p:nvPr/>
        </p:nvSpPr>
        <p:spPr>
          <a:xfrm>
            <a:off x="548640" y="4892040"/>
            <a:ext cx="11094415" cy="128016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icon-bg-take"/>
          <p:cNvSpPr/>
          <p:nvPr/>
        </p:nvSpPr>
        <p:spPr>
          <a:xfrm>
            <a:off x="822960" y="525780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7" name="icon-tak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4" y="5389474"/>
            <a:ext cx="285293" cy="28529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54480" y="4983480"/>
            <a:ext cx="9859975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C14E"/>
                </a:solidFill>
              </a:rPr>
              <a:t>Takeaway  </a:t>
            </a:r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Gradient methods: fast, local. Derivative-free/global methods: more robust, more evaluations — fine on surrogates.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Summary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Key takeaways from this lesson</a:t>
            </a:r>
            <a:endParaRPr lang="en-US" sz="3200" dirty="0"/>
          </a:p>
        </p:txBody>
      </p:sp>
      <p:sp>
        <p:nvSpPr>
          <p:cNvPr id="5" name="takeaway-1"/>
          <p:cNvSpPr/>
          <p:nvPr/>
        </p:nvSpPr>
        <p:spPr>
          <a:xfrm>
            <a:off x="548640" y="1645920"/>
            <a:ext cx="5387188" cy="2103120"/>
          </a:xfrm>
          <a:prstGeom prst="roundRect">
            <a:avLst>
              <a:gd name="adj" fmla="val 5217"/>
            </a:avLst>
          </a:prstGeom>
          <a:solidFill>
            <a:schemeClr val="accent1">
              <a:alpha val="7000"/>
            </a:schemeClr>
          </a:solidFill>
          <a:ln w="12700">
            <a:solidFill>
              <a:schemeClr val="accent1">
                <a:alpha val="30000"/>
              </a:scheme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13232" y="181051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1719072"/>
            <a:ext cx="4564228" cy="1956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Landscapes with more than one valley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Gradient methods: fast, local. Derivative-free/global methods: more robust, more evaluations — fine on surrogates.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2C14E"/>
                </a:solidFill>
              </a:rPr>
              <a:t>UP NEXT · LESSON 10.3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Multi-objective optimization and Pareto fronts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88620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E2F0"/>
                </a:solidFill>
              </a:rPr>
              <a:t>Next in Module 10: Lesson 3. Mark this lesson complete in the course before continuing.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732520" y="1417320"/>
            <a:ext cx="2926080" cy="2926080"/>
          </a:xfrm>
          <a:prstGeom prst="ellipse">
            <a:avLst/>
          </a:prstGeom>
          <a:solidFill>
            <a:schemeClr val="bg1">
              <a:alpha val="12000"/>
            </a:schemeClr>
          </a:solidFill>
          <a:ln w="38100">
            <a:solidFill>
              <a:srgbClr val="F2C14E"/>
            </a:solidFill>
            <a:prstDash val="solid"/>
          </a:ln>
        </p:spPr>
      </p:sp>
      <p:pic>
        <p:nvPicPr>
          <p:cNvPr id="6" name="icon-nex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33172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LSO Course">
  <a:themeElements>
    <a:clrScheme name="MLSO Course">
      <a:dk1>
        <a:srgbClr val="18212B"/>
      </a:dk1>
      <a:lt1>
        <a:srgbClr val="FFFFFF"/>
      </a:lt1>
      <a:dk2>
        <a:srgbClr val="123B6B"/>
      </a:dk2>
      <a:lt2>
        <a:srgbClr val="EEF2F7"/>
      </a:lt2>
      <a:accent1>
        <a:srgbClr val="1F5FA8"/>
      </a:accent1>
      <a:accent2>
        <a:srgbClr val="C2500A"/>
      </a:accent2>
      <a:accent3>
        <a:srgbClr val="1A6E3D"/>
      </a:accent3>
      <a:accent4>
        <a:srgbClr val="B98500"/>
      </a:accent4>
      <a:accent5>
        <a:srgbClr val="7A3FB0"/>
      </a:accent5>
      <a:accent6>
        <a:srgbClr val="B3261E"/>
      </a:accent6>
      <a:hlink>
        <a:srgbClr val="1F5FA8"/>
      </a:hlink>
      <a:folHlink>
        <a:srgbClr val="7A3FB0"/>
      </a:folHlink>
    </a:clrScheme>
    <a:fontScheme name="MLSO Cours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Self-paced course (CC BY 4.0)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10, Lesson 2: Local vs global optima; gradient-based vs derivative-free methods</dc:title>
  <dc:subject>Machine Learning Fundamentals for Surrogate-Based Engineering Optimization</dc:subject>
  <dc:creator>Prof. Mazharul Islam</dc:creator>
  <cp:lastModifiedBy>Prof. Mazharul Islam</cp:lastModifiedBy>
  <cp:revision>1</cp:revision>
  <dcterms:created xsi:type="dcterms:W3CDTF">2026-10-07T01:12:31Z</dcterms:created>
  <dcterms:modified xsi:type="dcterms:W3CDTF">2026-10-07T01:12:31Z</dcterms:modified>
</cp:coreProperties>
</file>