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c168958-867b-cff9-0972-3b179aa28178}">
          <p14:sldIdLst>
            <p14:sldId id="256"/>
          </p14:sldIdLst>
        </p14:section>
        <p14:section name="Lesson 3: Stopping criteria and fair comparisons" id="{944161b5-c55f-5280-13da-4801c2f59b22}">
          <p14:sldIdLst>
            <p14:sldId id="257"/>
            <p14:sldId id="258"/>
            <p14:sldId id="259"/>
            <p14:sldId id="260"/>
            <p14:sldId id="261"/>
            <p14:sldId id="262"/>
          </p14:sldIdLst>
        </p14:section>
        <p14:section name="Summary" id="{33d6d182-a2b6-8646-627b-999d99fdf7ed}">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11, Lesson 3 of the self-paced course Machine Learning Fundamentals for Surrogate-Based Engineering Optimization: Stopping criteria and fair comparisons. This lesson belongs to the module Surrogate-based optimization and takes about 10 minutes. In this lesson: When to stop, and how to compare methods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to stop, and how to compare methods honestly. Stop when the evaluation budget is used, when verified improvement over several iterations is negligible, or when candidates repeat. To compare methods (random search, one-shot surrogate, sequential SBO, Bayesian optimization), plot the best verified feasible objective versus the number of original-model evaluations, averaged over several seeds — never compare by iterations or by predicted values. Look at the figure. Computed live: median gap to the reference optimum versus original-model evaluations for random search, sequential SBO and Bayesian optimization (5 seeds each). Three descending curves of best feasible R minus R* versus number of evaluations. Random search improves slowly; sequential SBO and BO drop quickly after the initial 8 samples. Differences between SBO and BO are small on this smooth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stop if k ≥ B or (f_{best}^(^k^−^w^) − f_{best}^(^k^))/(|f_{best}^(^k^)|) &lt; ε B is the budget of original-model evaluations, in count. w is the window of recent iterations, in count. ε is the relative improvement tolerance, e.g. 0.001. Fair comparison: same total original-model evaluations (including initial samples), same initial design where applicable, several seeds, report median and spread, and include computational cost of fitting if it is not negligible.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In CFD-based studies the cost is dominated by simulations, so “evaluations” is the right x-axis. If a surrogate method takes hours of fitting time per iteration (e.g., large neural networks), that cost must be reported too. A practical tip: Include random search with the same budget as a baseline. If your method does not beat it clearly, reconsider.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Method A reaches its best design after 5 iterations of 4 evaluations each; method B after 12 iterations of 1 evaluation each. Which used fewer original-model evaluations?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B: 12 evaluations vs A’s 20. Compare by evaluations, not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Comparing best predicted values is fine because the surrogate is accurate. In fact: Only verified values are evidence; predicted values are biased optimistic at optima. The takeaway: Stop on budget or stagnation; compare by verified best value vs original-model evaluations over several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When to stop, and how to compare methods honestly: Stop on budget or stagnation; compare by verified best value vs original-model evaluations over several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3 of Module 11: Stopping criteria and fair comparisons. This was the last lesson of the module, so review the flashcards and take the Module 11 quiz in the course. Next comes Module 12, Sequential learning and Bayesian optimization, starting with Exploration versus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11, Lesson 3 · Stopping criteria and fair comparisons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11, Lesson 3 · Stopping criteria and fair comparisons</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11 · LESSON 3 OF 3 · ≈ 10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Stopping criteria and fair comparisons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11: Surrogate-based optimization</a:t>
            </a:r>
            <a:endParaRPr lang="en-US" sz="1800" dirty="0"/>
          </a:p>
          <a:p>
            <a:pPr marL="342900" indent="-342900">
              <a:buSzPct val="100000"/>
              <a:buChar char="•"/>
            </a:pPr>
            <a:r>
              <a:rPr lang="en-US" sz="1800" dirty="0">
                <a:solidFill>
                  <a:srgbClr val="D6E2F0"/>
                </a:solidFill>
              </a:rPr>
              <a:t>When to stop, and how to compare methods honestly</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11.3</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Stopping criteria and fair comparisons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700" b="1" dirty="0">
                <a:solidFill>
                  <a:schemeClr val="tx2"/>
                </a:solidFill>
              </a:rPr>
              <a:t>When to stop, and how to compare methods honestly</a:t>
            </a:r>
            <a:endParaRPr lang="en-US" sz="2700" dirty="0"/>
          </a:p>
        </p:txBody>
      </p:sp>
      <p:sp>
        <p:nvSpPr>
          <p:cNvPr id="5" name="intuition-card"/>
          <p:cNvSpPr/>
          <p:nvPr/>
        </p:nvSpPr>
        <p:spPr>
          <a:xfrm>
            <a:off x="548640" y="1691640"/>
            <a:ext cx="5120640"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777240" y="1874520"/>
            <a:ext cx="502920" cy="502920"/>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8" name="text"/>
          <p:cNvSpPr txBox="1"/>
          <p:nvPr/>
        </p:nvSpPr>
        <p:spPr>
          <a:xfrm>
            <a:off x="685800" y="2468880"/>
            <a:ext cx="4846320" cy="3611880"/>
          </a:xfrm>
          <a:prstGeom prst="rect">
            <a:avLst/>
          </a:prstGeom>
          <a:noFill/>
          <a:ln/>
        </p:spPr>
        <p:txBody>
          <a:bodyPr wrap="square" lIns="1270" tIns="1270" rIns="1270" bIns="1270" rtlCol="0" anchor="t"/>
          <a:lstStyle/>
          <a:p>
            <a:pPr indent="0" marL="0">
              <a:spcAft>
                <a:spcPts val="600"/>
              </a:spcAft>
              <a:buNone/>
            </a:pPr>
            <a:r>
              <a:rPr lang="en-US" sz="1800" dirty="0">
                <a:solidFill>
                  <a:schemeClr val="tx1"/>
                </a:solidFill>
              </a:rPr>
              <a:t>Stop when the evaluation budget is used, when verified improvement over several iterations is negligible, or when candidates repeat. To compare methods (random search, one-shot surrogate, sequential SBO, Bayesian optimization), plot the </a:t>
            </a:r>
            <a:pPr indent="0" marL="0">
              <a:spcAft>
                <a:spcPts val="600"/>
              </a:spcAft>
              <a:buNone/>
            </a:pPr>
            <a:r>
              <a:rPr lang="en-US" sz="1800" b="1" dirty="0">
                <a:solidFill>
                  <a:schemeClr val="tx1"/>
                </a:solidFill>
              </a:rPr>
              <a:t>best verified feasible objective versus the number of original-model evaluations</a:t>
            </a:r>
            <a:pPr indent="0" marL="0">
              <a:spcAft>
                <a:spcPts val="600"/>
              </a:spcAft>
              <a:buNone/>
            </a:pPr>
            <a:r>
              <a:rPr lang="en-US" sz="1800" dirty="0">
                <a:solidFill>
                  <a:schemeClr val="tx1"/>
                </a:solidFill>
              </a:rPr>
              <a:t>, averaged over several seeds — never compare by iterations or by predicted values.</a:t>
            </a:r>
            <a:endParaRPr lang="en-US" sz="1800" dirty="0"/>
          </a:p>
        </p:txBody>
      </p:sp>
      <p:pic>
        <p:nvPicPr>
          <p:cNvPr id="9" name="figure" descr="Three descending curves of best feasible R minus R* versus number of evaluations. Random search improves slowly; sequential SBO and BO drop quickly after the initial 8 samples. Differences between SBO and BO are small on this smooth problem.">    </p:cNvPr>
          <p:cNvPicPr>
            <a:picLocks noChangeAspect="1"/>
          </p:cNvPicPr>
          <p:nvPr/>
        </p:nvPicPr>
        <p:blipFill>
          <a:blip r:embed="rId2"/>
          <a:stretch>
            <a:fillRect/>
          </a:stretch>
        </p:blipFill>
        <p:spPr>
          <a:xfrm>
            <a:off x="5989320" y="1691640"/>
            <a:ext cx="5653735" cy="3565041"/>
          </a:xfrm>
          <a:prstGeom prst="rect">
            <a:avLst/>
          </a:prstGeom>
        </p:spPr>
      </p:pic>
      <p:sp>
        <p:nvSpPr>
          <p:cNvPr id="10" name="Text 5"/>
          <p:cNvSpPr txBox="1"/>
          <p:nvPr/>
        </p:nvSpPr>
        <p:spPr>
          <a:xfrm>
            <a:off x="5989320" y="5302401"/>
            <a:ext cx="5653735" cy="915519"/>
          </a:xfrm>
          <a:prstGeom prst="rect">
            <a:avLst/>
          </a:prstGeom>
          <a:noFill/>
          <a:ln/>
        </p:spPr>
        <p:txBody>
          <a:bodyPr wrap="square" lIns="0" tIns="0" rIns="0" bIns="0" rtlCol="0" anchor="t"/>
          <a:lstStyle/>
          <a:p>
            <a:pPr indent="0" marL="0">
              <a:buNone/>
            </a:pPr>
            <a:r>
              <a:rPr lang="en-US" sz="1200" i="1" dirty="0">
                <a:solidFill>
                  <a:srgbClr val="46525F"/>
                </a:solidFill>
              </a:rPr>
              <a:t>Computed live: median gap to the reference optimum versus original-model evaluations for random search, sequential SBO and Bayesian optimization (5 seeds each).</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Stopping criteria and fair comparisons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700" b="1" dirty="0">
                <a:solidFill>
                  <a:schemeClr val="tx2"/>
                </a:solidFill>
              </a:rPr>
              <a:t>When to stop, and how to compare methods honestly</a:t>
            </a:r>
            <a:endParaRPr lang="en-US" sz="27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584200"/>
          </a:xfrm>
          <a:prstGeom prst="roundRect">
            <a:avLst>
              <a:gd name="adj" fmla="val 18783"/>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492760"/>
          </a:xfrm>
          <a:prstGeom prst="rect">
            <a:avLst/>
          </a:prstGeom>
          <a:noFill/>
          <a:ln/>
        </p:spPr>
        <p:txBody>
          <a:bodyPr wrap="square" lIns="1270" tIns="1270" rIns="1270" bIns="1270" rtlCol="0" anchor="ctr"/>
          <a:lstStyle/>
          <a:p>
            <a:pPr algn="ctr" indent="0" marL="0">
              <a:buNone/>
            </a:pPr>
            <a:r>
              <a:rPr lang="en-US" sz="2000" dirty="0">
                <a:solidFill>
                  <a:schemeClr val="tx1"/>
                </a:solidFill>
              </a:rPr>
              <a:t>stop if </a:t>
            </a:r>
            <a:pPr algn="ctr" indent="0" marL="0">
              <a:buNone/>
            </a:pPr>
            <a:r>
              <a:rPr lang="en-US" sz="2000" i="1" dirty="0">
                <a:solidFill>
                  <a:schemeClr val="tx1"/>
                </a:solidFill>
              </a:rPr>
              <a:t>k</a:t>
            </a:r>
            <a:pPr algn="ctr" indent="0" marL="0">
              <a:buNone/>
            </a:pPr>
            <a:r>
              <a:rPr lang="en-US" sz="2000" dirty="0">
                <a:solidFill>
                  <a:schemeClr val="tx1"/>
                </a:solidFill>
              </a:rPr>
              <a:t> ≥ </a:t>
            </a:r>
            <a:pPr algn="ctr" indent="0" marL="0">
              <a:buNone/>
            </a:pPr>
            <a:r>
              <a:rPr lang="en-US" sz="2000" i="1" dirty="0">
                <a:solidFill>
                  <a:schemeClr val="tx1"/>
                </a:solidFill>
              </a:rPr>
              <a:t>B</a:t>
            </a:r>
            <a:pPr algn="ctr" indent="0" marL="0">
              <a:buNone/>
            </a:pPr>
            <a:r>
              <a:rPr lang="en-US" sz="2000" dirty="0">
                <a:solidFill>
                  <a:schemeClr val="tx1"/>
                </a:solidFill>
              </a:rPr>
              <a:t> or (</a:t>
            </a:r>
            <a:pPr algn="ctr" indent="0" marL="0">
              <a:buNone/>
            </a:pPr>
            <a:r>
              <a:rPr lang="en-US" sz="2000" i="1" dirty="0">
                <a:solidFill>
                  <a:schemeClr val="tx1"/>
                </a:solidFill>
              </a:rPr>
              <a:t>f</a:t>
            </a:r>
            <a:pPr algn="ctr" indent="0" marL="0">
              <a:buNone/>
            </a:pPr>
            <a:r>
              <a:rPr lang="en-US" sz="2000" baseline="-40000" dirty="0">
                <a:solidFill>
                  <a:schemeClr val="tx1"/>
                </a:solidFill>
              </a:rPr>
              <a:t>best</a:t>
            </a:r>
            <a:pPr algn="ctr" indent="0" marL="0">
              <a:buNone/>
            </a:pPr>
            <a:r>
              <a:rPr lang="en-US" sz="2000" baseline="30000" dirty="0">
                <a:solidFill>
                  <a:schemeClr val="tx1"/>
                </a:solidFill>
              </a:rPr>
              <a:t>(</a:t>
            </a:r>
            <a:pPr algn="ctr" indent="0" marL="0">
              <a:buNone/>
            </a:pPr>
            <a:r>
              <a:rPr lang="en-US" sz="2000" i="1" baseline="30000" dirty="0">
                <a:solidFill>
                  <a:schemeClr val="tx1"/>
                </a:solidFill>
              </a:rPr>
              <a:t>k</a:t>
            </a:r>
            <a:pPr algn="ctr" indent="0" marL="0">
              <a:buNone/>
            </a:pPr>
            <a:r>
              <a:rPr lang="en-US" sz="2000" baseline="30000" dirty="0">
                <a:solidFill>
                  <a:schemeClr val="tx1"/>
                </a:solidFill>
              </a:rPr>
              <a:t>−</a:t>
            </a:r>
            <a:pPr algn="ctr" indent="0" marL="0">
              <a:buNone/>
            </a:pPr>
            <a:r>
              <a:rPr lang="en-US" sz="2000" i="1" baseline="30000" dirty="0">
                <a:solidFill>
                  <a:schemeClr val="tx1"/>
                </a:solidFill>
              </a:rPr>
              <a:t>w</a:t>
            </a:r>
            <a:pPr algn="ctr" indent="0" marL="0">
              <a:buNone/>
            </a:pPr>
            <a:r>
              <a:rPr lang="en-US" sz="2000" baseline="30000" dirty="0">
                <a:solidFill>
                  <a:schemeClr val="tx1"/>
                </a:solidFill>
              </a:rPr>
              <a:t>)</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baseline="-40000" dirty="0">
                <a:solidFill>
                  <a:schemeClr val="tx1"/>
                </a:solidFill>
              </a:rPr>
              <a:t>best</a:t>
            </a:r>
            <a:pPr algn="ctr" indent="0" marL="0">
              <a:buNone/>
            </a:pPr>
            <a:r>
              <a:rPr lang="en-US" sz="2000" baseline="30000" dirty="0">
                <a:solidFill>
                  <a:schemeClr val="tx1"/>
                </a:solidFill>
              </a:rPr>
              <a:t>(</a:t>
            </a:r>
            <a:pPr algn="ctr" indent="0" marL="0">
              <a:buNone/>
            </a:pPr>
            <a:r>
              <a:rPr lang="en-US" sz="2000" i="1" baseline="30000" dirty="0">
                <a:solidFill>
                  <a:schemeClr val="tx1"/>
                </a:solidFill>
              </a:rPr>
              <a:t>k</a:t>
            </a:r>
            <a:pPr algn="ctr" indent="0" marL="0">
              <a:buNone/>
            </a:pPr>
            <a:r>
              <a:rPr lang="en-US" sz="2000" baseline="30000" dirty="0">
                <a:solidFill>
                  <a:schemeClr val="tx1"/>
                </a:solidFill>
              </a:rPr>
              <a:t>)</a:t>
            </a:r>
            <a:pPr algn="ctr" indent="0" marL="0">
              <a:buNone/>
            </a:pPr>
            <a:r>
              <a:rPr lang="en-US" sz="2000" dirty="0">
                <a:solidFill>
                  <a:schemeClr val="tx1"/>
                </a:solidFill>
              </a:rPr>
              <a:t>)/(|</a:t>
            </a:r>
            <a:pPr algn="ctr" indent="0" marL="0">
              <a:buNone/>
            </a:pPr>
            <a:r>
              <a:rPr lang="en-US" sz="2000" i="1" dirty="0">
                <a:solidFill>
                  <a:schemeClr val="tx1"/>
                </a:solidFill>
              </a:rPr>
              <a:t>f</a:t>
            </a:r>
            <a:pPr algn="ctr" indent="0" marL="0">
              <a:buNone/>
            </a:pPr>
            <a:r>
              <a:rPr lang="en-US" sz="2000" baseline="-40000" dirty="0">
                <a:solidFill>
                  <a:schemeClr val="tx1"/>
                </a:solidFill>
              </a:rPr>
              <a:t>best</a:t>
            </a:r>
            <a:pPr algn="ctr" indent="0" marL="0">
              <a:buNone/>
            </a:pPr>
            <a:r>
              <a:rPr lang="en-US" sz="2000" baseline="30000" dirty="0">
                <a:solidFill>
                  <a:schemeClr val="tx1"/>
                </a:solidFill>
              </a:rPr>
              <a:t>(</a:t>
            </a:r>
            <a:pPr algn="ctr" indent="0" marL="0">
              <a:buNone/>
            </a:pPr>
            <a:r>
              <a:rPr lang="en-US" sz="2000" i="1" baseline="30000" dirty="0">
                <a:solidFill>
                  <a:schemeClr val="tx1"/>
                </a:solidFill>
              </a:rPr>
              <a:t>k</a:t>
            </a:r>
            <a:pPr algn="ctr" indent="0" marL="0">
              <a:buNone/>
            </a:pPr>
            <a:r>
              <a:rPr lang="en-US" sz="2000" baseline="30000" dirty="0">
                <a:solidFill>
                  <a:schemeClr val="tx1"/>
                </a:solidFill>
              </a:rPr>
              <a:t>)</a:t>
            </a:r>
            <a:pPr algn="ctr" indent="0" marL="0">
              <a:buNone/>
            </a:pPr>
            <a:r>
              <a:rPr lang="en-US" sz="2000" dirty="0">
                <a:solidFill>
                  <a:schemeClr val="tx1"/>
                </a:solidFill>
              </a:rPr>
              <a:t>|) &lt; </a:t>
            </a:r>
            <a:pPr algn="ctr" indent="0" marL="0">
              <a:buNone/>
            </a:pPr>
            <a:r>
              <a:rPr lang="en-US" sz="2000" i="1" dirty="0">
                <a:solidFill>
                  <a:schemeClr val="tx1"/>
                </a:solidFill>
              </a:rPr>
              <a:t>ε</a:t>
            </a:r>
            <a:endParaRPr lang="en-US" sz="2000" dirty="0"/>
          </a:p>
        </p:txBody>
      </p:sp>
      <p:graphicFrame>
        <p:nvGraphicFramePr>
          <p:cNvPr id="4" name="math-table"/>
          <p:cNvGraphicFramePr>
            <a:graphicFrameLocks noGrp="1"/>
          </p:cNvGraphicFramePr>
          <p:nvPr>
            <p:extLst>
              <p:ext uri="{D42A27DB-BD31-4B8C-83A1-F6EECF244321}">
                <p14:modId xmlns:p14="http://schemas.microsoft.com/office/powerpoint/2010/main" val="1579011935"/>
              </p:ext>
            </p:extLst>
          </p:nvPr>
        </p:nvGraphicFramePr>
        <p:xfrm>
          <a:off x="1234440" y="2367280"/>
          <a:ext cx="10408615" cy="914400"/>
        </p:xfrm>
        <a:graphic>
          <a:graphicData uri="http://schemas.openxmlformats.org/drawingml/2006/table">
            <a:tbl>
              <a:tblPr/>
              <a:tblGrid>
                <a:gridCol w="2289895"/>
                <a:gridCol w="6036997"/>
                <a:gridCol w="2081723"/>
              </a:tblGrid>
              <a:tr h="0">
                <a:tc>
                  <a:txBody>
                    <a:bodyPr/>
                    <a:lstStyle/>
                    <a:p>
                      <a:pPr indent="0" marL="0">
                        <a:buNone/>
                      </a:pPr>
                      <a:r>
                        <a:rPr lang="en-US" sz="1400" b="1" dirty="0">
                          <a:solidFill>
                            <a:srgbClr val="FFFFFF"/>
                          </a:solidFill>
                        </a:rPr>
                        <a:t>Symbol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Meaning</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Unit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r>
              <a:tr h="0">
                <a:tc>
                  <a:txBody>
                    <a:bodyPr/>
                    <a:lstStyle/>
                    <a:p>
                      <a:pPr indent="0" marL="0">
                        <a:buNone/>
                      </a:pPr>
                      <a:r>
                        <a:rPr lang="en-US" sz="1400" dirty="0">
                          <a:solidFill>
                            <a:srgbClr val="18212B"/>
                          </a:solidFill>
                        </a:rPr>
                        <a:t>B</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budget of original-model evaluations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count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w</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window of recent iterations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count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dirty="0">
                          <a:solidFill>
                            <a:srgbClr val="18212B"/>
                          </a:solidFill>
                        </a:rPr>
                        <a:t>ε</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relative improvement tolerance, e.g. 0.001</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bl>
          </a:graphicData>
        </a:graphic>
      </p:graphicFrame>
      <p:sp>
        <p:nvSpPr>
          <p:cNvPr id="10" name="math-card"/>
          <p:cNvSpPr/>
          <p:nvPr/>
        </p:nvSpPr>
        <p:spPr>
          <a:xfrm>
            <a:off x="1143000" y="4799584"/>
            <a:ext cx="10500055" cy="1203960"/>
          </a:xfrm>
          <a:prstGeom prst="roundRect">
            <a:avLst>
              <a:gd name="adj" fmla="val 9114"/>
            </a:avLst>
          </a:prstGeom>
          <a:solidFill>
            <a:schemeClr val="bg2"/>
          </a:solidFill>
          <a:ln w="12700">
            <a:solidFill>
              <a:schemeClr val="bg2">
                <a:alpha val="30000"/>
              </a:schemeClr>
            </a:solidFill>
            <a:prstDash val="solid"/>
          </a:ln>
        </p:spPr>
      </p:sp>
      <p:sp>
        <p:nvSpPr>
          <p:cNvPr id="11" name="math-text"/>
          <p:cNvSpPr txBox="1"/>
          <p:nvPr/>
        </p:nvSpPr>
        <p:spPr>
          <a:xfrm>
            <a:off x="1234440" y="4845304"/>
            <a:ext cx="10408615" cy="1112520"/>
          </a:xfrm>
          <a:prstGeom prst="rect">
            <a:avLst/>
          </a:prstGeom>
          <a:noFill/>
          <a:ln/>
        </p:spPr>
        <p:txBody>
          <a:bodyPr wrap="square" lIns="1270" tIns="1270" rIns="1270" bIns="1270" rtlCol="0" anchor="ctr"/>
          <a:lstStyle/>
          <a:p>
            <a:pPr indent="0" marL="0">
              <a:buNone/>
            </a:pPr>
            <a:r>
              <a:rPr lang="en-US" sz="2000" dirty="0">
                <a:solidFill>
                  <a:schemeClr val="tx1"/>
                </a:solidFill>
              </a:rPr>
              <a:t>Fair comparison: same total original-model evaluations (including initial samples), same initial design where applicable, several seeds, report median and spread, and include computational cost of fitting if it is not negligible.</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Stopping criteria and fair comparisons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700" b="1" dirty="0">
                <a:solidFill>
                  <a:schemeClr val="tx2"/>
                </a:solidFill>
              </a:rPr>
              <a:t>When to stop, and how to compare methods honestly</a:t>
            </a:r>
            <a:endParaRPr lang="en-US" sz="27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In CFD-based studies the cost is dominated by simulations, so “evaluations” is the right x-axis. If a surrogate method takes hours of fitting time per iteration (e.g., large neural networks), that cost must be reported too.</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Include random search with the same budget as a baseline. If your method does not beat it clearly, reconsider.</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Stopping criteria and fair comparisons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Method A reaches its best design after 5 iterations of 4 evaluations each; method B after 12 iterations of 1 evaluation each. Which used fewer original-model evaluations?</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Stopping criteria and fair comparisons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Method A reaches its best design after 5 iterations of 4 evaluations each; method B after 12 iterations of 1 evaluation each. Which used fewer original-model evaluations?</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B: 12 evaluations vs A’s 20. Compare by evaluations, not iterations.</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Stopping criteria and fair comparisons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700" b="1" dirty="0">
                <a:solidFill>
                  <a:schemeClr val="tx2"/>
                </a:solidFill>
              </a:rPr>
              <a:t>When to stop, and how to compare methods honestly</a:t>
            </a:r>
            <a:endParaRPr lang="en-US" sz="27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Comparing best predicted values is fine because the surrogate is accurate.</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Only verified values are evidence; predicted values are biased optimistic at optima.</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Stop on budget or stagnation; compare by verified best value vs original-model evaluations over several seeds.</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1700" b="1" dirty="0">
                <a:solidFill>
                  <a:schemeClr val="tx2"/>
                </a:solidFill>
              </a:rPr>
              <a:t>When to stop, and how to compare methods honestly</a:t>
            </a:r>
            <a:endParaRPr lang="en-US" sz="1700" dirty="0"/>
          </a:p>
          <a:p>
            <a:pPr indent="0" marL="0">
              <a:buNone/>
            </a:pPr>
            <a:r>
              <a:rPr lang="en-US" sz="1700" dirty="0">
                <a:solidFill>
                  <a:schemeClr val="tx1"/>
                </a:solidFill>
              </a:rPr>
              <a:t>Stop on budget or stagnation; compare by verified best value vs original-model evaluations over several seeds.</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12.1</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Exploration versus exploitation</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That completes Module 11. Before moving on, review the Module 11 flashcards and take its quiz in the course (pass mark 70%). Next: Module 12, Sequential learning and Bayesian optimization.</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 Lesson 3: Stopping criteria and fair comparisons</dc:title>
  <dc:subject>Machine Learning Fundamentals for Surrogate-Based Engineering Optimization</dc:subject>
  <dc:creator>Prof. Mazharul Islam</dc:creator>
  <cp:lastModifiedBy>Prof. Mazharul Islam</cp:lastModifiedBy>
  <cp:revision>1</cp:revision>
  <dcterms:created xsi:type="dcterms:W3CDTF">2026-10-07T01:12:32Z</dcterms:created>
  <dcterms:modified xsi:type="dcterms:W3CDTF">2026-10-07T01:12:32Z</dcterms:modified>
</cp:coreProperties>
</file>