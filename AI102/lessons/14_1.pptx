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d96cf4d-342d-835b-45c1-f94eec8e3d0d}">
          <p14:sldIdLst>
            <p14:sldId id="256"/>
          </p14:sldIdLst>
        </p14:section>
        <p14:section name="Lesson 1: Planning the study" id="{db3b08da-53d9-2e5e-d8ce-75dd3d2fcd43}">
          <p14:sldIdLst>
            <p14:sldId id="257"/>
            <p14:sldId id="258"/>
            <p14:sldId id="259"/>
            <p14:sldId id="260"/>
            <p14:sldId id="261"/>
            <p14:sldId id="262"/>
          </p14:sldIdLst>
        </p14:section>
        <p14:section name="Summary" id="{7ef597d3-e015-c435-befa-299806510cb4}">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14, Lesson 1 of the self-paced course Machine Learning Fundamentals for Surrogate-Based Engineering Optimization: Planning the study. This lesson belongs to the module Guided capstone and final assessment and takes about 12 minutes. In this lesson: From problem statement to budget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problem statement to budget plan. A good study is planned before any model is run: problem definition, budget split, sampling plan, candidate surrogates, validation strategy, optimizer and constraint handling, verification and stopping rules, and what you will report. Look at the figure. The eight steps of the capstone study. Eight boxes in two rows: define problem, initial sampling, baseline model, compare surrogates, validate, optimize, verify,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mathematics. Example plan for a 30-evaluation budget: Initial design, Choice: LHS, n = 16, seed recorded, Reason: ≈8 per dimension; leaves budget for infill. Validation, Choice: 5-fold CV + 200 separate validation designs (teaching only), Reason: CV is affordable; separate set possible only because the model is cheap. Surrogates, Choice: constant, quadratic, cubic RBF, GP on log₁₀R and log₁₀ΔT_{air}, Reason: baseline + flexible + uncertainty-aware. Optimizer, Choice: SLSQP, 20 multi-starts; exact mass, Reason: smooth surrogate; cheap constraint exact. Infill, Choice: 14 sequential points via constrained EI, Reason: focus accuracy near the optimum. Stopping, Choice: budget or &lt; 0.05% improvement over 4 iterations, Reason: avoid waste.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matter in engineering? The same planning template works for a structural bracket (FEA), a pump impeller (CFD), or a machining study (experiments — then include noise and repeats). A practical tip: Write your plan as the first Markdown cell of the Lab 10 notebook, before running anything — the rubric checks your results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predict. Why keep part of the budget for infill rather than spending all 30 runs on the initial design? Pause here and commit to an answer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Sequential points can be placed where they matter (near promising designs or uncertain regions), usually improving the verified optimum more than extra space-filling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misconception is this: Planning is unnecessary because the notebook can be re-run. In fact: In real studies each run is expensive; plans prevent waste and support fair reporting. The takeaway: Plan budget, sampling, models, validation, optimization, verification and reporting before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this lesson. From problem statement to budget plan: Plan budget, sampling, models, validation, optimization, verification and reporting before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completes Lesson 1 of Module 14: Planning the study. Next comes Lesson 2: Reporting template and self-check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rtlCol="0"/>
          <a:lstStyle>
            <a:lvl1pPr indent="0" marL="0">
              <a:buNone/>
              <a:defRPr lang="en-US" sz="1800" b="1" spc="200" kern="0"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rtlCol="0"/>
          <a:lstStyle>
            <a:lvl1pPr indent="0" marL="0">
              <a:buNone/>
              <a:defRPr lang="en-US" sz="1800" dirty="0">
                <a:solidFill>
                  <a:srgbClr val="D6E2F0"/>
                </a:solidFill>
              </a:defRPr>
            </a:lvl1pPr>
          </a:lstStyle>
          <a:p>
            <a:pPr indent="0" marL="0">
              <a:buNone/>
            </a:pPr>
            <a:endParaRPr lang="en-US" sz="1800" dirty="0"/>
          </a:p>
        </p:txBody>
      </p:sp>
      <p:sp>
        <p:nvSpPr>
          <p:cNvPr id="5" name="Text 0"/>
          <p:cNvSpPr/>
          <p:nvPr/>
        </p:nvSpPr>
        <p:spPr>
          <a:xfrm>
            <a:off x="548640" y="5806440"/>
            <a:ext cx="8686800" cy="320040"/>
          </a:xfrm>
          <a:prstGeom prst="rect">
            <a:avLst/>
          </a:prstGeom>
          <a:noFill/>
          <a:ln/>
        </p:spPr>
        <p:txBody>
          <a:bodyPr wrap="square" lIns="0" tIns="0" rIns="0" bIns="0" rtlCol="0" anchor="ctr"/>
          <a:lstStyle/>
          <a:p>
            <a:pPr indent="0" marL="0">
              <a:buNone/>
            </a:pPr>
            <a:r>
              <a:rPr lang="en-US" sz="1200" dirty="0">
                <a:solidFill>
                  <a:srgbClr val="C9D6E6"/>
                </a:solidFill>
              </a:rPr>
              <a:t>Machine Learning Fundamentals for Surrogate-Based Engineering Optimization · course version 3.0.0</a:t>
            </a:r>
            <a:endParaRPr lang="en-US" sz="1200" dirty="0"/>
          </a:p>
        </p:txBody>
      </p:sp>
      <p:sp>
        <p:nvSpPr>
          <p:cNvPr id="6" name="Text 1"/>
          <p:cNvSpPr/>
          <p:nvPr/>
        </p:nvSpPr>
        <p:spPr>
          <a:xfrm>
            <a:off x="548640" y="6126480"/>
            <a:ext cx="8686800" cy="320040"/>
          </a:xfrm>
          <a:prstGeom prst="rect">
            <a:avLst/>
          </a:prstGeom>
          <a:noFill/>
          <a:ln/>
        </p:spPr>
        <p:txBody>
          <a:bodyPr wrap="square" lIns="0" tIns="0" rIns="0" bIns="0" rtlCol="0" anchor="ctr"/>
          <a:lstStyle/>
          <a:p>
            <a:pPr indent="0" marL="0">
              <a:buNone/>
            </a:pPr>
            <a:r>
              <a:rPr lang="en-US" sz="1200" dirty="0">
                <a:solidFill>
                  <a:srgbClr val="C9D6E6"/>
                </a:solidFill>
              </a:rPr>
              <a:t>© 2026 Prof. Mazharul Islam · CC BY 4.0</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0058400" cy="457200"/>
          </a:xfrm>
          <a:prstGeom prst="rect">
            <a:avLst/>
          </a:prstGeom>
          <a:noFill/>
          <a:ln/>
        </p:spPr>
        <p:txBody>
          <a:bodyPr wrap="square" rtlCol="0"/>
          <a:lstStyle>
            <a:lvl1pPr indent="0" marL="0">
              <a:buNone/>
              <a:defRPr lang="en-US" sz="1800" b="1"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2331720"/>
            <a:ext cx="1051560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3931920"/>
            <a:ext cx="10515600" cy="2011680"/>
          </a:xfrm>
          <a:prstGeom prst="rect">
            <a:avLst/>
          </a:prstGeom>
          <a:noFill/>
          <a:ln/>
        </p:spPr>
        <p:txBody>
          <a:bodyPr wrap="square" rtlCol="0"/>
          <a:lstStyle>
            <a:lvl1pPr indent="0" marL="0">
              <a:buNone/>
              <a:defRPr lang="en-US" sz="1800" dirty="0">
                <a:solidFill>
                  <a:srgbClr val="E3ECF7"/>
                </a:solidFill>
              </a:defRPr>
            </a:lvl1pPr>
          </a:lstStyle>
          <a:p>
            <a:pPr indent="0" marL="0">
              <a:buNone/>
            </a:pPr>
            <a:endParaRPr lang="en-US" sz="1800" dirty="0"/>
          </a:p>
        </p:txBody>
      </p:sp>
      <p:sp>
        <p:nvSpPr>
          <p:cNvPr id="5"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D6E2F0"/>
                </a:solidFill>
              </a:rPr>
              <a:t>Module 14, Lesson 1 · Planning the study</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rtlCol="0"/>
          <a:lstStyle>
            <a:lvl1pPr algn="l" indent="0" marL="0">
              <a:buNone/>
              <a:defRPr lang="en-US" b="1" dirty="0">
                <a:solidFill>
                  <a:schemeClr val="tx2"/>
                </a:solidFill>
              </a:defRPr>
            </a:lvl1pPr>
          </a:lstStyle>
          <a:p>
            <a:pPr algn="l" indent="0" marL="0">
              <a:buNone/>
            </a:pPr>
            <a:endParaRPr lang="en-US" dirty="0"/>
          </a:p>
        </p:txBody>
      </p:sp>
      <p:sp>
        <p:nvSpPr>
          <p:cNvPr id="4" name="Text 0"/>
          <p:cNvSpPr/>
          <p:nvPr/>
        </p:nvSpPr>
        <p:spPr>
          <a:xfrm>
            <a:off x="548640" y="6400800"/>
            <a:ext cx="6583680" cy="274320"/>
          </a:xfrm>
          <a:prstGeom prst="rect">
            <a:avLst/>
          </a:prstGeom>
          <a:noFill/>
          <a:ln/>
        </p:spPr>
        <p:txBody>
          <a:bodyPr wrap="square" lIns="0" tIns="0" rIns="0" bIns="0" rtlCol="0" anchor="ctr"/>
          <a:lstStyle/>
          <a:p>
            <a:pPr indent="0" marL="0">
              <a:buNone/>
            </a:pPr>
            <a:r>
              <a:rPr lang="en-US" sz="1000" dirty="0">
                <a:solidFill>
                  <a:srgbClr val="5A6672"/>
                </a:solidFill>
              </a:rPr>
              <a:t>Module 14, Lesson 1 · Planning the study</a:t>
            </a:r>
            <a:endParaRPr lang="en-US" sz="1000" dirty="0"/>
          </a:p>
        </p:txBody>
      </p:sp>
      <p:sp>
        <p:nvSpPr>
          <p:cNvPr id="5" name="Text 1"/>
          <p:cNvSpPr/>
          <p:nvPr/>
        </p:nvSpPr>
        <p:spPr>
          <a:xfrm>
            <a:off x="7223760" y="6400800"/>
            <a:ext cx="3840480" cy="274320"/>
          </a:xfrm>
          <a:prstGeom prst="rect">
            <a:avLst/>
          </a:prstGeom>
          <a:noFill/>
          <a:ln/>
        </p:spPr>
        <p:txBody>
          <a:bodyPr wrap="square" lIns="0" tIns="0" rIns="0" bIns="0" rtlCol="0" anchor="ctr"/>
          <a:lstStyle/>
          <a:p>
            <a:pPr algn="r" indent="0" marL="0">
              <a:buNone/>
            </a:pPr>
            <a:r>
              <a:rPr lang="en-US" sz="1000" dirty="0">
                <a:solidFill>
                  <a:srgbClr val="5A6672"/>
                </a:solidFill>
              </a:rPr>
              <a:t>© 2026 Prof. Mazharul Islam · CC BY 4.0</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MODULE 14 · LESSON 1 OF 3 · ≈ 12 MIN</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Planning the study</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spcAft>
                <a:spcPts val="800"/>
              </a:spcAft>
              <a:buNone/>
            </a:pPr>
            <a:r>
              <a:rPr lang="en-US" sz="1800" b="1" dirty="0">
                <a:solidFill>
                  <a:srgbClr val="D6E2F0"/>
                </a:solidFill>
              </a:rPr>
              <a:t>Module 14: Guided capstone and final assessment</a:t>
            </a:r>
            <a:endParaRPr lang="en-US" sz="1800" dirty="0"/>
          </a:p>
          <a:p>
            <a:pPr marL="342900" indent="-342900">
              <a:buSzPct val="100000"/>
              <a:buChar char="•"/>
            </a:pPr>
            <a:r>
              <a:rPr lang="en-US" sz="1800" dirty="0">
                <a:solidFill>
                  <a:srgbClr val="D6E2F0"/>
                </a:solidFill>
              </a:rPr>
              <a:t>From problem statement to budget plan</a:t>
            </a:r>
            <a:endParaRPr lang="en-US" sz="1800" dirty="0"/>
          </a:p>
        </p:txBody>
      </p:sp>
      <p:sp>
        <p:nvSpPr>
          <p:cNvPr id="5" name="lesson-number-ring"/>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sp>
        <p:nvSpPr>
          <p:cNvPr id="6" name="lesson-number"/>
          <p:cNvSpPr txBox="1"/>
          <p:nvPr/>
        </p:nvSpPr>
        <p:spPr>
          <a:xfrm>
            <a:off x="8732520" y="1417320"/>
            <a:ext cx="2926080" cy="2926080"/>
          </a:xfrm>
          <a:prstGeom prst="rect">
            <a:avLst/>
          </a:prstGeom>
          <a:noFill/>
          <a:ln/>
        </p:spPr>
        <p:txBody>
          <a:bodyPr wrap="square" rtlCol="0" anchor="ctr"/>
          <a:lstStyle/>
          <a:p>
            <a:pPr algn="ctr" indent="0" marL="0">
              <a:buNone/>
            </a:pPr>
            <a:r>
              <a:rPr lang="en-US" sz="8000" b="1" dirty="0">
                <a:solidFill>
                  <a:schemeClr val="bg1"/>
                </a:solidFill>
              </a:rPr>
              <a:t>14.1</a:t>
            </a:r>
            <a:endParaRPr lang="en-US" sz="8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Planning the study · Intuition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From problem statement to budget plan</a:t>
            </a:r>
            <a:endParaRPr lang="en-US" sz="3200" dirty="0"/>
          </a:p>
        </p:txBody>
      </p:sp>
      <p:sp>
        <p:nvSpPr>
          <p:cNvPr id="5" name="icon-bg-intu"/>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intu"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text"/>
          <p:cNvSpPr txBox="1"/>
          <p:nvPr/>
        </p:nvSpPr>
        <p:spPr>
          <a:xfrm>
            <a:off x="1188720" y="1572768"/>
            <a:ext cx="10408615" cy="1005840"/>
          </a:xfrm>
          <a:prstGeom prst="rect">
            <a:avLst/>
          </a:prstGeom>
          <a:noFill/>
          <a:ln/>
        </p:spPr>
        <p:txBody>
          <a:bodyPr wrap="square" lIns="1270" tIns="1270" rIns="1270" bIns="1270" rtlCol="0" anchor="t"/>
          <a:lstStyle/>
          <a:p>
            <a:pPr indent="0" marL="0">
              <a:spcAft>
                <a:spcPts val="600"/>
              </a:spcAft>
              <a:buNone/>
            </a:pPr>
            <a:r>
              <a:rPr lang="en-US" sz="1700" dirty="0">
                <a:solidFill>
                  <a:schemeClr val="tx1"/>
                </a:solidFill>
              </a:rPr>
              <a:t>A good study is planned before any model is run: problem definition, budget split, sampling plan, candidate surrogates, validation strategy, optimizer and constraint handling, verification and stopping rules, and what you will report.</a:t>
            </a:r>
            <a:endParaRPr lang="en-US" sz="1700" dirty="0"/>
          </a:p>
        </p:txBody>
      </p:sp>
      <p:pic>
        <p:nvPicPr>
          <p:cNvPr id="8" name="figure" descr="Eight boxes in two rows: define problem, initial sampling, baseline model, compare surrogates, validate, optimize, verify, report.">    </p:cNvPr>
          <p:cNvPicPr>
            <a:picLocks noChangeAspect="1"/>
          </p:cNvPicPr>
          <p:nvPr/>
        </p:nvPicPr>
        <p:blipFill>
          <a:blip r:embed="rId2"/>
          <a:stretch>
            <a:fillRect/>
          </a:stretch>
        </p:blipFill>
        <p:spPr>
          <a:xfrm>
            <a:off x="548640" y="2743200"/>
            <a:ext cx="11094415" cy="2781834"/>
          </a:xfrm>
          <a:prstGeom prst="rect">
            <a:avLst/>
          </a:prstGeom>
        </p:spPr>
      </p:pic>
      <p:sp>
        <p:nvSpPr>
          <p:cNvPr id="9" name="Text 4"/>
          <p:cNvSpPr txBox="1"/>
          <p:nvPr/>
        </p:nvSpPr>
        <p:spPr>
          <a:xfrm>
            <a:off x="548640" y="5570754"/>
            <a:ext cx="11094415" cy="384048"/>
          </a:xfrm>
          <a:prstGeom prst="rect">
            <a:avLst/>
          </a:prstGeom>
          <a:noFill/>
          <a:ln/>
        </p:spPr>
        <p:txBody>
          <a:bodyPr wrap="square" lIns="0" tIns="0" rIns="0" bIns="0" rtlCol="0" anchor="ctr"/>
          <a:lstStyle/>
          <a:p>
            <a:pPr algn="ctr" indent="0" marL="0">
              <a:buNone/>
            </a:pPr>
            <a:r>
              <a:rPr lang="en-US" sz="1200" i="1" dirty="0">
                <a:solidFill>
                  <a:srgbClr val="46525F"/>
                </a:solidFill>
              </a:rPr>
              <a:t>The eight steps of the capstone study.</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Planning the study · The mathematics</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From problem statement to budget plan</a:t>
            </a:r>
            <a:endParaRPr lang="en-US" sz="3200" dirty="0"/>
          </a:p>
        </p:txBody>
      </p:sp>
      <p:sp>
        <p:nvSpPr>
          <p:cNvPr id="5" name="icon-bg-math"/>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math"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math-card"/>
          <p:cNvSpPr/>
          <p:nvPr/>
        </p:nvSpPr>
        <p:spPr>
          <a:xfrm>
            <a:off x="1143000" y="1600200"/>
            <a:ext cx="10500055" cy="584200"/>
          </a:xfrm>
          <a:prstGeom prst="roundRect">
            <a:avLst>
              <a:gd name="adj" fmla="val 18783"/>
            </a:avLst>
          </a:prstGeom>
          <a:solidFill>
            <a:schemeClr val="bg2"/>
          </a:solidFill>
          <a:ln w="12700">
            <a:solidFill>
              <a:schemeClr val="bg2">
                <a:alpha val="30000"/>
              </a:schemeClr>
            </a:solidFill>
            <a:prstDash val="solid"/>
          </a:ln>
        </p:spPr>
      </p:sp>
      <p:sp>
        <p:nvSpPr>
          <p:cNvPr id="8" name="math-text"/>
          <p:cNvSpPr txBox="1"/>
          <p:nvPr/>
        </p:nvSpPr>
        <p:spPr>
          <a:xfrm>
            <a:off x="1234440" y="1645920"/>
            <a:ext cx="10408615" cy="492760"/>
          </a:xfrm>
          <a:prstGeom prst="rect">
            <a:avLst/>
          </a:prstGeom>
          <a:noFill/>
          <a:ln/>
        </p:spPr>
        <p:txBody>
          <a:bodyPr wrap="square" lIns="1270" tIns="1270" rIns="1270" bIns="1270" rtlCol="0" anchor="ctr"/>
          <a:lstStyle/>
          <a:p>
            <a:pPr indent="0" marL="0">
              <a:buNone/>
            </a:pPr>
            <a:r>
              <a:rPr lang="en-US" sz="2000" dirty="0">
                <a:solidFill>
                  <a:schemeClr val="tx1"/>
                </a:solidFill>
              </a:rPr>
              <a:t>Example plan for a 30-evaluation budget:</a:t>
            </a:r>
            <a:endParaRPr lang="en-US" sz="2000" dirty="0"/>
          </a:p>
        </p:txBody>
      </p:sp>
      <p:graphicFrame>
        <p:nvGraphicFramePr>
          <p:cNvPr id="4" name="math-table"/>
          <p:cNvGraphicFramePr>
            <a:graphicFrameLocks noGrp="1"/>
          </p:cNvGraphicFramePr>
          <p:nvPr>
            <p:extLst>
              <p:ext uri="{D42A27DB-BD31-4B8C-83A1-F6EECF244321}">
                <p14:modId xmlns:p14="http://schemas.microsoft.com/office/powerpoint/2010/main" val="1579011935"/>
              </p:ext>
            </p:extLst>
          </p:nvPr>
        </p:nvGraphicFramePr>
        <p:xfrm>
          <a:off x="1234440" y="2367280"/>
          <a:ext cx="10408615" cy="914400"/>
        </p:xfrm>
        <a:graphic>
          <a:graphicData uri="http://schemas.openxmlformats.org/drawingml/2006/table">
            <a:tbl>
              <a:tblPr/>
              <a:tblGrid>
                <a:gridCol w="2289895"/>
                <a:gridCol w="6036997"/>
                <a:gridCol w="2081723"/>
              </a:tblGrid>
              <a:tr h="0">
                <a:tc>
                  <a:txBody>
                    <a:bodyPr/>
                    <a:lstStyle/>
                    <a:p>
                      <a:pPr indent="0" marL="0">
                        <a:buNone/>
                      </a:pPr>
                      <a:r>
                        <a:rPr lang="en-US" sz="1400" b="1" dirty="0">
                          <a:solidFill>
                            <a:srgbClr val="FFFFFF"/>
                          </a:solidFill>
                        </a:rPr>
                        <a:t>Item</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F5FA8"/>
                    </a:solidFill>
                  </a:tcPr>
                </a:tc>
                <a:tc>
                  <a:txBody>
                    <a:bodyPr/>
                    <a:lstStyle/>
                    <a:p>
                      <a:pPr indent="0" marL="0">
                        <a:buNone/>
                      </a:pPr>
                      <a:r>
                        <a:rPr lang="en-US" sz="1400" b="1" dirty="0">
                          <a:solidFill>
                            <a:srgbClr val="FFFFFF"/>
                          </a:solidFill>
                        </a:rPr>
                        <a:t>Choice</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F5FA8"/>
                    </a:solidFill>
                  </a:tcPr>
                </a:tc>
                <a:tc>
                  <a:txBody>
                    <a:bodyPr/>
                    <a:lstStyle/>
                    <a:p>
                      <a:pPr indent="0" marL="0">
                        <a:buNone/>
                      </a:pPr>
                      <a:r>
                        <a:rPr lang="en-US" sz="1400" b="1" dirty="0">
                          <a:solidFill>
                            <a:srgbClr val="FFFFFF"/>
                          </a:solidFill>
                        </a:rPr>
                        <a:t>Reason</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F5FA8"/>
                    </a:solidFill>
                  </a:tcPr>
                </a:tc>
              </a:tr>
              <a:tr h="0">
                <a:tc>
                  <a:txBody>
                    <a:bodyPr/>
                    <a:lstStyle/>
                    <a:p>
                      <a:pPr indent="0" marL="0">
                        <a:buNone/>
                      </a:pPr>
                      <a:r>
                        <a:rPr lang="en-US" sz="1400" dirty="0">
                          <a:solidFill>
                            <a:srgbClr val="18212B"/>
                          </a:solidFill>
                        </a:rPr>
                        <a:t>Initial design</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8212B"/>
                          </a:solidFill>
                        </a:rPr>
                        <a:t>LHS, n = 16, seed recorded</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8212B"/>
                          </a:solidFill>
                        </a:rPr>
                        <a:t>≈8 per dimension; leaves budget for infill</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8212B"/>
                          </a:solidFill>
                        </a:rPr>
                        <a:t>Validation</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400" dirty="0">
                          <a:solidFill>
                            <a:srgbClr val="18212B"/>
                          </a:solidFill>
                        </a:rPr>
                        <a:t>5-fold CV + 200 separate validation designs (teaching only)</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400" dirty="0">
                          <a:solidFill>
                            <a:srgbClr val="18212B"/>
                          </a:solidFill>
                        </a:rPr>
                        <a:t>CV is affordable; separate set possible only because the model is cheap</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400" dirty="0">
                          <a:solidFill>
                            <a:srgbClr val="18212B"/>
                          </a:solidFill>
                        </a:rPr>
                        <a:t>Surrogates</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8212B"/>
                          </a:solidFill>
                        </a:rPr>
                        <a:t>constant, quadratic, cubic RBF, GP on log₁₀R and log₁₀ΔT</a:t>
                      </a:r>
                      <a:pPr indent="0" marL="0">
                        <a:buNone/>
                      </a:pPr>
                      <a:r>
                        <a:rPr lang="en-US" sz="1400" baseline="-40000" dirty="0">
                          <a:solidFill>
                            <a:srgbClr val="18212B"/>
                          </a:solidFill>
                        </a:rPr>
                        <a:t>air</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8212B"/>
                          </a:solidFill>
                        </a:rPr>
                        <a:t>baseline + flexible + uncertainty-aware</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8212B"/>
                          </a:solidFill>
                        </a:rPr>
                        <a:t>Optimizer</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400" dirty="0">
                          <a:solidFill>
                            <a:srgbClr val="18212B"/>
                          </a:solidFill>
                        </a:rPr>
                        <a:t>SLSQP, 20 multi-starts; exact mass</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400" dirty="0">
                          <a:solidFill>
                            <a:srgbClr val="18212B"/>
                          </a:solidFill>
                        </a:rPr>
                        <a:t>smooth surrogate; cheap constraint exact</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400" dirty="0">
                          <a:solidFill>
                            <a:srgbClr val="18212B"/>
                          </a:solidFill>
                        </a:rPr>
                        <a:t>Infill</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8212B"/>
                          </a:solidFill>
                        </a:rPr>
                        <a:t>14 sequential points via constrained EI</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8212B"/>
                          </a:solidFill>
                        </a:rPr>
                        <a:t>focus accuracy near the optimum</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8212B"/>
                          </a:solidFill>
                        </a:rPr>
                        <a:t>Stopping</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400" dirty="0">
                          <a:solidFill>
                            <a:srgbClr val="18212B"/>
                          </a:solidFill>
                        </a:rPr>
                        <a:t>budget or &lt; 0.05% improvement over 4 iterations</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400" dirty="0">
                          <a:solidFill>
                            <a:srgbClr val="18212B"/>
                          </a:solidFill>
                        </a:rPr>
                        <a:t>avoid waste</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r>
            </a:tbl>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Planning the study · In engineering practice</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From problem statement to budget plan</a:t>
            </a:r>
            <a:endParaRPr lang="en-US" sz="3200" dirty="0"/>
          </a:p>
        </p:txBody>
      </p:sp>
      <p:sp>
        <p:nvSpPr>
          <p:cNvPr id="5" name="Engineering application"/>
          <p:cNvSpPr/>
          <p:nvPr/>
        </p:nvSpPr>
        <p:spPr>
          <a:xfrm>
            <a:off x="548640" y="1691640"/>
            <a:ext cx="5364328" cy="4480560"/>
          </a:xfrm>
          <a:prstGeom prst="roundRect">
            <a:avLst>
              <a:gd name="adj" fmla="val 2449"/>
            </a:avLst>
          </a:prstGeom>
          <a:solidFill>
            <a:schemeClr val="accent3">
              <a:alpha val="10000"/>
            </a:schemeClr>
          </a:solidFill>
          <a:ln w="12700">
            <a:solidFill>
              <a:schemeClr val="accent3">
                <a:alpha val="30000"/>
              </a:schemeClr>
            </a:solidFill>
            <a:prstDash val="solid"/>
          </a:ln>
        </p:spPr>
      </p:sp>
      <p:sp>
        <p:nvSpPr>
          <p:cNvPr id="6" name="icon-bg-app"/>
          <p:cNvSpPr/>
          <p:nvPr/>
        </p:nvSpPr>
        <p:spPr>
          <a:xfrm>
            <a:off x="822960" y="1920240"/>
            <a:ext cx="566928" cy="566928"/>
          </a:xfrm>
          <a:prstGeom prst="ellipse">
            <a:avLst/>
          </a:prstGeom>
          <a:solidFill>
            <a:schemeClr val="accent3"/>
          </a:solidFill>
          <a:ln w="12700">
            <a:solidFill>
              <a:schemeClr val="accent3"/>
            </a:solidFill>
            <a:prstDash val="solid"/>
          </a:ln>
        </p:spPr>
      </p:sp>
      <p:pic>
        <p:nvPicPr>
          <p:cNvPr id="7" name="icon-app"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8" name="Text 4"/>
          <p:cNvSpPr txBox="1"/>
          <p:nvPr/>
        </p:nvSpPr>
        <p:spPr>
          <a:xfrm>
            <a:off x="1508760"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Engineering application</a:t>
            </a:r>
            <a:endParaRPr lang="en-US" sz="2000" dirty="0"/>
          </a:p>
        </p:txBody>
      </p:sp>
      <p:sp>
        <p:nvSpPr>
          <p:cNvPr id="9" name="text"/>
          <p:cNvSpPr txBox="1"/>
          <p:nvPr/>
        </p:nvSpPr>
        <p:spPr>
          <a:xfrm>
            <a:off x="777240"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The same planning template works for a structural bracket (FEA), a pump impeller (CFD), or a machining study (experiments — then include noise and repeats).</a:t>
            </a:r>
            <a:endParaRPr lang="en-US" sz="2000" dirty="0"/>
          </a:p>
        </p:txBody>
      </p:sp>
      <p:sp>
        <p:nvSpPr>
          <p:cNvPr id="10" name="Practical tip"/>
          <p:cNvSpPr/>
          <p:nvPr/>
        </p:nvSpPr>
        <p:spPr>
          <a:xfrm>
            <a:off x="6278728" y="1691640"/>
            <a:ext cx="5364328" cy="4480560"/>
          </a:xfrm>
          <a:prstGeom prst="roundRect">
            <a:avLst>
              <a:gd name="adj" fmla="val 2449"/>
            </a:avLst>
          </a:prstGeom>
          <a:solidFill>
            <a:schemeClr val="accent4">
              <a:alpha val="10000"/>
            </a:schemeClr>
          </a:solidFill>
          <a:ln w="12700">
            <a:solidFill>
              <a:schemeClr val="accent4">
                <a:alpha val="30000"/>
              </a:schemeClr>
            </a:solidFill>
            <a:prstDash val="solid"/>
          </a:ln>
        </p:spPr>
      </p:sp>
      <p:sp>
        <p:nvSpPr>
          <p:cNvPr id="11" name="icon-bg-tip"/>
          <p:cNvSpPr/>
          <p:nvPr/>
        </p:nvSpPr>
        <p:spPr>
          <a:xfrm>
            <a:off x="6553048" y="1920240"/>
            <a:ext cx="566928" cy="566928"/>
          </a:xfrm>
          <a:prstGeom prst="ellipse">
            <a:avLst/>
          </a:prstGeom>
          <a:solidFill>
            <a:schemeClr val="accent4"/>
          </a:solidFill>
          <a:ln w="12700">
            <a:solidFill>
              <a:schemeClr val="accent4"/>
            </a:solidFill>
            <a:prstDash val="solid"/>
          </a:ln>
        </p:spPr>
      </p:sp>
      <p:pic>
        <p:nvPicPr>
          <p:cNvPr id="12" name="icon-tip" descr="preencoded.png">    </p:cNvPr>
          <p:cNvPicPr>
            <a:picLocks noChangeAspect="1"/>
          </p:cNvPicPr>
          <p:nvPr/>
        </p:nvPicPr>
        <p:blipFill>
          <a:blip r:embed="rId2"/>
          <a:stretch>
            <a:fillRect/>
          </a:stretch>
        </p:blipFill>
        <p:spPr>
          <a:xfrm>
            <a:off x="6689110" y="2056303"/>
            <a:ext cx="294803" cy="294803"/>
          </a:xfrm>
          <a:prstGeom prst="rect">
            <a:avLst/>
          </a:prstGeom>
        </p:spPr>
      </p:pic>
      <p:sp>
        <p:nvSpPr>
          <p:cNvPr id="13" name="Text 8"/>
          <p:cNvSpPr txBox="1"/>
          <p:nvPr/>
        </p:nvSpPr>
        <p:spPr>
          <a:xfrm>
            <a:off x="7238848"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Practical tip</a:t>
            </a:r>
            <a:endParaRPr lang="en-US" sz="2000" dirty="0"/>
          </a:p>
        </p:txBody>
      </p:sp>
      <p:sp>
        <p:nvSpPr>
          <p:cNvPr id="14" name="text"/>
          <p:cNvSpPr txBox="1"/>
          <p:nvPr/>
        </p:nvSpPr>
        <p:spPr>
          <a:xfrm>
            <a:off x="6507328"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Write your plan as the first Markdown cell of the Lab 10 notebook, before running anything — the rubric checks your results against it.</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Planning the study · Predict before you look</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Pause and predict</a:t>
            </a:r>
            <a:endParaRPr lang="en-US" sz="3200" dirty="0"/>
          </a:p>
        </p:txBody>
      </p:sp>
      <p:sp>
        <p:nvSpPr>
          <p:cNvPr id="5" name="question-card"/>
          <p:cNvSpPr/>
          <p:nvPr/>
        </p:nvSpPr>
        <p:spPr>
          <a:xfrm>
            <a:off x="548640" y="1737360"/>
            <a:ext cx="11094415" cy="3291840"/>
          </a:xfrm>
          <a:prstGeom prst="roundRect">
            <a:avLst>
              <a:gd name="adj" fmla="val 3333"/>
            </a:avLst>
          </a:prstGeom>
          <a:solidFill>
            <a:schemeClr val="accent2">
              <a:alpha val="9000"/>
            </a:schemeClr>
          </a:solidFill>
          <a:ln w="12700">
            <a:solidFill>
              <a:schemeClr val="accent2">
                <a:alpha val="30000"/>
              </a:schemeClr>
            </a:solidFill>
            <a:prstDash val="solid"/>
          </a:ln>
        </p:spPr>
      </p:sp>
      <p:sp>
        <p:nvSpPr>
          <p:cNvPr id="6" name="icon-bg-predict"/>
          <p:cNvSpPr/>
          <p:nvPr/>
        </p:nvSpPr>
        <p:spPr>
          <a:xfrm>
            <a:off x="868680" y="2011680"/>
            <a:ext cx="731520" cy="731520"/>
          </a:xfrm>
          <a:prstGeom prst="ellipse">
            <a:avLst/>
          </a:prstGeom>
          <a:solidFill>
            <a:schemeClr val="accent2"/>
          </a:solidFill>
          <a:ln w="12700">
            <a:solidFill>
              <a:schemeClr val="accent2"/>
            </a:solidFill>
            <a:prstDash val="solid"/>
          </a:ln>
        </p:spPr>
      </p:sp>
      <p:pic>
        <p:nvPicPr>
          <p:cNvPr id="7" name="icon-predict" descr="preencoded.png">    </p:cNvPr>
          <p:cNvPicPr>
            <a:picLocks noChangeAspect="1"/>
          </p:cNvPicPr>
          <p:nvPr/>
        </p:nvPicPr>
        <p:blipFill>
          <a:blip r:embed="rId1"/>
          <a:stretch>
            <a:fillRect/>
          </a:stretch>
        </p:blipFill>
        <p:spPr>
          <a:xfrm>
            <a:off x="1044245" y="2187245"/>
            <a:ext cx="380390" cy="380390"/>
          </a:xfrm>
          <a:prstGeom prst="rect">
            <a:avLst/>
          </a:prstGeom>
        </p:spPr>
      </p:pic>
      <p:sp>
        <p:nvSpPr>
          <p:cNvPr id="8" name="text"/>
          <p:cNvSpPr txBox="1"/>
          <p:nvPr/>
        </p:nvSpPr>
        <p:spPr>
          <a:xfrm>
            <a:off x="1874520" y="1965960"/>
            <a:ext cx="9448495" cy="2834640"/>
          </a:xfrm>
          <a:prstGeom prst="rect">
            <a:avLst/>
          </a:prstGeom>
          <a:noFill/>
          <a:ln/>
        </p:spPr>
        <p:txBody>
          <a:bodyPr wrap="square" lIns="1270" tIns="1270" rIns="1270" bIns="1270" rtlCol="0" anchor="ctr"/>
          <a:lstStyle/>
          <a:p>
            <a:pPr indent="0" marL="0">
              <a:spcAft>
                <a:spcPts val="600"/>
              </a:spcAft>
              <a:buNone/>
            </a:pPr>
            <a:r>
              <a:rPr lang="en-US" sz="2800" dirty="0">
                <a:solidFill>
                  <a:schemeClr val="tx1"/>
                </a:solidFill>
              </a:rPr>
              <a:t>Why keep part of the budget for infill rather than spending all 30 runs on the initial design?</a:t>
            </a:r>
            <a:endParaRPr lang="en-US" sz="2800" dirty="0"/>
          </a:p>
        </p:txBody>
      </p:sp>
      <p:sp>
        <p:nvSpPr>
          <p:cNvPr id="9" name="Text 5"/>
          <p:cNvSpPr txBox="1"/>
          <p:nvPr/>
        </p:nvSpPr>
        <p:spPr>
          <a:xfrm>
            <a:off x="548640" y="5303520"/>
            <a:ext cx="11094415" cy="457200"/>
          </a:xfrm>
          <a:prstGeom prst="rect">
            <a:avLst/>
          </a:prstGeom>
          <a:noFill/>
          <a:ln/>
        </p:spPr>
        <p:txBody>
          <a:bodyPr wrap="square" lIns="0" tIns="0" rIns="0" bIns="0" rtlCol="0" anchor="ctr"/>
          <a:lstStyle/>
          <a:p>
            <a:pPr indent="0" marL="0">
              <a:buNone/>
            </a:pPr>
            <a:r>
              <a:rPr lang="en-US" sz="1600" i="1" dirty="0">
                <a:solidFill>
                  <a:srgbClr val="46525F"/>
                </a:solidFill>
              </a:rPr>
              <a:t>Write down your answer, then continue to the next slide.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Planning the study · Answer</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happens, and why</a:t>
            </a:r>
            <a:endParaRPr lang="en-US" sz="3200" dirty="0"/>
          </a:p>
        </p:txBody>
      </p:sp>
      <p:sp>
        <p:nvSpPr>
          <p:cNvPr id="5" name="Text 2"/>
          <p:cNvSpPr txBox="1"/>
          <p:nvPr/>
        </p:nvSpPr>
        <p:spPr>
          <a:xfrm>
            <a:off x="548640" y="1600200"/>
            <a:ext cx="11094415" cy="868680"/>
          </a:xfrm>
          <a:prstGeom prst="rect">
            <a:avLst/>
          </a:prstGeom>
          <a:noFill/>
          <a:ln/>
        </p:spPr>
        <p:txBody>
          <a:bodyPr wrap="square" lIns="0" tIns="0" rIns="0" bIns="0" rtlCol="0" anchor="t"/>
          <a:lstStyle/>
          <a:p>
            <a:pPr indent="0" marL="0">
              <a:buNone/>
            </a:pPr>
            <a:r>
              <a:rPr lang="en-US" sz="1400" b="1" dirty="0">
                <a:solidFill>
                  <a:srgbClr val="46525F"/>
                </a:solidFill>
              </a:rPr>
              <a:t>Question: </a:t>
            </a:r>
            <a:pPr indent="0" marL="0">
              <a:buNone/>
            </a:pPr>
            <a:r>
              <a:rPr lang="en-US" sz="1400" dirty="0">
                <a:solidFill>
                  <a:srgbClr val="46525F"/>
                </a:solidFill>
              </a:rPr>
              <a:t>Why keep part of the budget for infill rather than spending all 30 runs on the initial design?</a:t>
            </a:r>
            <a:endParaRPr lang="en-US" sz="1400" dirty="0"/>
          </a:p>
        </p:txBody>
      </p:sp>
      <p:sp>
        <p:nvSpPr>
          <p:cNvPr id="6" name="answer-card"/>
          <p:cNvSpPr/>
          <p:nvPr/>
        </p:nvSpPr>
        <p:spPr>
          <a:xfrm>
            <a:off x="548640" y="2606040"/>
            <a:ext cx="11094415" cy="3566160"/>
          </a:xfrm>
          <a:prstGeom prst="roundRect">
            <a:avLst>
              <a:gd name="adj" fmla="val 3077"/>
            </a:avLst>
          </a:prstGeom>
          <a:solidFill>
            <a:schemeClr val="accent3">
              <a:alpha val="10000"/>
            </a:schemeClr>
          </a:solidFill>
          <a:ln w="12700">
            <a:solidFill>
              <a:schemeClr val="accent3">
                <a:alpha val="30000"/>
              </a:schemeClr>
            </a:solidFill>
            <a:prstDash val="solid"/>
          </a:ln>
        </p:spPr>
      </p:sp>
      <p:sp>
        <p:nvSpPr>
          <p:cNvPr id="7" name="icon-bg-answer"/>
          <p:cNvSpPr/>
          <p:nvPr/>
        </p:nvSpPr>
        <p:spPr>
          <a:xfrm>
            <a:off x="868680" y="2880360"/>
            <a:ext cx="731520" cy="731520"/>
          </a:xfrm>
          <a:prstGeom prst="ellipse">
            <a:avLst/>
          </a:prstGeom>
          <a:solidFill>
            <a:schemeClr val="accent3"/>
          </a:solidFill>
          <a:ln w="12700">
            <a:solidFill>
              <a:schemeClr val="accent3"/>
            </a:solidFill>
            <a:prstDash val="solid"/>
          </a:ln>
        </p:spPr>
      </p:sp>
      <p:pic>
        <p:nvPicPr>
          <p:cNvPr id="8" name="icon-answer" descr="preencoded.png">    </p:cNvPr>
          <p:cNvPicPr>
            <a:picLocks noChangeAspect="1"/>
          </p:cNvPicPr>
          <p:nvPr/>
        </p:nvPicPr>
        <p:blipFill>
          <a:blip r:embed="rId1"/>
          <a:stretch>
            <a:fillRect/>
          </a:stretch>
        </p:blipFill>
        <p:spPr>
          <a:xfrm>
            <a:off x="1044245" y="3055925"/>
            <a:ext cx="380390" cy="380390"/>
          </a:xfrm>
          <a:prstGeom prst="rect">
            <a:avLst/>
          </a:prstGeom>
        </p:spPr>
      </p:pic>
      <p:sp>
        <p:nvSpPr>
          <p:cNvPr id="9" name="text"/>
          <p:cNvSpPr txBox="1"/>
          <p:nvPr/>
        </p:nvSpPr>
        <p:spPr>
          <a:xfrm>
            <a:off x="1874520" y="2788920"/>
            <a:ext cx="9448495" cy="3200400"/>
          </a:xfrm>
          <a:prstGeom prst="rect">
            <a:avLst/>
          </a:prstGeom>
          <a:noFill/>
          <a:ln/>
        </p:spPr>
        <p:txBody>
          <a:bodyPr wrap="square" lIns="1270" tIns="1270" rIns="1270" bIns="1270" rtlCol="0" anchor="ctr"/>
          <a:lstStyle/>
          <a:p>
            <a:pPr indent="0" marL="0">
              <a:spcAft>
                <a:spcPts val="600"/>
              </a:spcAft>
              <a:buNone/>
            </a:pPr>
            <a:r>
              <a:rPr lang="en-US" sz="2600" dirty="0">
                <a:solidFill>
                  <a:schemeClr val="tx1"/>
                </a:solidFill>
              </a:rPr>
              <a:t>Sequential points can be placed where they matter (near promising designs or uncertain regions), usually improving the verified optimum more than extra space-filling points.</a:t>
            </a:r>
            <a:endParaRPr lang="en-US" sz="2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Planning the study · Common misconception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From problem statement to budget plan</a:t>
            </a:r>
            <a:endParaRPr lang="en-US" sz="3200" dirty="0"/>
          </a:p>
        </p:txBody>
      </p:sp>
      <p:sp>
        <p:nvSpPr>
          <p:cNvPr id="5" name="Misconception"/>
          <p:cNvSpPr/>
          <p:nvPr/>
        </p:nvSpPr>
        <p:spPr>
          <a:xfrm>
            <a:off x="548640" y="1691640"/>
            <a:ext cx="5364328" cy="2971800"/>
          </a:xfrm>
          <a:prstGeom prst="roundRect">
            <a:avLst>
              <a:gd name="adj" fmla="val 3692"/>
            </a:avLst>
          </a:prstGeom>
          <a:solidFill>
            <a:schemeClr val="accent6">
              <a:alpha val="9000"/>
            </a:schemeClr>
          </a:solidFill>
          <a:ln w="12700">
            <a:solidFill>
              <a:schemeClr val="accent6">
                <a:alpha val="30000"/>
              </a:schemeClr>
            </a:solidFill>
            <a:prstDash val="solid"/>
          </a:ln>
        </p:spPr>
      </p:sp>
      <p:sp>
        <p:nvSpPr>
          <p:cNvPr id="6" name="icon-bg-mis"/>
          <p:cNvSpPr/>
          <p:nvPr/>
        </p:nvSpPr>
        <p:spPr>
          <a:xfrm>
            <a:off x="822960" y="1874520"/>
            <a:ext cx="548640" cy="548640"/>
          </a:xfrm>
          <a:prstGeom prst="ellipse">
            <a:avLst/>
          </a:prstGeom>
          <a:solidFill>
            <a:schemeClr val="accent6"/>
          </a:solidFill>
          <a:ln w="12700">
            <a:solidFill>
              <a:schemeClr val="accent6"/>
            </a:solidFill>
            <a:prstDash val="solid"/>
          </a:ln>
        </p:spPr>
      </p:sp>
      <p:pic>
        <p:nvPicPr>
          <p:cNvPr id="7" name="icon-mis" descr="preencoded.png">    </p:cNvPr>
          <p:cNvPicPr>
            <a:picLocks noChangeAspect="1"/>
          </p:cNvPicPr>
          <p:nvPr/>
        </p:nvPicPr>
        <p:blipFill>
          <a:blip r:embed="rId1"/>
          <a:stretch>
            <a:fillRect/>
          </a:stretch>
        </p:blipFill>
        <p:spPr>
          <a:xfrm>
            <a:off x="954634" y="2006194"/>
            <a:ext cx="285293" cy="285293"/>
          </a:xfrm>
          <a:prstGeom prst="rect">
            <a:avLst/>
          </a:prstGeom>
        </p:spPr>
      </p:pic>
      <p:sp>
        <p:nvSpPr>
          <p:cNvPr id="8" name="Text 4"/>
          <p:cNvSpPr txBox="1"/>
          <p:nvPr/>
        </p:nvSpPr>
        <p:spPr>
          <a:xfrm>
            <a:off x="1508760"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Misconception</a:t>
            </a:r>
            <a:endParaRPr lang="en-US" sz="2000" dirty="0"/>
          </a:p>
        </p:txBody>
      </p:sp>
      <p:sp>
        <p:nvSpPr>
          <p:cNvPr id="9" name="text"/>
          <p:cNvSpPr txBox="1"/>
          <p:nvPr/>
        </p:nvSpPr>
        <p:spPr>
          <a:xfrm>
            <a:off x="777240"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Planning is unnecessary because the notebook can be re-run.</a:t>
            </a:r>
            <a:endParaRPr lang="en-US" sz="2000" dirty="0"/>
          </a:p>
        </p:txBody>
      </p:sp>
      <p:sp>
        <p:nvSpPr>
          <p:cNvPr id="10" name="What is actually true"/>
          <p:cNvSpPr/>
          <p:nvPr/>
        </p:nvSpPr>
        <p:spPr>
          <a:xfrm>
            <a:off x="6278728" y="1691640"/>
            <a:ext cx="5364328" cy="2971800"/>
          </a:xfrm>
          <a:prstGeom prst="roundRect">
            <a:avLst>
              <a:gd name="adj" fmla="val 3692"/>
            </a:avLst>
          </a:prstGeom>
          <a:solidFill>
            <a:schemeClr val="accent3">
              <a:alpha val="9000"/>
            </a:schemeClr>
          </a:solidFill>
          <a:ln w="12700">
            <a:solidFill>
              <a:schemeClr val="accent3">
                <a:alpha val="30000"/>
              </a:schemeClr>
            </a:solidFill>
            <a:prstDash val="solid"/>
          </a:ln>
        </p:spPr>
      </p:sp>
      <p:sp>
        <p:nvSpPr>
          <p:cNvPr id="11" name="icon-bg-cor"/>
          <p:cNvSpPr/>
          <p:nvPr/>
        </p:nvSpPr>
        <p:spPr>
          <a:xfrm>
            <a:off x="6553048" y="1874520"/>
            <a:ext cx="548640" cy="548640"/>
          </a:xfrm>
          <a:prstGeom prst="ellipse">
            <a:avLst/>
          </a:prstGeom>
          <a:solidFill>
            <a:schemeClr val="accent3"/>
          </a:solidFill>
          <a:ln w="12700">
            <a:solidFill>
              <a:schemeClr val="accent3"/>
            </a:solidFill>
            <a:prstDash val="solid"/>
          </a:ln>
        </p:spPr>
      </p:sp>
      <p:pic>
        <p:nvPicPr>
          <p:cNvPr id="12" name="icon-cor" descr="preencoded.png">    </p:cNvPr>
          <p:cNvPicPr>
            <a:picLocks noChangeAspect="1"/>
          </p:cNvPicPr>
          <p:nvPr/>
        </p:nvPicPr>
        <p:blipFill>
          <a:blip r:embed="rId2"/>
          <a:stretch>
            <a:fillRect/>
          </a:stretch>
        </p:blipFill>
        <p:spPr>
          <a:xfrm>
            <a:off x="6684721" y="2006194"/>
            <a:ext cx="285293" cy="285293"/>
          </a:xfrm>
          <a:prstGeom prst="rect">
            <a:avLst/>
          </a:prstGeom>
        </p:spPr>
      </p:pic>
      <p:sp>
        <p:nvSpPr>
          <p:cNvPr id="13" name="Text 8"/>
          <p:cNvSpPr txBox="1"/>
          <p:nvPr/>
        </p:nvSpPr>
        <p:spPr>
          <a:xfrm>
            <a:off x="7238848"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What is actually true</a:t>
            </a:r>
            <a:endParaRPr lang="en-US" sz="2000" dirty="0"/>
          </a:p>
        </p:txBody>
      </p:sp>
      <p:sp>
        <p:nvSpPr>
          <p:cNvPr id="14" name="text"/>
          <p:cNvSpPr txBox="1"/>
          <p:nvPr/>
        </p:nvSpPr>
        <p:spPr>
          <a:xfrm>
            <a:off x="6507328"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In real studies each run is expensive; plans prevent waste and support fair reporting.</a:t>
            </a:r>
            <a:endParaRPr lang="en-US" sz="2000" dirty="0"/>
          </a:p>
        </p:txBody>
      </p:sp>
      <p:sp>
        <p:nvSpPr>
          <p:cNvPr id="15" name="takeaway"/>
          <p:cNvSpPr/>
          <p:nvPr/>
        </p:nvSpPr>
        <p:spPr>
          <a:xfrm>
            <a:off x="548640" y="4892040"/>
            <a:ext cx="11094415" cy="1280160"/>
          </a:xfrm>
          <a:prstGeom prst="roundRect">
            <a:avLst>
              <a:gd name="adj" fmla="val 8571"/>
            </a:avLst>
          </a:prstGeom>
          <a:solidFill>
            <a:schemeClr val="accent1"/>
          </a:solidFill>
          <a:ln w="12700">
            <a:solidFill>
              <a:schemeClr val="accent1"/>
            </a:solidFill>
            <a:prstDash val="solid"/>
          </a:ln>
        </p:spPr>
      </p:sp>
      <p:sp>
        <p:nvSpPr>
          <p:cNvPr id="16" name="icon-bg-take"/>
          <p:cNvSpPr/>
          <p:nvPr/>
        </p:nvSpPr>
        <p:spPr>
          <a:xfrm>
            <a:off x="822960" y="5257800"/>
            <a:ext cx="548640" cy="548640"/>
          </a:xfrm>
          <a:prstGeom prst="ellipse">
            <a:avLst/>
          </a:prstGeom>
          <a:solidFill>
            <a:schemeClr val="tx2"/>
          </a:solidFill>
          <a:ln w="12700">
            <a:solidFill>
              <a:schemeClr val="tx2"/>
            </a:solidFill>
            <a:prstDash val="solid"/>
          </a:ln>
        </p:spPr>
      </p:sp>
      <p:pic>
        <p:nvPicPr>
          <p:cNvPr id="17" name="icon-take" descr="preencoded.png">    </p:cNvPr>
          <p:cNvPicPr>
            <a:picLocks noChangeAspect="1"/>
          </p:cNvPicPr>
          <p:nvPr/>
        </p:nvPicPr>
        <p:blipFill>
          <a:blip r:embed="rId3"/>
          <a:stretch>
            <a:fillRect/>
          </a:stretch>
        </p:blipFill>
        <p:spPr>
          <a:xfrm>
            <a:off x="954634" y="5389474"/>
            <a:ext cx="285293" cy="285293"/>
          </a:xfrm>
          <a:prstGeom prst="rect">
            <a:avLst/>
          </a:prstGeom>
        </p:spPr>
      </p:pic>
      <p:sp>
        <p:nvSpPr>
          <p:cNvPr id="18" name="Text 12"/>
          <p:cNvSpPr txBox="1"/>
          <p:nvPr/>
        </p:nvSpPr>
        <p:spPr>
          <a:xfrm>
            <a:off x="1554480" y="4983480"/>
            <a:ext cx="9859975" cy="1097280"/>
          </a:xfrm>
          <a:prstGeom prst="rect">
            <a:avLst/>
          </a:prstGeom>
          <a:noFill/>
          <a:ln/>
        </p:spPr>
        <p:txBody>
          <a:bodyPr wrap="square" lIns="635" tIns="635" rIns="635" bIns="635" rtlCol="0" anchor="ctr"/>
          <a:lstStyle/>
          <a:p>
            <a:pPr indent="0" marL="0">
              <a:buNone/>
            </a:pPr>
            <a:r>
              <a:rPr lang="en-US" sz="2200" b="1" dirty="0">
                <a:solidFill>
                  <a:srgbClr val="F2C14E"/>
                </a:solidFill>
              </a:rPr>
              <a:t>Takeaway  </a:t>
            </a:r>
            <a:pPr indent="0" marL="0">
              <a:buNone/>
            </a:pPr>
            <a:r>
              <a:rPr lang="en-US" sz="2200" dirty="0">
                <a:solidFill>
                  <a:srgbClr val="FFFFFF"/>
                </a:solidFill>
              </a:rPr>
              <a:t>Plan budget, sampling, models, validation, optimization, verification and reporting before running.</a:t>
            </a:r>
            <a:endParaRPr lang="en-US" sz="2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Summary</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Key takeaways from this lesson</a:t>
            </a:r>
            <a:endParaRPr lang="en-US" sz="3200" dirty="0"/>
          </a:p>
        </p:txBody>
      </p:sp>
      <p:sp>
        <p:nvSpPr>
          <p:cNvPr id="5" name="takeaway-1"/>
          <p:cNvSpPr/>
          <p:nvPr/>
        </p:nvSpPr>
        <p:spPr>
          <a:xfrm>
            <a:off x="548640" y="1645920"/>
            <a:ext cx="5387188" cy="2103120"/>
          </a:xfrm>
          <a:prstGeom prst="roundRect">
            <a:avLst>
              <a:gd name="adj" fmla="val 5217"/>
            </a:avLst>
          </a:prstGeom>
          <a:solidFill>
            <a:schemeClr val="accent1">
              <a:alpha val="7000"/>
            </a:schemeClr>
          </a:solidFill>
          <a:ln w="12700">
            <a:solidFill>
              <a:schemeClr val="accent1">
                <a:alpha val="30000"/>
              </a:schemeClr>
            </a:solidFill>
            <a:prstDash val="solid"/>
          </a:ln>
        </p:spPr>
      </p:sp>
      <p:sp>
        <p:nvSpPr>
          <p:cNvPr id="6" name="Text 3"/>
          <p:cNvSpPr txBox="1"/>
          <p:nvPr/>
        </p:nvSpPr>
        <p:spPr>
          <a:xfrm>
            <a:off x="713232" y="181051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34440" y="1719072"/>
            <a:ext cx="4564228" cy="1956816"/>
          </a:xfrm>
          <a:prstGeom prst="rect">
            <a:avLst/>
          </a:prstGeom>
          <a:noFill/>
          <a:ln/>
        </p:spPr>
        <p:txBody>
          <a:bodyPr wrap="square" lIns="254" tIns="254" rIns="254" bIns="254" rtlCol="0" anchor="ctr"/>
          <a:lstStyle/>
          <a:p>
            <a:pPr indent="0" marL="0">
              <a:buNone/>
            </a:pPr>
            <a:r>
              <a:rPr lang="en-US" sz="1900" b="1" dirty="0">
                <a:solidFill>
                  <a:schemeClr val="tx2"/>
                </a:solidFill>
              </a:rPr>
              <a:t>From problem statement to budget plan</a:t>
            </a:r>
            <a:endParaRPr lang="en-US" sz="1900" dirty="0"/>
          </a:p>
          <a:p>
            <a:pPr indent="0" marL="0">
              <a:buNone/>
            </a:pPr>
            <a:r>
              <a:rPr lang="en-US" sz="1900" dirty="0">
                <a:solidFill>
                  <a:schemeClr val="tx1"/>
                </a:solidFill>
              </a:rPr>
              <a:t>Plan budget, sampling, models, validation, optimization, verification and reporting before running.</a:t>
            </a:r>
            <a:endParaRPr lang="en-US" sz="19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UP NEXT · LESSON 14.2</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Reporting template and self-check list</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buNone/>
            </a:pPr>
            <a:r>
              <a:rPr lang="en-US" sz="1800" dirty="0">
                <a:solidFill>
                  <a:srgbClr val="D6E2F0"/>
                </a:solidFill>
              </a:rPr>
              <a:t>Next in Module 14: Lesson 2. Mark this lesson complete in the course before continuing.</a:t>
            </a:r>
            <a:endParaRPr lang="en-US" sz="1800" dirty="0"/>
          </a:p>
        </p:txBody>
      </p:sp>
      <p:sp>
        <p:nvSpPr>
          <p:cNvPr id="5" name="Shape 3"/>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pic>
        <p:nvPicPr>
          <p:cNvPr id="6" name="icon-next" descr="preencoded.png">    </p:cNvPr>
          <p:cNvPicPr>
            <a:picLocks noChangeAspect="1"/>
          </p:cNvPicPr>
          <p:nvPr/>
        </p:nvPicPr>
        <p:blipFill>
          <a:blip r:embed="rId1"/>
          <a:stretch>
            <a:fillRect/>
          </a:stretch>
        </p:blipFill>
        <p:spPr>
          <a:xfrm>
            <a:off x="9646920" y="2331720"/>
            <a:ext cx="1097280" cy="1097280"/>
          </a:xfrm>
          <a:prstGeom prst="rect">
            <a:avLst/>
          </a:prstGeom>
        </p:spPr>
      </p:pic>
    </p:spTree>
  </p:cSld>
  <p:clrMapOvr>
    <a:masterClrMapping/>
  </p:clrMapOvr>
</p:sld>
</file>

<file path=ppt/theme/theme1.xml><?xml version="1.0" encoding="utf-8"?>
<a:theme xmlns:a="http://schemas.openxmlformats.org/drawingml/2006/main" name="MLSO Course">
  <a:themeElements>
    <a:clrScheme name="MLSO Course">
      <a:dk1>
        <a:srgbClr val="18212B"/>
      </a:dk1>
      <a:lt1>
        <a:srgbClr val="FFFFFF"/>
      </a:lt1>
      <a:dk2>
        <a:srgbClr val="123B6B"/>
      </a:dk2>
      <a:lt2>
        <a:srgbClr val="EEF2F7"/>
      </a:lt2>
      <a:accent1>
        <a:srgbClr val="1F5FA8"/>
      </a:accent1>
      <a:accent2>
        <a:srgbClr val="C2500A"/>
      </a:accent2>
      <a:accent3>
        <a:srgbClr val="1A6E3D"/>
      </a:accent3>
      <a:accent4>
        <a:srgbClr val="B98500"/>
      </a:accent4>
      <a:accent5>
        <a:srgbClr val="7A3FB0"/>
      </a:accent5>
      <a:accent6>
        <a:srgbClr val="B3261E"/>
      </a:accent6>
      <a:hlink>
        <a:srgbClr val="1F5FA8"/>
      </a:hlink>
      <a:folHlink>
        <a:srgbClr val="7A3FB0"/>
      </a:folHlink>
    </a:clrScheme>
    <a:fontScheme name="MLSO Cour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Self-paced course (CC BY 4.0)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14, Lesson 1: Planning the study</dc:title>
  <dc:subject>Machine Learning Fundamentals for Surrogate-Based Engineering Optimization</dc:subject>
  <dc:creator>Prof. Mazharul Islam</dc:creator>
  <cp:lastModifiedBy>Prof. Mazharul Islam</cp:lastModifiedBy>
  <cp:revision>1</cp:revision>
  <dcterms:created xsi:type="dcterms:W3CDTF">2026-10-07T01:12:32Z</dcterms:created>
  <dcterms:modified xsi:type="dcterms:W3CDTF">2026-10-07T01:12:32Z</dcterms:modified>
</cp:coreProperties>
</file>