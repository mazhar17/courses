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6cc1e386-486a-f48c-d9e4-6a1a80cb6938}">
          <p14:sldIdLst>
            <p14:sldId id="256"/>
          </p14:sldIdLst>
        </p14:section>
        <p14:section name="Lesson 1: Bounded design spaces, full factorial designs and the curse of dimensionality" id="{7555c69d-602a-4861-adaf-df0d1d0551f8}">
          <p14:sldIdLst>
            <p14:sldId id="257"/>
            <p14:sldId id="258"/>
            <p14:sldId id="259"/>
            <p14:sldId id="260"/>
            <p14:sldId id="261"/>
            <p14:sldId id="262"/>
          </p14:sldIdLst>
        </p14:section>
        <p14:section name="Summary" id="{6eecbae4-0c6f-9954-7166-0434aca2e5ba}">
          <p14:sldIdLst>
            <p14:sldId id="263"/>
            <p14:sldId id="26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to Module 7, Lesson 1 of the self-paced course Machine Learning Fundamentals for Surrogate-Based Engineering Optimization: Bounded design spaces, full factorial designs and the curse of dimensionality. This lesson belongs to the module Sampling and design of experiments and takes about 10 minutes. In this lesson: Grids grow explosively with dimension.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Grids grow explosively with dimension. A bounded design space is a box: each variable has a lower and upper bound. The most obvious plan is a full-factorial grid: choose L levels per variable and run every combination. With 2 variables and 5 levels that is 25 runs — fine. With 8 variables it is 390 625 runs — impossible with CFD. This explosive growth is the curse of dimensionality. Look at the figure. Number of full-factorial runs (log scale) versus number of variables, for 3, 5 and 10 levels. Three straight lines on a log scale rising with dimension: 3^d, 5^d and 10^d runs. A horizontal line marks a budget of 1 000 runs, crossed at about d = 6, 4 and 3 respectively.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Now the mathematics. N_{runs} = L^d, scaled coordinates z_j = (x_j − x_j_{,L})/(x_j_{,U} − x_j_{,L}) ∈ [0, 1] L is the levels per variable, in count. d is the number of design variables, in count. z_j is the scaled j-th variable. Another face of the curse: to keep the same spacing h between samples in each direction, the number of samples grows like (1/h)^d.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Where does this matter in engineering? A machining study with speed, feed and depth at 3 levels each needs 27 runs — practical. A turbine-blade study with 10 shape parameters at 3 levels needs 59 049 CFD runs — impractical; space-filling designs and dimension reduction are used instead. A practical tip: Always sample in scaled coordinates [0, 1]^d and map back to physical units only for running the model.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 to predict. How many runs for a full factorial with 4 levels in each of 5 variables? Pause here and commit to an answer before moving 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 is the answer. 4⁵ = 1 024 runs.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common misconception is this: A grid is always the most thorough design. In fact: Grids waste runs: in each 1-D projection only L distinct values are tested, and the count explodes with d. The takeaway: Full factorial cost L^d grows exponentially with d — the curse of dimensionality.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 sum up this lesson. Grids grow explosively with dimension: Full factorial cost L^d grows exponentially with d — the curse of dimensionality.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That completes Lesson 1 of Module 7: Bounded design spaces, full factorial designs and the curse of dimensionality. Next comes Lesson 2: Random, Latin hypercube and Sobol sampling.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143000"/>
            <a:ext cx="768096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b="1" spc="200" kern="0" dirty="0">
                <a:solidFill>
                  <a:srgbClr val="F2C14E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691640"/>
            <a:ext cx="7680960" cy="21031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3886200"/>
            <a:ext cx="768096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rgbClr val="D6E2F0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  <p:sp>
        <p:nvSpPr>
          <p:cNvPr id="5" name="Text 0"/>
          <p:cNvSpPr/>
          <p:nvPr/>
        </p:nvSpPr>
        <p:spPr>
          <a:xfrm>
            <a:off x="548640" y="580644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6E6"/>
                </a:solidFill>
              </a:rPr>
              <a:t>Machine Learning Fundamentals for Surrogate-Based Engineering Optimization · course version 3.0.0</a:t>
            </a:r>
            <a:endParaRPr lang="en-US" sz="1200" dirty="0"/>
          </a:p>
        </p:txBody>
      </p:sp>
      <p:sp>
        <p:nvSpPr>
          <p:cNvPr id="6" name="Text 1"/>
          <p:cNvSpPr/>
          <p:nvPr/>
        </p:nvSpPr>
        <p:spPr>
          <a:xfrm>
            <a:off x="548640" y="612648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6E6"/>
                </a:solidFill>
              </a:rPr>
              <a:t>© 2026 Prof. Mazharul Islam · CC BY 4.0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chemeClr val="accen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828800"/>
            <a:ext cx="1005840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b="1" dirty="0">
                <a:solidFill>
                  <a:srgbClr val="F2C14E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2331720"/>
            <a:ext cx="1051560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3931920"/>
            <a:ext cx="10515600" cy="20116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rgbClr val="E3ECF7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  <p:sp>
        <p:nvSpPr>
          <p:cNvPr id="5" name="Text 0"/>
          <p:cNvSpPr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6E2F0"/>
                </a:solidFill>
              </a:rPr>
              <a:t>Module 7, Lesson 1 · Bounded design spaces, full factorial designs and the curse of dimensionality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D6E2F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400" b="1" dirty="0">
                <a:solidFill>
                  <a:schemeClr val="accent2"/>
                </a:solidFill>
              </a:defRPr>
            </a:lvl1pPr>
          </a:lstStyle>
          <a:p>
            <a:pPr indent="0" marL="0">
              <a:buNone/>
            </a:pP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4" name="Text 0"/>
          <p:cNvSpPr/>
          <p:nvPr/>
        </p:nvSpPr>
        <p:spPr>
          <a:xfrm>
            <a:off x="548640" y="6400800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672"/>
                </a:solidFill>
              </a:rPr>
              <a:t>Module 7, Lesson 1 · Bounded design spaces, full factorial designs and the curse of dimensionality</a:t>
            </a:r>
            <a:endParaRPr lang="en-US" sz="1000" dirty="0"/>
          </a:p>
        </p:txBody>
      </p:sp>
      <p:sp>
        <p:nvSpPr>
          <p:cNvPr id="5" name="Text 1"/>
          <p:cNvSpPr/>
          <p:nvPr/>
        </p:nvSpPr>
        <p:spPr>
          <a:xfrm>
            <a:off x="7223760" y="64008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672"/>
                </a:solidFill>
              </a:rPr>
              <a:t>© 2026 Prof. Mazharul Islam · CC BY 4.0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6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D6E2F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1430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F2C14E"/>
                </a:solidFill>
              </a:rPr>
              <a:t>MODULE 07 · LESSON 1 OF 3 · ≈ 10 MIN</a:t>
            </a:r>
            <a:endParaRPr lang="en-US" sz="18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691640"/>
            <a:ext cx="76809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Bounded design spaces, full factorial designs and the curse of dimensionality</a:t>
            </a:r>
            <a:endParaRPr lang="en-US" sz="4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3886200"/>
            <a:ext cx="7680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D6E2F0"/>
                </a:solidFill>
              </a:rPr>
              <a:t>Module 7: Sampling and design of experiments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D6E2F0"/>
                </a:solidFill>
              </a:rPr>
              <a:t>Grids grow explosively with dimension</a:t>
            </a:r>
            <a:endParaRPr lang="en-US" sz="1800" dirty="0"/>
          </a:p>
        </p:txBody>
      </p:sp>
      <p:sp>
        <p:nvSpPr>
          <p:cNvPr id="5" name="lesson-number-ring"/>
          <p:cNvSpPr/>
          <p:nvPr/>
        </p:nvSpPr>
        <p:spPr>
          <a:xfrm>
            <a:off x="8732520" y="1417320"/>
            <a:ext cx="2926080" cy="2926080"/>
          </a:xfrm>
          <a:prstGeom prst="ellipse">
            <a:avLst/>
          </a:prstGeom>
          <a:solidFill>
            <a:schemeClr val="bg1">
              <a:alpha val="12000"/>
            </a:schemeClr>
          </a:solidFill>
          <a:ln w="38100">
            <a:solidFill>
              <a:srgbClr val="F2C14E"/>
            </a:solidFill>
            <a:prstDash val="solid"/>
          </a:ln>
        </p:spPr>
      </p:sp>
      <p:sp>
        <p:nvSpPr>
          <p:cNvPr id="6" name="lesson-number"/>
          <p:cNvSpPr txBox="1"/>
          <p:nvPr/>
        </p:nvSpPr>
        <p:spPr>
          <a:xfrm>
            <a:off x="8732520" y="1417320"/>
            <a:ext cx="292608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chemeClr val="bg1"/>
                </a:solidFill>
              </a:rPr>
              <a:t>7.1</a:t>
            </a:r>
            <a:endParaRPr lang="en-US" sz="8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Lesson 1 · Bounded design spaces, full factorial designs and the curse of dimensionality · Intuition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Grids grow explosively with dimension</a:t>
            </a:r>
            <a:endParaRPr lang="en-US" sz="3200" dirty="0"/>
          </a:p>
        </p:txBody>
      </p:sp>
      <p:sp>
        <p:nvSpPr>
          <p:cNvPr id="5" name="intuition-card"/>
          <p:cNvSpPr/>
          <p:nvPr/>
        </p:nvSpPr>
        <p:spPr>
          <a:xfrm>
            <a:off x="548640" y="1691640"/>
            <a:ext cx="5120640" cy="4480560"/>
          </a:xfrm>
          <a:prstGeom prst="roundRect">
            <a:avLst>
              <a:gd name="adj" fmla="val 2449"/>
            </a:avLst>
          </a:prstGeom>
          <a:solidFill>
            <a:schemeClr val="accent1">
              <a:alpha val="7000"/>
            </a:schemeClr>
          </a:solidFill>
          <a:ln w="12700">
            <a:solidFill>
              <a:schemeClr val="accent1">
                <a:alpha val="30000"/>
              </a:schemeClr>
            </a:solidFill>
            <a:prstDash val="solid"/>
          </a:ln>
        </p:spPr>
      </p:sp>
      <p:sp>
        <p:nvSpPr>
          <p:cNvPr id="6" name="icon-bg-intu"/>
          <p:cNvSpPr/>
          <p:nvPr/>
        </p:nvSpPr>
        <p:spPr>
          <a:xfrm>
            <a:off x="777240" y="187452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7" name="icon-intu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7941" y="1995221"/>
            <a:ext cx="261518" cy="261518"/>
          </a:xfrm>
          <a:prstGeom prst="rect">
            <a:avLst/>
          </a:prstGeom>
        </p:spPr>
      </p:pic>
      <p:sp>
        <p:nvSpPr>
          <p:cNvPr id="8" name="text"/>
          <p:cNvSpPr txBox="1"/>
          <p:nvPr/>
        </p:nvSpPr>
        <p:spPr>
          <a:xfrm>
            <a:off x="685800" y="2468880"/>
            <a:ext cx="4846320" cy="361188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A </a:t>
            </a:r>
            <a:pPr indent="0" marL="0">
              <a:spcAft>
                <a:spcPts val="600"/>
              </a:spcAft>
              <a:buNone/>
            </a:pPr>
            <a:r>
              <a:rPr lang="en-US" sz="2000" b="1" dirty="0">
                <a:solidFill>
                  <a:schemeClr val="tx1"/>
                </a:solidFill>
              </a:rPr>
              <a:t>bounded design space</a:t>
            </a:r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 is a box: each variable has a lower and upper bound. The most obvious plan is a </a:t>
            </a:r>
            <a:pPr indent="0" marL="0">
              <a:spcAft>
                <a:spcPts val="600"/>
              </a:spcAft>
              <a:buNone/>
            </a:pPr>
            <a:r>
              <a:rPr lang="en-US" sz="2000" b="1" dirty="0">
                <a:solidFill>
                  <a:schemeClr val="tx1"/>
                </a:solidFill>
              </a:rPr>
              <a:t>full-factorial grid</a:t>
            </a:r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: choose </a:t>
            </a:r>
            <a:pPr indent="0" marL="0">
              <a:spcAft>
                <a:spcPts val="600"/>
              </a:spcAft>
              <a:buNone/>
            </a:pPr>
            <a:r>
              <a:rPr lang="en-US" sz="2000" i="1" dirty="0">
                <a:solidFill>
                  <a:schemeClr val="tx1"/>
                </a:solidFill>
              </a:rPr>
              <a:t>L</a:t>
            </a:r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 levels per variable and run every combination. With 2 variables and 5 levels that is 25 runs — fine. With 8 variables it is 390 625 runs — impossible with CFD. This explosive growth is the </a:t>
            </a:r>
            <a:pPr indent="0" marL="0">
              <a:spcAft>
                <a:spcPts val="600"/>
              </a:spcAft>
              <a:buNone/>
            </a:pPr>
            <a:r>
              <a:rPr lang="en-US" sz="2000" b="1" dirty="0">
                <a:solidFill>
                  <a:schemeClr val="tx1"/>
                </a:solidFill>
              </a:rPr>
              <a:t>curse of dimensionality</a:t>
            </a:r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.</a:t>
            </a:r>
            <a:endParaRPr lang="en-US" sz="2000" dirty="0"/>
          </a:p>
        </p:txBody>
      </p:sp>
      <p:pic>
        <p:nvPicPr>
          <p:cNvPr id="9" name="figure" descr="Three straight lines on a log scale rising with dimension: 3^d, 5^d and 10^d runs. A horizontal line marks a budget of 1 000 runs, crossed at about d = 6, 4 and 3 respectively.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1691640"/>
            <a:ext cx="5653735" cy="2600383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5989320" y="4337743"/>
            <a:ext cx="5653735" cy="18801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46525F"/>
                </a:solidFill>
              </a:rPr>
              <a:t>Number of full-factorial runs (log scale) versus number of variables, for 3, 5 and 10 levels.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6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Lesson 1 · Bounded design spaces, full factorial designs and the curse of dimensionality · The mathematics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Grids grow explosively with dimension</a:t>
            </a:r>
            <a:endParaRPr lang="en-US" sz="3200" dirty="0"/>
          </a:p>
        </p:txBody>
      </p:sp>
      <p:sp>
        <p:nvSpPr>
          <p:cNvPr id="5" name="icon-bg-math"/>
          <p:cNvSpPr/>
          <p:nvPr/>
        </p:nvSpPr>
        <p:spPr>
          <a:xfrm>
            <a:off x="548640" y="164592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icon-math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9341" y="1766621"/>
            <a:ext cx="261518" cy="261518"/>
          </a:xfrm>
          <a:prstGeom prst="rect">
            <a:avLst/>
          </a:prstGeom>
        </p:spPr>
      </p:pic>
      <p:sp>
        <p:nvSpPr>
          <p:cNvPr id="7" name="math-card"/>
          <p:cNvSpPr/>
          <p:nvPr/>
        </p:nvSpPr>
        <p:spPr>
          <a:xfrm>
            <a:off x="1143000" y="1600200"/>
            <a:ext cx="10500055" cy="584200"/>
          </a:xfrm>
          <a:prstGeom prst="roundRect">
            <a:avLst>
              <a:gd name="adj" fmla="val 18783"/>
            </a:avLst>
          </a:prstGeom>
          <a:solidFill>
            <a:schemeClr val="bg2"/>
          </a:solidFill>
          <a:ln w="12700">
            <a:solidFill>
              <a:schemeClr val="bg2">
                <a:alpha val="30000"/>
              </a:schemeClr>
            </a:solidFill>
            <a:prstDash val="solid"/>
          </a:ln>
        </p:spPr>
      </p:sp>
      <p:sp>
        <p:nvSpPr>
          <p:cNvPr id="8" name="math-text"/>
          <p:cNvSpPr txBox="1"/>
          <p:nvPr/>
        </p:nvSpPr>
        <p:spPr>
          <a:xfrm>
            <a:off x="1234440" y="1645920"/>
            <a:ext cx="10408615" cy="49276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chemeClr val="tx1"/>
                </a:solidFill>
              </a:rPr>
              <a:t>N</a:t>
            </a:r>
            <a:pPr algn="ctr" indent="0" marL="0">
              <a:buNone/>
            </a:pPr>
            <a:r>
              <a:rPr lang="en-US" sz="2000" baseline="-40000" dirty="0">
                <a:solidFill>
                  <a:schemeClr val="tx1"/>
                </a:solidFill>
              </a:rPr>
              <a:t>runs</a:t>
            </a:r>
            <a:pPr algn="ctr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 = </a:t>
            </a:r>
            <a:pPr algn="ctr" indent="0" marL="0">
              <a:buNone/>
            </a:pPr>
            <a:r>
              <a:rPr lang="en-US" sz="2000" i="1" dirty="0">
                <a:solidFill>
                  <a:schemeClr val="tx1"/>
                </a:solidFill>
              </a:rPr>
              <a:t>L</a:t>
            </a:r>
            <a:pPr algn="ctr" indent="0" marL="0">
              <a:buNone/>
            </a:pPr>
            <a:r>
              <a:rPr lang="en-US" sz="2000" i="1" baseline="30000" dirty="0">
                <a:solidFill>
                  <a:schemeClr val="tx1"/>
                </a:solidFill>
              </a:rPr>
              <a:t>d</a:t>
            </a:r>
            <a:pPr algn="ctr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, scaled coordinates </a:t>
            </a:r>
            <a:pPr algn="ctr" indent="0" marL="0">
              <a:buNone/>
            </a:pPr>
            <a:r>
              <a:rPr lang="en-US" sz="2000" i="1" dirty="0">
                <a:solidFill>
                  <a:schemeClr val="tx1"/>
                </a:solidFill>
              </a:rPr>
              <a:t>z</a:t>
            </a:r>
            <a:pPr algn="ctr" indent="0" marL="0">
              <a:buNone/>
            </a:pPr>
            <a:r>
              <a:rPr lang="en-US" sz="2000" i="1" baseline="-40000" dirty="0">
                <a:solidFill>
                  <a:schemeClr val="tx1"/>
                </a:solidFill>
              </a:rPr>
              <a:t>j</a:t>
            </a:r>
            <a:pPr algn="ctr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 = (</a:t>
            </a:r>
            <a:pPr algn="ctr" indent="0" marL="0">
              <a:buNone/>
            </a:pPr>
            <a:r>
              <a:rPr lang="en-US" sz="2000" i="1" dirty="0">
                <a:solidFill>
                  <a:schemeClr val="tx1"/>
                </a:solidFill>
              </a:rPr>
              <a:t>x</a:t>
            </a:r>
            <a:pPr algn="ctr" indent="0" marL="0">
              <a:buNone/>
            </a:pPr>
            <a:r>
              <a:rPr lang="en-US" sz="2000" i="1" baseline="-40000" dirty="0">
                <a:solidFill>
                  <a:schemeClr val="tx1"/>
                </a:solidFill>
              </a:rPr>
              <a:t>j</a:t>
            </a:r>
            <a:pPr algn="ctr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 − </a:t>
            </a:r>
            <a:pPr algn="ctr" indent="0" marL="0">
              <a:buNone/>
            </a:pPr>
            <a:r>
              <a:rPr lang="en-US" sz="2000" i="1" dirty="0">
                <a:solidFill>
                  <a:schemeClr val="tx1"/>
                </a:solidFill>
              </a:rPr>
              <a:t>x</a:t>
            </a:r>
            <a:pPr algn="ctr" indent="0" marL="0">
              <a:buNone/>
            </a:pPr>
            <a:r>
              <a:rPr lang="en-US" sz="2000" i="1" baseline="-40000" dirty="0">
                <a:solidFill>
                  <a:schemeClr val="tx1"/>
                </a:solidFill>
              </a:rPr>
              <a:t>j</a:t>
            </a:r>
            <a:pPr algn="ctr" indent="0" marL="0">
              <a:buNone/>
            </a:pPr>
            <a:r>
              <a:rPr lang="en-US" sz="2000" baseline="-40000" dirty="0">
                <a:solidFill>
                  <a:schemeClr val="tx1"/>
                </a:solidFill>
              </a:rPr>
              <a:t>,L</a:t>
            </a:r>
            <a:pPr algn="ctr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)/(</a:t>
            </a:r>
            <a:pPr algn="ctr" indent="0" marL="0">
              <a:buNone/>
            </a:pPr>
            <a:r>
              <a:rPr lang="en-US" sz="2000" i="1" dirty="0">
                <a:solidFill>
                  <a:schemeClr val="tx1"/>
                </a:solidFill>
              </a:rPr>
              <a:t>x</a:t>
            </a:r>
            <a:pPr algn="ctr" indent="0" marL="0">
              <a:buNone/>
            </a:pPr>
            <a:r>
              <a:rPr lang="en-US" sz="2000" i="1" baseline="-40000" dirty="0">
                <a:solidFill>
                  <a:schemeClr val="tx1"/>
                </a:solidFill>
              </a:rPr>
              <a:t>j</a:t>
            </a:r>
            <a:pPr algn="ctr" indent="0" marL="0">
              <a:buNone/>
            </a:pPr>
            <a:r>
              <a:rPr lang="en-US" sz="2000" baseline="-40000" dirty="0">
                <a:solidFill>
                  <a:schemeClr val="tx1"/>
                </a:solidFill>
              </a:rPr>
              <a:t>,U</a:t>
            </a:r>
            <a:pPr algn="ctr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 − </a:t>
            </a:r>
            <a:pPr algn="ctr" indent="0" marL="0">
              <a:buNone/>
            </a:pPr>
            <a:r>
              <a:rPr lang="en-US" sz="2000" i="1" dirty="0">
                <a:solidFill>
                  <a:schemeClr val="tx1"/>
                </a:solidFill>
              </a:rPr>
              <a:t>x</a:t>
            </a:r>
            <a:pPr algn="ctr" indent="0" marL="0">
              <a:buNone/>
            </a:pPr>
            <a:r>
              <a:rPr lang="en-US" sz="2000" i="1" baseline="-40000" dirty="0">
                <a:solidFill>
                  <a:schemeClr val="tx1"/>
                </a:solidFill>
              </a:rPr>
              <a:t>j</a:t>
            </a:r>
            <a:pPr algn="ctr" indent="0" marL="0">
              <a:buNone/>
            </a:pPr>
            <a:r>
              <a:rPr lang="en-US" sz="2000" baseline="-40000" dirty="0">
                <a:solidFill>
                  <a:schemeClr val="tx1"/>
                </a:solidFill>
              </a:rPr>
              <a:t>,L</a:t>
            </a:r>
            <a:pPr algn="ctr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) ∈ [0, 1]</a:t>
            </a:r>
            <a:endParaRPr lang="en-US" sz="2000" dirty="0"/>
          </a:p>
        </p:txBody>
      </p:sp>
      <p:graphicFrame>
        <p:nvGraphicFramePr>
          <p:cNvPr id="4" name="math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234440" y="2367280"/>
          <a:ext cx="10408615" cy="914400"/>
        </p:xfrm>
        <a:graphic>
          <a:graphicData uri="http://schemas.openxmlformats.org/drawingml/2006/table">
            <a:tbl>
              <a:tblPr/>
              <a:tblGrid>
                <a:gridCol w="2289895"/>
                <a:gridCol w="6036997"/>
                <a:gridCol w="2081723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Symbol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F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Meaning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F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Unit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FA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212B"/>
                          </a:solidFill>
                        </a:rPr>
                        <a:t>L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212B"/>
                          </a:solidFill>
                        </a:rPr>
                        <a:t>levels per variable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212B"/>
                          </a:solidFill>
                        </a:rPr>
                        <a:t>count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212B"/>
                          </a:solidFill>
                        </a:rPr>
                        <a:t>d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212B"/>
                          </a:solidFill>
                        </a:rPr>
                        <a:t>number of design variables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212B"/>
                          </a:solidFill>
                        </a:rPr>
                        <a:t>count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212B"/>
                          </a:solidFill>
                        </a:rPr>
                        <a:t>z</a:t>
                      </a:r>
                      <a:pPr indent="0" marL="0">
                        <a:buNone/>
                      </a:pPr>
                      <a:r>
                        <a:rPr lang="en-US" sz="1400" baseline="-40000" dirty="0">
                          <a:solidFill>
                            <a:srgbClr val="18212B"/>
                          </a:solidFill>
                        </a:rPr>
                        <a:t>j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212B"/>
                          </a:solidFill>
                        </a:rPr>
                        <a:t>scaled j-th variable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212B"/>
                          </a:solidFill>
                        </a:rPr>
                        <a:t>—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math-card"/>
          <p:cNvSpPr/>
          <p:nvPr/>
        </p:nvSpPr>
        <p:spPr>
          <a:xfrm>
            <a:off x="1143000" y="4250944"/>
            <a:ext cx="10500055" cy="894080"/>
          </a:xfrm>
          <a:prstGeom prst="roundRect">
            <a:avLst>
              <a:gd name="adj" fmla="val 12273"/>
            </a:avLst>
          </a:prstGeom>
          <a:solidFill>
            <a:schemeClr val="bg2"/>
          </a:solidFill>
          <a:ln w="12700">
            <a:solidFill>
              <a:schemeClr val="bg2">
                <a:alpha val="30000"/>
              </a:schemeClr>
            </a:solidFill>
            <a:prstDash val="solid"/>
          </a:ln>
        </p:spPr>
      </p:sp>
      <p:sp>
        <p:nvSpPr>
          <p:cNvPr id="11" name="math-text"/>
          <p:cNvSpPr txBox="1"/>
          <p:nvPr/>
        </p:nvSpPr>
        <p:spPr>
          <a:xfrm>
            <a:off x="1234440" y="4296664"/>
            <a:ext cx="10408615" cy="80264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Another face of the curse: to keep the same spacing </a:t>
            </a:r>
            <a:pPr indent="0" marL="0">
              <a:buNone/>
            </a:pPr>
            <a:r>
              <a:rPr lang="en-US" sz="2000" i="1" dirty="0">
                <a:solidFill>
                  <a:schemeClr val="tx1"/>
                </a:solidFill>
              </a:rPr>
              <a:t>h</a:t>
            </a:r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 between samples in each direction, the number of samples grows like (1/</a:t>
            </a:r>
            <a:pPr indent="0" marL="0">
              <a:buNone/>
            </a:pPr>
            <a:r>
              <a:rPr lang="en-US" sz="2000" i="1" dirty="0">
                <a:solidFill>
                  <a:schemeClr val="tx1"/>
                </a:solidFill>
              </a:rPr>
              <a:t>h</a:t>
            </a:r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)</a:t>
            </a:r>
            <a:pPr indent="0" marL="0">
              <a:buNone/>
            </a:pPr>
            <a:r>
              <a:rPr lang="en-US" sz="2000" i="1" baseline="30000" dirty="0">
                <a:solidFill>
                  <a:schemeClr val="tx1"/>
                </a:solidFill>
              </a:rPr>
              <a:t>d</a:t>
            </a:r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6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Lesson 1 · Bounded design spaces, full factorial designs and the curse of dimensionality · In engineering practice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Grids grow explosively with dimension</a:t>
            </a:r>
            <a:endParaRPr lang="en-US" sz="3200" dirty="0"/>
          </a:p>
        </p:txBody>
      </p:sp>
      <p:sp>
        <p:nvSpPr>
          <p:cNvPr id="5" name="Engineering application"/>
          <p:cNvSpPr/>
          <p:nvPr/>
        </p:nvSpPr>
        <p:spPr>
          <a:xfrm>
            <a:off x="548640" y="1691640"/>
            <a:ext cx="5364328" cy="4480560"/>
          </a:xfrm>
          <a:prstGeom prst="roundRect">
            <a:avLst>
              <a:gd name="adj" fmla="val 2449"/>
            </a:avLst>
          </a:prstGeom>
          <a:solidFill>
            <a:schemeClr val="accent3">
              <a:alpha val="10000"/>
            </a:schemeClr>
          </a:solidFill>
          <a:ln w="12700">
            <a:solidFill>
              <a:schemeClr val="accent3">
                <a:alpha val="30000"/>
              </a:schemeClr>
            </a:solidFill>
            <a:prstDash val="solid"/>
          </a:ln>
        </p:spPr>
      </p:sp>
      <p:sp>
        <p:nvSpPr>
          <p:cNvPr id="6" name="icon-bg-app"/>
          <p:cNvSpPr/>
          <p:nvPr/>
        </p:nvSpPr>
        <p:spPr>
          <a:xfrm>
            <a:off x="822960" y="1920240"/>
            <a:ext cx="566928" cy="56692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7" name="icon-app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9023" y="2056303"/>
            <a:ext cx="294803" cy="294803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508760" y="1965960"/>
            <a:ext cx="41756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Engineering application</a:t>
            </a:r>
            <a:endParaRPr lang="en-US" sz="2000" dirty="0"/>
          </a:p>
        </p:txBody>
      </p:sp>
      <p:sp>
        <p:nvSpPr>
          <p:cNvPr id="9" name="text"/>
          <p:cNvSpPr txBox="1"/>
          <p:nvPr/>
        </p:nvSpPr>
        <p:spPr>
          <a:xfrm>
            <a:off x="777240" y="2697480"/>
            <a:ext cx="4907128" cy="333756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A machining study with speed, feed and depth at 3 levels each needs 27 runs — practical. A turbine-blade study with 10 shape parameters at 3 levels needs 59 049 CFD runs — impractical; space-filling designs and dimension reduction are used instead.</a:t>
            </a:r>
            <a:endParaRPr lang="en-US" sz="2000" dirty="0"/>
          </a:p>
        </p:txBody>
      </p:sp>
      <p:sp>
        <p:nvSpPr>
          <p:cNvPr id="10" name="Practical tip"/>
          <p:cNvSpPr/>
          <p:nvPr/>
        </p:nvSpPr>
        <p:spPr>
          <a:xfrm>
            <a:off x="6278728" y="1691640"/>
            <a:ext cx="5364328" cy="4480560"/>
          </a:xfrm>
          <a:prstGeom prst="roundRect">
            <a:avLst>
              <a:gd name="adj" fmla="val 2449"/>
            </a:avLst>
          </a:prstGeom>
          <a:solidFill>
            <a:schemeClr val="accent4">
              <a:alpha val="10000"/>
            </a:schemeClr>
          </a:solidFill>
          <a:ln w="12700">
            <a:solidFill>
              <a:schemeClr val="accent4">
                <a:alpha val="30000"/>
              </a:schemeClr>
            </a:solidFill>
            <a:prstDash val="solid"/>
          </a:ln>
        </p:spPr>
      </p:sp>
      <p:sp>
        <p:nvSpPr>
          <p:cNvPr id="11" name="icon-bg-tip"/>
          <p:cNvSpPr/>
          <p:nvPr/>
        </p:nvSpPr>
        <p:spPr>
          <a:xfrm>
            <a:off x="6553048" y="1920240"/>
            <a:ext cx="566928" cy="56692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12" name="icon-tip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9110" y="2056303"/>
            <a:ext cx="294803" cy="294803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7238848" y="1965960"/>
            <a:ext cx="41756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Practical tip</a:t>
            </a:r>
            <a:endParaRPr lang="en-US" sz="2000" dirty="0"/>
          </a:p>
        </p:txBody>
      </p:sp>
      <p:sp>
        <p:nvSpPr>
          <p:cNvPr id="14" name="text"/>
          <p:cNvSpPr txBox="1"/>
          <p:nvPr/>
        </p:nvSpPr>
        <p:spPr>
          <a:xfrm>
            <a:off x="6507328" y="2697480"/>
            <a:ext cx="4907128" cy="333756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Always sample in scaled coordinates [0, 1]</a:t>
            </a:r>
            <a:pPr indent="0" marL="0">
              <a:spcAft>
                <a:spcPts val="600"/>
              </a:spcAft>
              <a:buNone/>
            </a:pPr>
            <a:r>
              <a:rPr lang="en-US" sz="2000" baseline="30000" dirty="0">
                <a:solidFill>
                  <a:schemeClr val="tx1"/>
                </a:solidFill>
              </a:rPr>
              <a:t>d</a:t>
            </a:r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 and map back to physical units only for running the model.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6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Lesson 1 · Bounded design spaces, full factorial designs and the curse of dimensionality · Predict before you look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Pause and predict</a:t>
            </a:r>
            <a:endParaRPr lang="en-US" sz="3200" dirty="0"/>
          </a:p>
        </p:txBody>
      </p:sp>
      <p:sp>
        <p:nvSpPr>
          <p:cNvPr id="5" name="question-card"/>
          <p:cNvSpPr/>
          <p:nvPr/>
        </p:nvSpPr>
        <p:spPr>
          <a:xfrm>
            <a:off x="548640" y="1737360"/>
            <a:ext cx="11094415" cy="3291840"/>
          </a:xfrm>
          <a:prstGeom prst="roundRect">
            <a:avLst>
              <a:gd name="adj" fmla="val 3333"/>
            </a:avLst>
          </a:prstGeom>
          <a:solidFill>
            <a:schemeClr val="accent2">
              <a:alpha val="9000"/>
            </a:schemeClr>
          </a:solidFill>
          <a:ln w="12700">
            <a:solidFill>
              <a:schemeClr val="accent2">
                <a:alpha val="30000"/>
              </a:schemeClr>
            </a:solidFill>
            <a:prstDash val="solid"/>
          </a:ln>
        </p:spPr>
      </p:sp>
      <p:sp>
        <p:nvSpPr>
          <p:cNvPr id="6" name="icon-bg-predict"/>
          <p:cNvSpPr/>
          <p:nvPr/>
        </p:nvSpPr>
        <p:spPr>
          <a:xfrm>
            <a:off x="868680" y="2011680"/>
            <a:ext cx="731520" cy="7315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7" name="icon-predict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4245" y="2187245"/>
            <a:ext cx="380390" cy="380390"/>
          </a:xfrm>
          <a:prstGeom prst="rect">
            <a:avLst/>
          </a:prstGeom>
        </p:spPr>
      </p:pic>
      <p:sp>
        <p:nvSpPr>
          <p:cNvPr id="8" name="text"/>
          <p:cNvSpPr txBox="1"/>
          <p:nvPr/>
        </p:nvSpPr>
        <p:spPr>
          <a:xfrm>
            <a:off x="1874520" y="1965960"/>
            <a:ext cx="9448495" cy="283464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2800" dirty="0">
                <a:solidFill>
                  <a:schemeClr val="tx1"/>
                </a:solidFill>
              </a:rPr>
              <a:t>How many runs for a full factorial with 4 levels in each of 5 variables?</a:t>
            </a:r>
            <a:endParaRPr lang="en-US" sz="2800" dirty="0"/>
          </a:p>
        </p:txBody>
      </p:sp>
      <p:sp>
        <p:nvSpPr>
          <p:cNvPr id="9" name="Text 5"/>
          <p:cNvSpPr txBox="1"/>
          <p:nvPr/>
        </p:nvSpPr>
        <p:spPr>
          <a:xfrm>
            <a:off x="548640" y="530352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46525F"/>
                </a:solidFill>
              </a:rPr>
              <a:t>Write down your answer, then continue to the next slide.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6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Lesson 1 · Bounded design spaces, full factorial designs and the curse of dimensionality · Answer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What happens, and why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60020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46525F"/>
                </a:solidFill>
              </a:rPr>
              <a:t>Question: </a:t>
            </a:r>
            <a:pPr indent="0" marL="0">
              <a:buNone/>
            </a:pPr>
            <a:r>
              <a:rPr lang="en-US" sz="1400" dirty="0">
                <a:solidFill>
                  <a:srgbClr val="46525F"/>
                </a:solidFill>
              </a:rPr>
              <a:t>How many runs for a full factorial with 4 levels in each of 5 variables?</a:t>
            </a:r>
            <a:endParaRPr lang="en-US" sz="1400" dirty="0"/>
          </a:p>
        </p:txBody>
      </p:sp>
      <p:sp>
        <p:nvSpPr>
          <p:cNvPr id="6" name="answer-card"/>
          <p:cNvSpPr/>
          <p:nvPr/>
        </p:nvSpPr>
        <p:spPr>
          <a:xfrm>
            <a:off x="548640" y="2606040"/>
            <a:ext cx="11094415" cy="3566160"/>
          </a:xfrm>
          <a:prstGeom prst="roundRect">
            <a:avLst>
              <a:gd name="adj" fmla="val 3077"/>
            </a:avLst>
          </a:prstGeom>
          <a:solidFill>
            <a:schemeClr val="accent3">
              <a:alpha val="10000"/>
            </a:schemeClr>
          </a:solidFill>
          <a:ln w="12700">
            <a:solidFill>
              <a:schemeClr val="accent3">
                <a:alpha val="30000"/>
              </a:schemeClr>
            </a:solidFill>
            <a:prstDash val="solid"/>
          </a:ln>
        </p:spPr>
      </p:sp>
      <p:sp>
        <p:nvSpPr>
          <p:cNvPr id="7" name="icon-bg-answer"/>
          <p:cNvSpPr/>
          <p:nvPr/>
        </p:nvSpPr>
        <p:spPr>
          <a:xfrm>
            <a:off x="868680" y="2880360"/>
            <a:ext cx="731520" cy="73152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8" name="icon-answer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4245" y="3055925"/>
            <a:ext cx="380390" cy="380390"/>
          </a:xfrm>
          <a:prstGeom prst="rect">
            <a:avLst/>
          </a:prstGeom>
        </p:spPr>
      </p:pic>
      <p:sp>
        <p:nvSpPr>
          <p:cNvPr id="9" name="text"/>
          <p:cNvSpPr txBox="1"/>
          <p:nvPr/>
        </p:nvSpPr>
        <p:spPr>
          <a:xfrm>
            <a:off x="1874520" y="2788920"/>
            <a:ext cx="9448495" cy="320040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2600" dirty="0">
                <a:solidFill>
                  <a:schemeClr val="tx1"/>
                </a:solidFill>
              </a:rPr>
              <a:t>4⁵ = 1 024 runs.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6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Lesson 1 · Bounded design spaces, full factorial designs and the curse of dimensionality · Common misconception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Grids grow explosively with dimension</a:t>
            </a:r>
            <a:endParaRPr lang="en-US" sz="3200" dirty="0"/>
          </a:p>
        </p:txBody>
      </p:sp>
      <p:sp>
        <p:nvSpPr>
          <p:cNvPr id="5" name="Misconception"/>
          <p:cNvSpPr/>
          <p:nvPr/>
        </p:nvSpPr>
        <p:spPr>
          <a:xfrm>
            <a:off x="548640" y="1691640"/>
            <a:ext cx="5364328" cy="2971800"/>
          </a:xfrm>
          <a:prstGeom prst="roundRect">
            <a:avLst>
              <a:gd name="adj" fmla="val 3692"/>
            </a:avLst>
          </a:prstGeom>
          <a:solidFill>
            <a:schemeClr val="accent6">
              <a:alpha val="9000"/>
            </a:schemeClr>
          </a:solidFill>
          <a:ln w="12700">
            <a:solidFill>
              <a:schemeClr val="accent6">
                <a:alpha val="30000"/>
              </a:schemeClr>
            </a:solidFill>
            <a:prstDash val="solid"/>
          </a:ln>
        </p:spPr>
      </p:sp>
      <p:sp>
        <p:nvSpPr>
          <p:cNvPr id="6" name="icon-bg-mis"/>
          <p:cNvSpPr/>
          <p:nvPr/>
        </p:nvSpPr>
        <p:spPr>
          <a:xfrm>
            <a:off x="822960" y="1874520"/>
            <a:ext cx="548640" cy="5486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7" name="icon-mis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4634" y="2006194"/>
            <a:ext cx="285293" cy="285293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508760" y="1901952"/>
            <a:ext cx="41756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Misconception</a:t>
            </a:r>
            <a:endParaRPr lang="en-US" sz="2000" dirty="0"/>
          </a:p>
        </p:txBody>
      </p:sp>
      <p:sp>
        <p:nvSpPr>
          <p:cNvPr id="9" name="text"/>
          <p:cNvSpPr txBox="1"/>
          <p:nvPr/>
        </p:nvSpPr>
        <p:spPr>
          <a:xfrm>
            <a:off x="777240" y="2560320"/>
            <a:ext cx="4907128" cy="201168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 A grid is always the most thorough design.</a:t>
            </a:r>
            <a:endParaRPr lang="en-US" sz="2000" dirty="0"/>
          </a:p>
        </p:txBody>
      </p:sp>
      <p:sp>
        <p:nvSpPr>
          <p:cNvPr id="10" name="What is actually true"/>
          <p:cNvSpPr/>
          <p:nvPr/>
        </p:nvSpPr>
        <p:spPr>
          <a:xfrm>
            <a:off x="6278728" y="1691640"/>
            <a:ext cx="5364328" cy="2971800"/>
          </a:xfrm>
          <a:prstGeom prst="roundRect">
            <a:avLst>
              <a:gd name="adj" fmla="val 3692"/>
            </a:avLst>
          </a:prstGeom>
          <a:solidFill>
            <a:schemeClr val="accent3">
              <a:alpha val="9000"/>
            </a:schemeClr>
          </a:solidFill>
          <a:ln w="12700">
            <a:solidFill>
              <a:schemeClr val="accent3">
                <a:alpha val="30000"/>
              </a:schemeClr>
            </a:solidFill>
            <a:prstDash val="solid"/>
          </a:ln>
        </p:spPr>
      </p:sp>
      <p:sp>
        <p:nvSpPr>
          <p:cNvPr id="11" name="icon-bg-cor"/>
          <p:cNvSpPr/>
          <p:nvPr/>
        </p:nvSpPr>
        <p:spPr>
          <a:xfrm>
            <a:off x="6553048" y="1874520"/>
            <a:ext cx="548640" cy="54864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2" name="icon-cor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4721" y="2006194"/>
            <a:ext cx="285293" cy="285293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7238848" y="1901952"/>
            <a:ext cx="41756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What is actually true</a:t>
            </a:r>
            <a:endParaRPr lang="en-US" sz="2000" dirty="0"/>
          </a:p>
        </p:txBody>
      </p:sp>
      <p:sp>
        <p:nvSpPr>
          <p:cNvPr id="14" name="text"/>
          <p:cNvSpPr txBox="1"/>
          <p:nvPr/>
        </p:nvSpPr>
        <p:spPr>
          <a:xfrm>
            <a:off x="6507328" y="2560320"/>
            <a:ext cx="4907128" cy="201168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 Grids waste runs: in each 1-D projection only L distinct values are tested, and the count explodes with d.</a:t>
            </a:r>
            <a:endParaRPr lang="en-US" sz="2000" dirty="0"/>
          </a:p>
        </p:txBody>
      </p:sp>
      <p:sp>
        <p:nvSpPr>
          <p:cNvPr id="15" name="takeaway"/>
          <p:cNvSpPr/>
          <p:nvPr/>
        </p:nvSpPr>
        <p:spPr>
          <a:xfrm>
            <a:off x="548640" y="4892040"/>
            <a:ext cx="11094415" cy="1280160"/>
          </a:xfrm>
          <a:prstGeom prst="roundRect">
            <a:avLst>
              <a:gd name="adj" fmla="val 8571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icon-bg-take"/>
          <p:cNvSpPr/>
          <p:nvPr/>
        </p:nvSpPr>
        <p:spPr>
          <a:xfrm>
            <a:off x="822960" y="5257800"/>
            <a:ext cx="548640" cy="54864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17" name="icon-tak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4634" y="5389474"/>
            <a:ext cx="285293" cy="285293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554480" y="4983480"/>
            <a:ext cx="9859975" cy="1097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2C14E"/>
                </a:solidFill>
              </a:rPr>
              <a:t>Takeaway  </a:t>
            </a:r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</a:rPr>
              <a:t>Full factorial cost L^d grows exponentially with d — the curse of dimensionality.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6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Summary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Key takeaways from this lesson</a:t>
            </a:r>
            <a:endParaRPr lang="en-US" sz="3200" dirty="0"/>
          </a:p>
        </p:txBody>
      </p:sp>
      <p:sp>
        <p:nvSpPr>
          <p:cNvPr id="5" name="takeaway-1"/>
          <p:cNvSpPr/>
          <p:nvPr/>
        </p:nvSpPr>
        <p:spPr>
          <a:xfrm>
            <a:off x="548640" y="1645920"/>
            <a:ext cx="5387188" cy="2103120"/>
          </a:xfrm>
          <a:prstGeom prst="roundRect">
            <a:avLst>
              <a:gd name="adj" fmla="val 5217"/>
            </a:avLst>
          </a:prstGeom>
          <a:solidFill>
            <a:schemeClr val="accent1">
              <a:alpha val="7000"/>
            </a:schemeClr>
          </a:solidFill>
          <a:ln w="12700">
            <a:solidFill>
              <a:schemeClr val="accent1">
                <a:alpha val="30000"/>
              </a:schemeClr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13232" y="1810512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1234440" y="1719072"/>
            <a:ext cx="4564228" cy="19568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chemeClr val="tx2"/>
                </a:solidFill>
              </a:rPr>
              <a:t>Grids grow explosively with dimension</a:t>
            </a:r>
            <a:endParaRPr lang="en-US" sz="2100" dirty="0"/>
          </a:p>
          <a:p>
            <a:pPr indent="0" marL="0">
              <a:buNone/>
            </a:pPr>
            <a:r>
              <a:rPr lang="en-US" sz="2100" dirty="0">
                <a:solidFill>
                  <a:schemeClr val="tx1"/>
                </a:solidFill>
              </a:rPr>
              <a:t>Full factorial cost L^d grows exponentially with d — the curse of dimensionality.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6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1430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F2C14E"/>
                </a:solidFill>
              </a:rPr>
              <a:t>UP NEXT · LESSON 7.2</a:t>
            </a:r>
            <a:endParaRPr lang="en-US" sz="18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691640"/>
            <a:ext cx="76809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Random, Latin hypercube and Sobol sampling</a:t>
            </a:r>
            <a:endParaRPr lang="en-US" sz="4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3886200"/>
            <a:ext cx="7680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D6E2F0"/>
                </a:solidFill>
              </a:rPr>
              <a:t>Next in Module 7: Lesson 2. Mark this lesson complete in the course before continuing.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732520" y="1417320"/>
            <a:ext cx="2926080" cy="2926080"/>
          </a:xfrm>
          <a:prstGeom prst="ellipse">
            <a:avLst/>
          </a:prstGeom>
          <a:solidFill>
            <a:schemeClr val="bg1">
              <a:alpha val="12000"/>
            </a:schemeClr>
          </a:solidFill>
          <a:ln w="38100">
            <a:solidFill>
              <a:srgbClr val="F2C14E"/>
            </a:solidFill>
            <a:prstDash val="solid"/>
          </a:ln>
        </p:spPr>
      </p:sp>
      <p:pic>
        <p:nvPicPr>
          <p:cNvPr id="6" name="icon-next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46920" y="2331720"/>
            <a:ext cx="1097280" cy="10972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MLSO Course">
  <a:themeElements>
    <a:clrScheme name="MLSO Course">
      <a:dk1>
        <a:srgbClr val="18212B"/>
      </a:dk1>
      <a:lt1>
        <a:srgbClr val="FFFFFF"/>
      </a:lt1>
      <a:dk2>
        <a:srgbClr val="123B6B"/>
      </a:dk2>
      <a:lt2>
        <a:srgbClr val="EEF2F7"/>
      </a:lt2>
      <a:accent1>
        <a:srgbClr val="1F5FA8"/>
      </a:accent1>
      <a:accent2>
        <a:srgbClr val="C2500A"/>
      </a:accent2>
      <a:accent3>
        <a:srgbClr val="1A6E3D"/>
      </a:accent3>
      <a:accent4>
        <a:srgbClr val="B98500"/>
      </a:accent4>
      <a:accent5>
        <a:srgbClr val="7A3FB0"/>
      </a:accent5>
      <a:accent6>
        <a:srgbClr val="B3261E"/>
      </a:accent6>
      <a:hlink>
        <a:srgbClr val="1F5FA8"/>
      </a:hlink>
      <a:folHlink>
        <a:srgbClr val="7A3FB0"/>
      </a:folHlink>
    </a:clrScheme>
    <a:fontScheme name="MLSO Cours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Self-paced course (CC BY 4.0)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7, Lesson 1: Bounded design spaces, full factorial designs and the curse of dimensionality</dc:title>
  <dc:subject>Machine Learning Fundamentals for Surrogate-Based Engineering Optimization</dc:subject>
  <dc:creator>Prof. Mazharul Islam</dc:creator>
  <cp:lastModifiedBy>Prof. Mazharul Islam</cp:lastModifiedBy>
  <cp:revision>1</cp:revision>
  <dcterms:created xsi:type="dcterms:W3CDTF">2026-10-07T01:12:31Z</dcterms:created>
  <dcterms:modified xsi:type="dcterms:W3CDTF">2026-10-07T01:12:31Z</dcterms:modified>
</cp:coreProperties>
</file>