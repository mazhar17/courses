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6f2d232-7ed9-8546-47ec-1ab6793d4ef8}">
          <p14:sldIdLst>
            <p14:sldId id="256"/>
          </p14:sldIdLst>
        </p14:section>
        <p14:section name="Lesson 2: Trees, random forests and neural networks" id="{7df17ceb-7716-51d7-06bd-b5f73f572e59}">
          <p14:sldIdLst>
            <p14:sldId id="257"/>
            <p14:sldId id="258"/>
            <p14:sldId id="259"/>
            <p14:sldId id="260"/>
            <p14:sldId id="261"/>
            <p14:sldId id="262"/>
            <p14:sldId id="263"/>
          </p14:sldIdLst>
        </p14:section>
        <p14:section name="Summary" id="{84a3a401-40eb-245d-994e-0c60cc2f112e}">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8, Lesson 2 of the self-paced course Machine Learning Fundamentals for Surrogate-Based Engineering Optimization: Trees, random forests and neural networks. This lesson belongs to the module Surrogate model families and takes about 10 minutes. In this lesson: Piecewise models and layered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Piecewise models and layered networks. A regression tree splits the design space with yes/no questions (“is s ≤ 1.4 mm?”) and predicts a constant in each final region. A random forest averages many trees trained on bootstrap resamples, reducing variance. Forests handle many variables and mixed data well but produce piecewise-constant surfaces: not smooth, zero gradients almost everywhere, and flat beyond the data. A neural network composes many weighted sums and nonlinear activations; it can represent very complex functions but usually needs much more data and careful tuning. Look at the figure. Left: a small regression tree. Right: its piecewise-constant prediction versus the true smooth curve. Left: tree diagram with splits on s and t leading to constant predictions. Right: plot of true R versus s with a staircase-shaped tree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another view. A small feed-forward neural network with two inputs, two hidden layers of five nodes and one output. Network diagram: two input nodes (s, t), two hidden layers of five nodes each, one output node, all connected; caption counts 51 trainable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Forest prediction: ŷ(x) = (1/B) Σ_b T_b(x), averaging B trees. One hidden layer of a network: h = σ(Wx + b), with σ an activation such as tanh or ReLU. Parameter count for layer sizes (2, 5, 5, 1): 2·5 + 5·5 + 5·1 weights + 5 + 5 + 1 biases = 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Forests are effective for process data with many categorical settings (machine, tool type) and noise, e.g., predicting tool wear. Neural networks shine with large datasets — thousands of CFD fields — or images. For 20–50 expensive simulations of a smooth response, GPs, RBFs or polynomials are usually better choices. A practical tip: Count parameters versus samples: a 51-parameter network fitted to 20 runs is heavily under-determined without strong regularization.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Why is a random forest awkward as a surrogate for gradient-based optimization?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Its prediction is piecewise constant, so gradients are zero almost everywhere and undefined at split boundaries; gradient-based optimizers have no direction to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Deep learning is the state of the art, so it must be best for surrogates. In fact: With small data, simpler models often generalize better. Complexity must be justified by validation evidence. The takeaway: Forests: robust, many variables, but non-smooth. Networks: flexible but data-hungry. Choose by data size and smoothness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Piecewise models and layered networks: Forests: robust, many variables, but non-smooth. Networks: flexible but data-hungry. Choose by data size and smoothness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2 of Module 8: Trees, random forests and neural networks. Next comes Lesson 3: Gaussian processes, comparison table and a worked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8, Lesson 2 · Trees, random forests and neural networks</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8, Lesson 2 · Trees, random forests and neural networks</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08 · LESSON 2 OF 3 · ≈ 10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Trees, random forests and neural networks</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8: Surrogate model families</a:t>
            </a:r>
            <a:endParaRPr lang="en-US" sz="1800" dirty="0"/>
          </a:p>
          <a:p>
            <a:pPr marL="342900" indent="-342900">
              <a:buSzPct val="100000"/>
              <a:buChar char="•"/>
            </a:pPr>
            <a:r>
              <a:rPr lang="en-US" sz="1800" dirty="0">
                <a:solidFill>
                  <a:srgbClr val="D6E2F0"/>
                </a:solidFill>
              </a:rPr>
              <a:t>Piecewise models and layered networks</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8.2</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Trees, random forests and neural networks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Piecewise models and layered networks</a:t>
            </a:r>
            <a:endParaRPr lang="en-US" sz="3200" dirty="0"/>
          </a:p>
        </p:txBody>
      </p:sp>
      <p:sp>
        <p:nvSpPr>
          <p:cNvPr id="5" name="icon-bg-intu"/>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intu"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text"/>
          <p:cNvSpPr txBox="1"/>
          <p:nvPr/>
        </p:nvSpPr>
        <p:spPr>
          <a:xfrm>
            <a:off x="1188720" y="1572768"/>
            <a:ext cx="10408615" cy="1280160"/>
          </a:xfrm>
          <a:prstGeom prst="rect">
            <a:avLst/>
          </a:prstGeom>
          <a:noFill/>
          <a:ln/>
        </p:spPr>
        <p:txBody>
          <a:bodyPr wrap="square" lIns="1270" tIns="1270" rIns="1270" bIns="1270" rtlCol="0" anchor="t"/>
          <a:lstStyle/>
          <a:p>
            <a:pPr indent="0" marL="0">
              <a:spcAft>
                <a:spcPts val="600"/>
              </a:spcAft>
              <a:buNone/>
            </a:pPr>
            <a:r>
              <a:rPr lang="en-US" sz="1400" dirty="0">
                <a:solidFill>
                  <a:schemeClr val="tx1"/>
                </a:solidFill>
              </a:rPr>
              <a:t>A </a:t>
            </a:r>
            <a:pPr indent="0" marL="0">
              <a:spcAft>
                <a:spcPts val="600"/>
              </a:spcAft>
              <a:buNone/>
            </a:pPr>
            <a:r>
              <a:rPr lang="en-US" sz="1400" b="1" dirty="0">
                <a:solidFill>
                  <a:schemeClr val="tx1"/>
                </a:solidFill>
              </a:rPr>
              <a:t>regression tree</a:t>
            </a:r>
            <a:pPr indent="0" marL="0">
              <a:spcAft>
                <a:spcPts val="600"/>
              </a:spcAft>
              <a:buNone/>
            </a:pPr>
            <a:r>
              <a:rPr lang="en-US" sz="1400" dirty="0">
                <a:solidFill>
                  <a:schemeClr val="tx1"/>
                </a:solidFill>
              </a:rPr>
              <a:t> splits the design space with yes/no questions (“is </a:t>
            </a:r>
            <a:pPr indent="0" marL="0">
              <a:spcAft>
                <a:spcPts val="600"/>
              </a:spcAft>
              <a:buNone/>
            </a:pPr>
            <a:r>
              <a:rPr lang="en-US" sz="1400" i="1" dirty="0">
                <a:solidFill>
                  <a:schemeClr val="tx1"/>
                </a:solidFill>
              </a:rPr>
              <a:t>s</a:t>
            </a:r>
            <a:pPr indent="0" marL="0">
              <a:spcAft>
                <a:spcPts val="600"/>
              </a:spcAft>
              <a:buNone/>
            </a:pPr>
            <a:r>
              <a:rPr lang="en-US" sz="1400" dirty="0">
                <a:solidFill>
                  <a:schemeClr val="tx1"/>
                </a:solidFill>
              </a:rPr>
              <a:t> ≤ 1.4 mm?”) and predicts a constant in each final region. A </a:t>
            </a:r>
            <a:pPr indent="0" marL="0">
              <a:spcAft>
                <a:spcPts val="600"/>
              </a:spcAft>
              <a:buNone/>
            </a:pPr>
            <a:r>
              <a:rPr lang="en-US" sz="1400" b="1" dirty="0">
                <a:solidFill>
                  <a:schemeClr val="tx1"/>
                </a:solidFill>
              </a:rPr>
              <a:t>random forest</a:t>
            </a:r>
            <a:pPr indent="0" marL="0">
              <a:spcAft>
                <a:spcPts val="600"/>
              </a:spcAft>
              <a:buNone/>
            </a:pPr>
            <a:r>
              <a:rPr lang="en-US" sz="1400" dirty="0">
                <a:solidFill>
                  <a:schemeClr val="tx1"/>
                </a:solidFill>
              </a:rPr>
              <a:t> averages many trees trained on bootstrap resamples, reducing variance. Forests handle many variables and mixed data well but produce </a:t>
            </a:r>
            <a:pPr indent="0" marL="0">
              <a:spcAft>
                <a:spcPts val="600"/>
              </a:spcAft>
              <a:buNone/>
            </a:pPr>
            <a:r>
              <a:rPr lang="en-US" sz="1400" b="1" dirty="0">
                <a:solidFill>
                  <a:schemeClr val="tx1"/>
                </a:solidFill>
              </a:rPr>
              <a:t>piecewise-constant</a:t>
            </a:r>
            <a:pPr indent="0" marL="0">
              <a:spcAft>
                <a:spcPts val="600"/>
              </a:spcAft>
              <a:buNone/>
            </a:pPr>
            <a:r>
              <a:rPr lang="en-US" sz="1400" dirty="0">
                <a:solidFill>
                  <a:schemeClr val="tx1"/>
                </a:solidFill>
              </a:rPr>
              <a:t> surfaces: not smooth, zero gradients almost everywhere, and flat beyond the data. A </a:t>
            </a:r>
            <a:pPr indent="0" marL="0">
              <a:spcAft>
                <a:spcPts val="600"/>
              </a:spcAft>
              <a:buNone/>
            </a:pPr>
            <a:r>
              <a:rPr lang="en-US" sz="1400" b="1" dirty="0">
                <a:solidFill>
                  <a:schemeClr val="tx1"/>
                </a:solidFill>
              </a:rPr>
              <a:t>neural network</a:t>
            </a:r>
            <a:pPr indent="0" marL="0">
              <a:spcAft>
                <a:spcPts val="600"/>
              </a:spcAft>
              <a:buNone/>
            </a:pPr>
            <a:r>
              <a:rPr lang="en-US" sz="1400" dirty="0">
                <a:solidFill>
                  <a:schemeClr val="tx1"/>
                </a:solidFill>
              </a:rPr>
              <a:t> composes many weighted sums and nonlinear activations; it can represent very complex functions but usually needs much more data and careful tuning.</a:t>
            </a:r>
            <a:endParaRPr lang="en-US" sz="1400" dirty="0"/>
          </a:p>
        </p:txBody>
      </p:sp>
      <p:pic>
        <p:nvPicPr>
          <p:cNvPr id="8" name="figure" descr="Left: tree diagram with splits on s and t leading to constant predictions. Right: plot of true R versus s with a staircase-shaped tree prediction.">    </p:cNvPr>
          <p:cNvPicPr>
            <a:picLocks noChangeAspect="1"/>
          </p:cNvPicPr>
          <p:nvPr/>
        </p:nvPicPr>
        <p:blipFill>
          <a:blip r:embed="rId2"/>
          <a:stretch>
            <a:fillRect/>
          </a:stretch>
        </p:blipFill>
        <p:spPr>
          <a:xfrm>
            <a:off x="2226969" y="3017520"/>
            <a:ext cx="7737758" cy="2606040"/>
          </a:xfrm>
          <a:prstGeom prst="rect">
            <a:avLst/>
          </a:prstGeom>
        </p:spPr>
      </p:pic>
      <p:sp>
        <p:nvSpPr>
          <p:cNvPr id="9" name="Text 4"/>
          <p:cNvSpPr txBox="1"/>
          <p:nvPr/>
        </p:nvSpPr>
        <p:spPr>
          <a:xfrm>
            <a:off x="548640" y="5669280"/>
            <a:ext cx="11094415" cy="384048"/>
          </a:xfrm>
          <a:prstGeom prst="rect">
            <a:avLst/>
          </a:prstGeom>
          <a:noFill/>
          <a:ln/>
        </p:spPr>
        <p:txBody>
          <a:bodyPr wrap="square" lIns="0" tIns="0" rIns="0" bIns="0" rtlCol="0" anchor="ctr"/>
          <a:lstStyle/>
          <a:p>
            <a:pPr algn="ctr" indent="0" marL="0">
              <a:buNone/>
            </a:pPr>
            <a:r>
              <a:rPr lang="en-US" sz="1200" i="1" dirty="0">
                <a:solidFill>
                  <a:srgbClr val="46525F"/>
                </a:solidFill>
              </a:rPr>
              <a:t>Left: a small regression tree. Right: its piecewise-constant prediction versus the true smooth curve.</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Trees, random forests and neural networks · Figure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Piecewise models and layered networks</a:t>
            </a:r>
            <a:endParaRPr lang="en-US" sz="3200" dirty="0"/>
          </a:p>
        </p:txBody>
      </p:sp>
      <p:pic>
        <p:nvPicPr>
          <p:cNvPr id="5" name="figure" descr="Network diagram: two input nodes (s, t), two hidden layers of five nodes each, one output node, all connected; caption counts 51 trainable parameters.">    </p:cNvPr>
          <p:cNvPicPr>
            <a:picLocks noChangeAspect="1"/>
          </p:cNvPicPr>
          <p:nvPr/>
        </p:nvPicPr>
        <p:blipFill>
          <a:blip r:embed="rId1"/>
          <a:stretch>
            <a:fillRect/>
          </a:stretch>
        </p:blipFill>
        <p:spPr>
          <a:xfrm>
            <a:off x="548640" y="1645920"/>
            <a:ext cx="11094415" cy="3720086"/>
          </a:xfrm>
          <a:prstGeom prst="rect">
            <a:avLst/>
          </a:prstGeom>
        </p:spPr>
      </p:pic>
      <p:sp>
        <p:nvSpPr>
          <p:cNvPr id="6" name="Text 2"/>
          <p:cNvSpPr txBox="1"/>
          <p:nvPr/>
        </p:nvSpPr>
        <p:spPr>
          <a:xfrm>
            <a:off x="548640" y="5457446"/>
            <a:ext cx="11094415" cy="548640"/>
          </a:xfrm>
          <a:prstGeom prst="rect">
            <a:avLst/>
          </a:prstGeom>
          <a:noFill/>
          <a:ln/>
        </p:spPr>
        <p:txBody>
          <a:bodyPr wrap="square" lIns="0" tIns="0" rIns="0" bIns="0" rtlCol="0" anchor="ctr"/>
          <a:lstStyle/>
          <a:p>
            <a:pPr algn="ctr" indent="0" marL="0">
              <a:buNone/>
            </a:pPr>
            <a:r>
              <a:rPr lang="en-US" sz="1400" i="1" dirty="0">
                <a:solidFill>
                  <a:srgbClr val="46525F"/>
                </a:solidFill>
              </a:rPr>
              <a:t>A small feed-forward neural network with two inputs, two hidden layers of five nodes and one output.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Trees, random forests and neural networks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Piecewise models and layered networks</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1513840"/>
          </a:xfrm>
          <a:prstGeom prst="roundRect">
            <a:avLst>
              <a:gd name="adj" fmla="val 7248"/>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1422400"/>
          </a:xfrm>
          <a:prstGeom prst="rect">
            <a:avLst/>
          </a:prstGeom>
          <a:noFill/>
          <a:ln/>
        </p:spPr>
        <p:txBody>
          <a:bodyPr wrap="square" lIns="1270" tIns="1270" rIns="1270" bIns="1270" rtlCol="0" anchor="ctr"/>
          <a:lstStyle/>
          <a:p>
            <a:pPr indent="0" marL="0">
              <a:buNone/>
            </a:pPr>
            <a:r>
              <a:rPr lang="en-US" sz="2000" dirty="0">
                <a:solidFill>
                  <a:schemeClr val="tx1"/>
                </a:solidFill>
              </a:rPr>
              <a:t>Forest prediction: </a:t>
            </a:r>
            <a:pPr indent="0" marL="0">
              <a:buNone/>
            </a:pPr>
            <a:r>
              <a:rPr lang="en-US" sz="2000" i="1" dirty="0">
                <a:solidFill>
                  <a:schemeClr val="tx1"/>
                </a:solidFill>
              </a:rPr>
              <a:t>ŷ</a:t>
            </a:r>
            <a:pPr indent="0" marL="0">
              <a:buNone/>
            </a:pPr>
            <a:r>
              <a:rPr lang="en-US" sz="2000" dirty="0">
                <a:solidFill>
                  <a:schemeClr val="tx1"/>
                </a:solidFill>
              </a:rPr>
              <a:t>(</a:t>
            </a:r>
            <a:pPr indent="0" marL="0">
              <a:buNone/>
            </a:pPr>
            <a:r>
              <a:rPr lang="en-US" sz="2000" b="1" dirty="0">
                <a:solidFill>
                  <a:schemeClr val="tx1"/>
                </a:solidFill>
              </a:rPr>
              <a:t>x</a:t>
            </a:r>
            <a:pPr indent="0" marL="0">
              <a:buNone/>
            </a:pPr>
            <a:r>
              <a:rPr lang="en-US" sz="2000" dirty="0">
                <a:solidFill>
                  <a:schemeClr val="tx1"/>
                </a:solidFill>
              </a:rPr>
              <a:t>) = (1/</a:t>
            </a:r>
            <a:pPr indent="0" marL="0">
              <a:buNone/>
            </a:pPr>
            <a:r>
              <a:rPr lang="en-US" sz="2000" i="1" dirty="0">
                <a:solidFill>
                  <a:schemeClr val="tx1"/>
                </a:solidFill>
              </a:rPr>
              <a:t>B</a:t>
            </a:r>
            <a:pPr indent="0" marL="0">
              <a:buNone/>
            </a:pPr>
            <a:r>
              <a:rPr lang="en-US" sz="2000" dirty="0">
                <a:solidFill>
                  <a:schemeClr val="tx1"/>
                </a:solidFill>
              </a:rPr>
              <a:t>) Σ</a:t>
            </a:r>
            <a:pPr indent="0" marL="0">
              <a:buNone/>
            </a:pPr>
            <a:r>
              <a:rPr lang="en-US" sz="2000" baseline="-40000" dirty="0">
                <a:solidFill>
                  <a:schemeClr val="tx1"/>
                </a:solidFill>
              </a:rPr>
              <a:t>b</a:t>
            </a:r>
            <a:pPr indent="0" marL="0">
              <a:buNone/>
            </a:pPr>
            <a:r>
              <a:rPr lang="en-US" sz="2000" dirty="0">
                <a:solidFill>
                  <a:schemeClr val="tx1"/>
                </a:solidFill>
              </a:rPr>
              <a:t> </a:t>
            </a:r>
            <a:pPr indent="0" marL="0">
              <a:buNone/>
            </a:pPr>
            <a:r>
              <a:rPr lang="en-US" sz="2000" i="1" dirty="0">
                <a:solidFill>
                  <a:schemeClr val="tx1"/>
                </a:solidFill>
              </a:rPr>
              <a:t>T</a:t>
            </a:r>
            <a:pPr indent="0" marL="0">
              <a:buNone/>
            </a:pPr>
            <a:r>
              <a:rPr lang="en-US" sz="2000" baseline="-40000" dirty="0">
                <a:solidFill>
                  <a:schemeClr val="tx1"/>
                </a:solidFill>
              </a:rPr>
              <a:t>b</a:t>
            </a:r>
            <a:pPr indent="0" marL="0">
              <a:buNone/>
            </a:pPr>
            <a:r>
              <a:rPr lang="en-US" sz="2000" dirty="0">
                <a:solidFill>
                  <a:schemeClr val="tx1"/>
                </a:solidFill>
              </a:rPr>
              <a:t>(</a:t>
            </a:r>
            <a:pPr indent="0" marL="0">
              <a:buNone/>
            </a:pPr>
            <a:r>
              <a:rPr lang="en-US" sz="2000" b="1" dirty="0">
                <a:solidFill>
                  <a:schemeClr val="tx1"/>
                </a:solidFill>
              </a:rPr>
              <a:t>x</a:t>
            </a:r>
            <a:pPr indent="0" marL="0">
              <a:buNone/>
            </a:pPr>
            <a:r>
              <a:rPr lang="en-US" sz="2000" dirty="0">
                <a:solidFill>
                  <a:schemeClr val="tx1"/>
                </a:solidFill>
              </a:rPr>
              <a:t>), averaging </a:t>
            </a:r>
            <a:pPr indent="0" marL="0">
              <a:buNone/>
            </a:pPr>
            <a:r>
              <a:rPr lang="en-US" sz="2000" i="1" dirty="0">
                <a:solidFill>
                  <a:schemeClr val="tx1"/>
                </a:solidFill>
              </a:rPr>
              <a:t>B</a:t>
            </a:r>
            <a:pPr indent="0" marL="0">
              <a:buNone/>
            </a:pPr>
            <a:r>
              <a:rPr lang="en-US" sz="2000" dirty="0">
                <a:solidFill>
                  <a:schemeClr val="tx1"/>
                </a:solidFill>
              </a:rPr>
              <a:t> trees. One hidden layer of a network: </a:t>
            </a:r>
            <a:pPr indent="0" marL="0">
              <a:buNone/>
            </a:pPr>
            <a:r>
              <a:rPr lang="en-US" sz="2000" b="1" dirty="0">
                <a:solidFill>
                  <a:schemeClr val="tx1"/>
                </a:solidFill>
              </a:rPr>
              <a:t>h</a:t>
            </a:r>
            <a:pPr indent="0" marL="0">
              <a:buNone/>
            </a:pPr>
            <a:r>
              <a:rPr lang="en-US" sz="2000" dirty="0">
                <a:solidFill>
                  <a:schemeClr val="tx1"/>
                </a:solidFill>
              </a:rPr>
              <a:t> = σ(</a:t>
            </a:r>
            <a:pPr indent="0" marL="0">
              <a:buNone/>
            </a:pPr>
            <a:r>
              <a:rPr lang="en-US" sz="2000" b="1" dirty="0">
                <a:solidFill>
                  <a:schemeClr val="tx1"/>
                </a:solidFill>
              </a:rPr>
              <a:t>Wx</a:t>
            </a:r>
            <a:pPr indent="0" marL="0">
              <a:buNone/>
            </a:pPr>
            <a:r>
              <a:rPr lang="en-US" sz="2000" dirty="0">
                <a:solidFill>
                  <a:schemeClr val="tx1"/>
                </a:solidFill>
              </a:rPr>
              <a:t> + </a:t>
            </a:r>
            <a:pPr indent="0" marL="0">
              <a:buNone/>
            </a:pPr>
            <a:r>
              <a:rPr lang="en-US" sz="2000" b="1" dirty="0">
                <a:solidFill>
                  <a:schemeClr val="tx1"/>
                </a:solidFill>
              </a:rPr>
              <a:t>b</a:t>
            </a:r>
            <a:pPr indent="0" marL="0">
              <a:buNone/>
            </a:pPr>
            <a:r>
              <a:rPr lang="en-US" sz="2000" dirty="0">
                <a:solidFill>
                  <a:schemeClr val="tx1"/>
                </a:solidFill>
              </a:rPr>
              <a:t>), with σ an activation such as tanh or ReLU. Parameter count for layer sizes (2, 5, 5, 1): 2·5 + 5·5 + 5·1 weights + 5 + 5 + 1 biases = 51.</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Trees, random forests and neural networks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Piecewise models and layered networks</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Forests are effective for process data with many categorical settings (machine, tool type) and noise, e.g., predicting tool wear. Neural networks shine with large datasets — thousands of CFD fields — or images. For 20–50 expensive simulations of a smooth response, GPs, RBFs or polynomials are usually better choices.</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Count parameters versus samples: a 51-parameter network fitted to 20 runs is heavily under-determined without strong regularization.</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Trees, random forests and neural networks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Why is a random forest awkward as a surrogate for gradient-based optimization?</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Trees, random forests and neural networks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Why is a random forest awkward as a surrogate for gradient-based optimization?</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Its prediction is piecewise constant, so gradients are zero almost everywhere and undefined at split boundaries; gradient-based optimizers have no direction to follow.</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Trees, random forests and neural networks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Piecewise models and layered networks</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Deep learning is the state of the art, so it must be best for surrogates.</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With small data, simpler models often generalize better. Complexity must be justified by validation evidence.</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100" b="1" dirty="0">
                <a:solidFill>
                  <a:srgbClr val="F2C14E"/>
                </a:solidFill>
              </a:rPr>
              <a:t>Takeaway  </a:t>
            </a:r>
            <a:pPr indent="0" marL="0">
              <a:buNone/>
            </a:pPr>
            <a:r>
              <a:rPr lang="en-US" sz="2100" dirty="0">
                <a:solidFill>
                  <a:srgbClr val="FFFFFF"/>
                </a:solidFill>
              </a:rPr>
              <a:t>Forests: robust, many variables, but non-smooth. Networks: flexible but data-hungry. Choose by data size and smoothness needs.</a:t>
            </a:r>
            <a:endParaRPr lang="en-US" sz="2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1700" b="1" dirty="0">
                <a:solidFill>
                  <a:schemeClr val="tx2"/>
                </a:solidFill>
              </a:rPr>
              <a:t>Piecewise models and layered networks</a:t>
            </a:r>
            <a:endParaRPr lang="en-US" sz="1700" dirty="0"/>
          </a:p>
          <a:p>
            <a:pPr indent="0" marL="0">
              <a:buNone/>
            </a:pPr>
            <a:r>
              <a:rPr lang="en-US" sz="1700" dirty="0">
                <a:solidFill>
                  <a:schemeClr val="tx1"/>
                </a:solidFill>
              </a:rPr>
              <a:t>Forests: robust, many variables, but non-smooth. Networks: flexible but data-hungry. Choose by data size and smoothness needs.</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8.3</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Gaussian processes, comparison table and a worked comparison</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Next in Module 8: Lesson 3. Mark this lesson complete in the course before continuing.</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8, Lesson 2: Trees, random forests and neural networks</dc:title>
  <dc:subject>Machine Learning Fundamentals for Surrogate-Based Engineering Optimization</dc:subject>
  <dc:creator>Prof. Mazharul Islam</dc:creator>
  <cp:lastModifiedBy>Prof. Mazharul Islam</cp:lastModifiedBy>
  <cp:revision>1</cp:revision>
  <dcterms:created xsi:type="dcterms:W3CDTF">2026-10-07T01:12:31Z</dcterms:created>
  <dcterms:modified xsi:type="dcterms:W3CDTF">2026-10-07T01:12:31Z</dcterms:modified>
</cp:coreProperties>
</file>