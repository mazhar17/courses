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d581bc9-9e59-98f3-e544-f23e671cf143}">
          <p14:sldIdLst>
            <p14:sldId id="256"/>
          </p14:sldIdLst>
        </p14:section>
        <p14:section name="Lesson 2: Measuring error: MAE, RMSE and R²" id="{f5cf29d0-48fb-efe5-3448-c866e011054e}">
          <p14:sldIdLst>
            <p14:sldId id="257"/>
            <p14:sldId id="258"/>
            <p14:sldId id="259"/>
            <p14:sldId id="260"/>
            <p14:sldId id="261"/>
            <p14:sldId id="262"/>
          </p14:sldIdLst>
        </p14:section>
        <p14:section name="Summary" id="{73d8e26f-0f7d-bf72-80ef-38172519b038}">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4, Lesson 2 of the self-paced course Machine Learning Fundamentals for Surrogate-Based Engineering Optimization: Measuring error: MAE, RMSE and R². This lesson belongs to the module Your first regression model and takes about 9 minutes. In this lesson: Three common metrics and what they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common metrics and what they hide. MAE is the average size of errors. RMSE squares errors before averaging, so large errors count more. R² compares the model with the simplest possible predictor — the mean — and reports the fraction of variance explained. None tells you where errors occur. Look at the figure. One corrupted measurement raises RMSE far more than MAE. Two bars, MAE and RMSE, for the bench-test residuals. Toggling a +12 K corruption of one measurement raises RMSE much more than MAE; R² also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MAE = (1)/(n)Σ|e_i|, RMSE = √[(1)/(n)Σe_i^2], R^2 = 1 − (Σe_i^2)/(Σ(y_i − ȳ)^2) MAE and RMSE have the units of y (here K); always RMSE ≥ MAE. R² is dimensionless, equals 1 for a perfect fit, 0 for a model no better than the mean, and can be negative on test data for a model worse than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For a heat-sink surrogate, “RMSE = 0.01 K/W” means typical errors of about 0.3 K in base temperature at 30 W — an engineer can judge whether that matters. “R² = 0.99” over a range where R varies from 0.6 to 4 K/W could still hide a 0.05 K/W error near the optimum, where R varies little. A practical tip: Report RMSE and MAE in physical units, plus the maximum absolute error, on data not used for 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Residuals: +1, −1, +1, −1, +6 K. Compute MAE and RMSE.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MAE = (1+1+1+1+6)/5 = 2.0 K. RMSE = √[(1+1+1+1+36)/5] = √8 ≈ 2.83 K. The single large error inflates RMSE.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A high R² means the model is accurate enough for design. In fact: R² depends on how much y varies in the dataset. Wide-ranging data inflate R². Use errors in engineering units, especially in the region you care about. The takeaway: MAE = typical error; RMSE emphasizes large errors; R² is relative to the mean. Report errors in engineering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Three common metrics and what they hide: MAE = typical error; RMSE emphasizes large errors; R² is relative to the mean. Report errors in engineering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2 of Module 4: Measuring error: MAE, RMSE and R². Next comes Lesson 3: Interpreting coefficients and comparing with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4, Lesson 2 · Measuring error: MAE, RMSE and R²</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4, Lesson 2 · Measuring error: MAE, RMSE and R²</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04 · LESSON 2 OF 3 · ≈ 9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Measuring error: MAE, RMSE and R²</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4: Your first regression model</a:t>
            </a:r>
            <a:endParaRPr lang="en-US" sz="1800" dirty="0"/>
          </a:p>
          <a:p>
            <a:pPr marL="342900" indent="-342900">
              <a:buSzPct val="100000"/>
              <a:buChar char="•"/>
            </a:pPr>
            <a:r>
              <a:rPr lang="en-US" sz="1800" dirty="0">
                <a:solidFill>
                  <a:srgbClr val="D6E2F0"/>
                </a:solidFill>
              </a:rPr>
              <a:t>Three common metrics and what they hide</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4.2</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Measuring error: MAE, RMSE and R²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Three common metrics and what they hide</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700" b="1" dirty="0">
                <a:solidFill>
                  <a:schemeClr val="tx1"/>
                </a:solidFill>
              </a:rPr>
              <a:t>MAE</a:t>
            </a:r>
            <a:pPr indent="0" marL="0">
              <a:spcAft>
                <a:spcPts val="600"/>
              </a:spcAft>
              <a:buNone/>
            </a:pPr>
            <a:r>
              <a:rPr lang="en-US" sz="1700" dirty="0">
                <a:solidFill>
                  <a:schemeClr val="tx1"/>
                </a:solidFill>
              </a:rPr>
              <a:t> is the average size of errors. </a:t>
            </a:r>
            <a:pPr indent="0" marL="0">
              <a:spcAft>
                <a:spcPts val="600"/>
              </a:spcAft>
              <a:buNone/>
            </a:pPr>
            <a:r>
              <a:rPr lang="en-US" sz="1700" b="1" dirty="0">
                <a:solidFill>
                  <a:schemeClr val="tx1"/>
                </a:solidFill>
              </a:rPr>
              <a:t>RMSE</a:t>
            </a:r>
            <a:pPr indent="0" marL="0">
              <a:spcAft>
                <a:spcPts val="600"/>
              </a:spcAft>
              <a:buNone/>
            </a:pPr>
            <a:r>
              <a:rPr lang="en-US" sz="1700" dirty="0">
                <a:solidFill>
                  <a:schemeClr val="tx1"/>
                </a:solidFill>
              </a:rPr>
              <a:t> squares errors before averaging, so large errors count more. </a:t>
            </a:r>
            <a:pPr indent="0" marL="0">
              <a:spcAft>
                <a:spcPts val="600"/>
              </a:spcAft>
              <a:buNone/>
            </a:pPr>
            <a:r>
              <a:rPr lang="en-US" sz="1700" b="1" dirty="0">
                <a:solidFill>
                  <a:schemeClr val="tx1"/>
                </a:solidFill>
              </a:rPr>
              <a:t>R²</a:t>
            </a:r>
            <a:pPr indent="0" marL="0">
              <a:spcAft>
                <a:spcPts val="600"/>
              </a:spcAft>
              <a:buNone/>
            </a:pPr>
            <a:r>
              <a:rPr lang="en-US" sz="1700" dirty="0">
                <a:solidFill>
                  <a:schemeClr val="tx1"/>
                </a:solidFill>
              </a:rPr>
              <a:t> compares the model with the simplest possible predictor — the mean — and reports the fraction of variance explained. None tells you </a:t>
            </a:r>
            <a:pPr indent="0" marL="0">
              <a:spcAft>
                <a:spcPts val="600"/>
              </a:spcAft>
              <a:buNone/>
            </a:pPr>
            <a:r>
              <a:rPr lang="en-US" sz="1700" i="1" dirty="0">
                <a:solidFill>
                  <a:schemeClr val="tx1"/>
                </a:solidFill>
              </a:rPr>
              <a:t>where</a:t>
            </a:r>
            <a:pPr indent="0" marL="0">
              <a:spcAft>
                <a:spcPts val="600"/>
              </a:spcAft>
              <a:buNone/>
            </a:pPr>
            <a:r>
              <a:rPr lang="en-US" sz="1700" dirty="0">
                <a:solidFill>
                  <a:schemeClr val="tx1"/>
                </a:solidFill>
              </a:rPr>
              <a:t> errors occur.</a:t>
            </a:r>
            <a:endParaRPr lang="en-US" sz="1700" dirty="0"/>
          </a:p>
        </p:txBody>
      </p:sp>
      <p:pic>
        <p:nvPicPr>
          <p:cNvPr id="8" name="figure" descr="Two bars, MAE and RMSE, for the bench-test residuals. Toggling a +12 K corruption of one measurement raises RMSE much more than MAE; R² also falls.">    </p:cNvPr>
          <p:cNvPicPr>
            <a:picLocks noChangeAspect="1"/>
          </p:cNvPicPr>
          <p:nvPr/>
        </p:nvPicPr>
        <p:blipFill>
          <a:blip r:embed="rId2"/>
          <a:stretch>
            <a:fillRect/>
          </a:stretch>
        </p:blipFill>
        <p:spPr>
          <a:xfrm>
            <a:off x="2259163" y="2743200"/>
            <a:ext cx="7673370"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One corrupted measurement raises RMSE far more than MAE. (Interactive in the online course.)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Measuring error: MAE, RMSE and R²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Three common metrics and what they hide</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615440"/>
          </a:xfrm>
          <a:prstGeom prst="roundRect">
            <a:avLst>
              <a:gd name="adj" fmla="val 6792"/>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524000"/>
          </a:xfrm>
          <a:prstGeom prst="rect">
            <a:avLst/>
          </a:prstGeom>
          <a:noFill/>
          <a:ln/>
        </p:spPr>
        <p:txBody>
          <a:bodyPr wrap="square" lIns="1270" tIns="1270" rIns="1270" bIns="1270" rtlCol="0" anchor="ctr"/>
          <a:lstStyle/>
          <a:p>
            <a:pPr algn="ctr" indent="0" marL="0">
              <a:spcAft>
                <a:spcPts val="800"/>
              </a:spcAft>
              <a:buNone/>
            </a:pPr>
            <a:r>
              <a:rPr lang="en-US" sz="2000" dirty="0">
                <a:solidFill>
                  <a:schemeClr val="tx1"/>
                </a:solidFill>
              </a:rPr>
              <a:t>MAE = (1)/(</a:t>
            </a:r>
            <a:pPr algn="ctr" indent="0" marL="0">
              <a:buNone/>
            </a:pPr>
            <a:r>
              <a:rPr lang="en-US" sz="2000" i="1" dirty="0">
                <a:solidFill>
                  <a:schemeClr val="tx1"/>
                </a:solidFill>
              </a:rPr>
              <a:t>n</a:t>
            </a:r>
            <a:pPr algn="ctr" indent="0" marL="0">
              <a:buNone/>
            </a:pPr>
            <a:r>
              <a:rPr lang="en-US" sz="2000" dirty="0">
                <a:solidFill>
                  <a:schemeClr val="tx1"/>
                </a:solidFill>
              </a:rPr>
              <a:t>)Σ|</a:t>
            </a:r>
            <a:pPr algn="ctr" indent="0" marL="0">
              <a:buNone/>
            </a:pPr>
            <a:r>
              <a:rPr lang="en-US" sz="2000" i="1" dirty="0">
                <a:solidFill>
                  <a:schemeClr val="tx1"/>
                </a:solidFill>
              </a:rPr>
              <a:t>e</a:t>
            </a:r>
            <a:pPr algn="ctr" indent="0" marL="0">
              <a:buNone/>
            </a:pPr>
            <a:r>
              <a:rPr lang="en-US" sz="2000" i="1" baseline="-40000" dirty="0">
                <a:solidFill>
                  <a:schemeClr val="tx1"/>
                </a:solidFill>
              </a:rPr>
              <a:t>i</a:t>
            </a:r>
            <a:pPr algn="ctr" indent="0" marL="0">
              <a:buNone/>
            </a:pPr>
            <a:r>
              <a:rPr lang="en-US" sz="2000" dirty="0">
                <a:solidFill>
                  <a:schemeClr val="tx1"/>
                </a:solidFill>
              </a:rPr>
              <a:t>|, RMSE = √[(1)/(</a:t>
            </a:r>
            <a:pPr algn="ctr" indent="0" marL="0">
              <a:buNone/>
            </a:pPr>
            <a:r>
              <a:rPr lang="en-US" sz="2000" i="1" dirty="0">
                <a:solidFill>
                  <a:schemeClr val="tx1"/>
                </a:solidFill>
              </a:rPr>
              <a:t>n</a:t>
            </a:r>
            <a:pPr algn="ctr" indent="0" marL="0">
              <a:buNone/>
            </a:pPr>
            <a:r>
              <a:rPr lang="en-US" sz="2000" dirty="0">
                <a:solidFill>
                  <a:schemeClr val="tx1"/>
                </a:solidFill>
              </a:rPr>
              <a:t>)Σ</a:t>
            </a:r>
            <a:pPr algn="ctr" indent="0" marL="0">
              <a:buNone/>
            </a:pPr>
            <a:r>
              <a:rPr lang="en-US" sz="2000" i="1" dirty="0">
                <a:solidFill>
                  <a:schemeClr val="tx1"/>
                </a:solidFill>
              </a:rPr>
              <a:t>e</a:t>
            </a:r>
            <a:pPr algn="ctr" indent="0" marL="0">
              <a:buNone/>
            </a:pPr>
            <a:r>
              <a:rPr lang="en-US" sz="2000" i="1" baseline="-40000" dirty="0">
                <a:solidFill>
                  <a:schemeClr val="tx1"/>
                </a:solidFill>
              </a:rPr>
              <a:t>i</a:t>
            </a:r>
            <a:pPr algn="ctr" indent="0" marL="0">
              <a:buNone/>
            </a:pPr>
            <a:r>
              <a:rPr lang="en-US" sz="2000" baseline="30000" dirty="0">
                <a:solidFill>
                  <a:schemeClr val="tx1"/>
                </a:solidFill>
              </a:rPr>
              <a:t>2</a:t>
            </a:r>
            <a:pPr algn="ctr" indent="0" marL="0">
              <a:buNone/>
            </a:pPr>
            <a:r>
              <a:rPr lang="en-US" sz="2000" dirty="0">
                <a:solidFill>
                  <a:schemeClr val="tx1"/>
                </a:solidFill>
              </a:rPr>
              <a:t>], </a:t>
            </a:r>
            <a:pPr algn="ctr" indent="0" marL="0">
              <a:buNone/>
            </a:pPr>
            <a:r>
              <a:rPr lang="en-US" sz="2000" i="1" dirty="0">
                <a:solidFill>
                  <a:schemeClr val="tx1"/>
                </a:solidFill>
              </a:rPr>
              <a:t>R</a:t>
            </a:r>
            <a:pPr algn="ctr" indent="0" marL="0">
              <a:buNone/>
            </a:pPr>
            <a:r>
              <a:rPr lang="en-US" sz="2000" baseline="30000" dirty="0">
                <a:solidFill>
                  <a:schemeClr val="tx1"/>
                </a:solidFill>
              </a:rPr>
              <a:t>2</a:t>
            </a:r>
            <a:pPr algn="ctr" indent="0" marL="0">
              <a:buNone/>
            </a:pPr>
            <a:r>
              <a:rPr lang="en-US" sz="2000" dirty="0">
                <a:solidFill>
                  <a:schemeClr val="tx1"/>
                </a:solidFill>
              </a:rPr>
              <a:t> = 1 − (Σ</a:t>
            </a:r>
            <a:pPr algn="ctr" indent="0" marL="0">
              <a:buNone/>
            </a:pPr>
            <a:r>
              <a:rPr lang="en-US" sz="2000" i="1" dirty="0">
                <a:solidFill>
                  <a:schemeClr val="tx1"/>
                </a:solidFill>
              </a:rPr>
              <a:t>e</a:t>
            </a:r>
            <a:pPr algn="ctr" indent="0" marL="0">
              <a:buNone/>
            </a:pPr>
            <a:r>
              <a:rPr lang="en-US" sz="2000" i="1" baseline="-40000" dirty="0">
                <a:solidFill>
                  <a:schemeClr val="tx1"/>
                </a:solidFill>
              </a:rPr>
              <a:t>i</a:t>
            </a:r>
            <a:pPr algn="ctr" indent="0" marL="0">
              <a:buNone/>
            </a:pPr>
            <a:r>
              <a:rPr lang="en-US" sz="2000" baseline="30000" dirty="0">
                <a:solidFill>
                  <a:schemeClr val="tx1"/>
                </a:solidFill>
              </a:rPr>
              <a:t>2</a:t>
            </a:r>
            <a:pPr algn="ctr" indent="0" marL="0">
              <a:buNone/>
            </a:pPr>
            <a:r>
              <a:rPr lang="en-US" sz="2000" dirty="0">
                <a:solidFill>
                  <a:schemeClr val="tx1"/>
                </a:solidFill>
              </a:rPr>
              <a:t>)/(Σ(</a:t>
            </a:r>
            <a:pPr algn="ctr" indent="0" marL="0">
              <a:buNone/>
            </a:pPr>
            <a:r>
              <a:rPr lang="en-US" sz="2000" i="1" dirty="0">
                <a:solidFill>
                  <a:schemeClr val="tx1"/>
                </a:solidFill>
              </a:rPr>
              <a:t>y</a:t>
            </a:r>
            <a:pPr algn="ctr" indent="0" marL="0">
              <a:buNone/>
            </a:pPr>
            <a:r>
              <a:rPr lang="en-US" sz="2000" i="1" baseline="-40000" dirty="0">
                <a:solidFill>
                  <a:schemeClr val="tx1"/>
                </a:solidFill>
              </a:rPr>
              <a:t>i</a:t>
            </a:r>
            <a:pPr algn="ctr" indent="0" marL="0">
              <a:buNone/>
            </a:pPr>
            <a:r>
              <a:rPr lang="en-US" sz="2000" dirty="0">
                <a:solidFill>
                  <a:schemeClr val="tx1"/>
                </a:solidFill>
              </a:rPr>
              <a:t> − </a:t>
            </a:r>
            <a:pPr algn="ctr" indent="0" marL="0">
              <a:buNone/>
            </a:pPr>
            <a:r>
              <a:rPr lang="en-US" sz="2000" i="1" dirty="0">
                <a:solidFill>
                  <a:schemeClr val="tx1"/>
                </a:solidFill>
              </a:rPr>
              <a:t>ȳ</a:t>
            </a:r>
            <a:pPr algn="ctr" indent="0" marL="0">
              <a:buNone/>
            </a:pPr>
            <a:r>
              <a:rPr lang="en-US" sz="2000" dirty="0">
                <a:solidFill>
                  <a:schemeClr val="tx1"/>
                </a:solidFill>
              </a:rPr>
              <a:t>)</a:t>
            </a:r>
            <a:pPr algn="ctr" indent="0" marL="0">
              <a:buNone/>
            </a:pPr>
            <a:r>
              <a:rPr lang="en-US" sz="2000" baseline="30000" dirty="0">
                <a:solidFill>
                  <a:schemeClr val="tx1"/>
                </a:solidFill>
              </a:rPr>
              <a:t>2</a:t>
            </a:r>
            <a:pPr algn="ctr" indent="0" marL="0">
              <a:buNone/>
            </a:pPr>
            <a:r>
              <a:rPr lang="en-US" sz="2000" dirty="0">
                <a:solidFill>
                  <a:schemeClr val="tx1"/>
                </a:solidFill>
              </a:rPr>
              <a:t>)</a:t>
            </a:r>
            <a:endParaRPr lang="en-US" sz="2000" dirty="0"/>
          </a:p>
          <a:p>
            <a:pPr indent="0" marL="0">
              <a:buNone/>
            </a:pPr>
            <a:r>
              <a:rPr lang="en-US" sz="2000" dirty="0">
                <a:solidFill>
                  <a:schemeClr val="tx1"/>
                </a:solidFill>
              </a:rPr>
              <a:t>MAE and RMSE have the units of </a:t>
            </a:r>
            <a:pPr indent="0" marL="0">
              <a:buNone/>
            </a:pPr>
            <a:r>
              <a:rPr lang="en-US" sz="2000" i="1" dirty="0">
                <a:solidFill>
                  <a:schemeClr val="tx1"/>
                </a:solidFill>
              </a:rPr>
              <a:t>y</a:t>
            </a:r>
            <a:pPr indent="0" marL="0">
              <a:buNone/>
            </a:pPr>
            <a:r>
              <a:rPr lang="en-US" sz="2000" dirty="0">
                <a:solidFill>
                  <a:schemeClr val="tx1"/>
                </a:solidFill>
              </a:rPr>
              <a:t> (here K); always RMSE ≥ MAE. </a:t>
            </a:r>
            <a:pPr indent="0" marL="0">
              <a:buNone/>
            </a:pPr>
            <a:r>
              <a:rPr lang="en-US" sz="2000" i="1" dirty="0">
                <a:solidFill>
                  <a:schemeClr val="tx1"/>
                </a:solidFill>
              </a:rPr>
              <a:t>R</a:t>
            </a:r>
            <a:pPr indent="0" marL="0">
              <a:buNone/>
            </a:pPr>
            <a:r>
              <a:rPr lang="en-US" sz="2000" dirty="0">
                <a:solidFill>
                  <a:schemeClr val="tx1"/>
                </a:solidFill>
              </a:rPr>
              <a:t>² is dimensionless, equals 1 for a perfect fit, 0 for a model no better than the mean, and can be </a:t>
            </a:r>
            <a:pPr indent="0" marL="0">
              <a:buNone/>
            </a:pPr>
            <a:r>
              <a:rPr lang="en-US" sz="2000" b="1" dirty="0">
                <a:solidFill>
                  <a:schemeClr val="tx1"/>
                </a:solidFill>
              </a:rPr>
              <a:t>negative</a:t>
            </a:r>
            <a:pPr indent="0" marL="0">
              <a:buNone/>
            </a:pPr>
            <a:r>
              <a:rPr lang="en-US" sz="2000" dirty="0">
                <a:solidFill>
                  <a:schemeClr val="tx1"/>
                </a:solidFill>
              </a:rPr>
              <a:t> on test data for a model worse than the mean.</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Measuring error: MAE, RMSE and R²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Three common metrics and what they hide</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For a heat-sink surrogate, “RMSE = 0.01 K/W” means typical errors of about 0.3 K in base temperature at 30 W — an engineer can judge whether that matters. “</a:t>
            </a:r>
            <a:pPr indent="0" marL="0">
              <a:spcAft>
                <a:spcPts val="600"/>
              </a:spcAft>
              <a:buNone/>
            </a:pPr>
            <a:r>
              <a:rPr lang="en-US" sz="2000" i="1" dirty="0">
                <a:solidFill>
                  <a:schemeClr val="tx1"/>
                </a:solidFill>
              </a:rPr>
              <a:t>R</a:t>
            </a:r>
            <a:pPr indent="0" marL="0">
              <a:spcAft>
                <a:spcPts val="600"/>
              </a:spcAft>
              <a:buNone/>
            </a:pPr>
            <a:r>
              <a:rPr lang="en-US" sz="2000" dirty="0">
                <a:solidFill>
                  <a:schemeClr val="tx1"/>
                </a:solidFill>
              </a:rPr>
              <a:t>² = 0.99” over a range where </a:t>
            </a:r>
            <a:pPr indent="0" marL="0">
              <a:spcAft>
                <a:spcPts val="600"/>
              </a:spcAft>
              <a:buNone/>
            </a:pPr>
            <a:r>
              <a:rPr lang="en-US" sz="2000" i="1" dirty="0">
                <a:solidFill>
                  <a:schemeClr val="tx1"/>
                </a:solidFill>
              </a:rPr>
              <a:t>R</a:t>
            </a:r>
            <a:pPr indent="0" marL="0">
              <a:spcAft>
                <a:spcPts val="600"/>
              </a:spcAft>
              <a:buNone/>
            </a:pPr>
            <a:r>
              <a:rPr lang="en-US" sz="2000" dirty="0">
                <a:solidFill>
                  <a:schemeClr val="tx1"/>
                </a:solidFill>
              </a:rPr>
              <a:t> varies from 0.6 to 4 K/W could still hide a 0.05 K/W error near the optimum, where </a:t>
            </a:r>
            <a:pPr indent="0" marL="0">
              <a:spcAft>
                <a:spcPts val="600"/>
              </a:spcAft>
              <a:buNone/>
            </a:pPr>
            <a:r>
              <a:rPr lang="en-US" sz="2000" i="1" dirty="0">
                <a:solidFill>
                  <a:schemeClr val="tx1"/>
                </a:solidFill>
              </a:rPr>
              <a:t>R</a:t>
            </a:r>
            <a:pPr indent="0" marL="0">
              <a:spcAft>
                <a:spcPts val="600"/>
              </a:spcAft>
              <a:buNone/>
            </a:pPr>
            <a:r>
              <a:rPr lang="en-US" sz="2000" dirty="0">
                <a:solidFill>
                  <a:schemeClr val="tx1"/>
                </a:solidFill>
              </a:rPr>
              <a:t> varies little.</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Report RMSE and MAE in physical units, plus the maximum absolute error, on data not used for fitting.</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Measuring error: MAE, RMSE and R²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Residuals: +1, −1, +1, −1, +6 K. Compute MAE and RMSE.</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Measuring error: MAE, RMSE and R²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Residuals: +1, −1, +1, −1, +6 K. Compute MAE and RMSE.</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MAE = (1+1+1+1+6)/5 = 2.0 K. RMSE = √[(1+1+1+1+36)/5] = √8 ≈ 2.83 K. The single large error inflates RMSE.</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Measuring error: MAE, RMSE and R²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Three common metrics and what they hide</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A high R² means the model is accurate enough for design.</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R² depends on how much y varies in the dataset. Wide-ranging data inflate R². Use errors in engineering units, especially in the region you care about.</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MAE = typical error; RMSE emphasizes large errors; R² is relative to the mean. Report errors in engineering units.</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1700" b="1" dirty="0">
                <a:solidFill>
                  <a:schemeClr val="tx2"/>
                </a:solidFill>
              </a:rPr>
              <a:t>Three common metrics and what they hide</a:t>
            </a:r>
            <a:endParaRPr lang="en-US" sz="1700" dirty="0"/>
          </a:p>
          <a:p>
            <a:pPr indent="0" marL="0">
              <a:buNone/>
            </a:pPr>
            <a:r>
              <a:rPr lang="en-US" sz="1700" dirty="0">
                <a:solidFill>
                  <a:schemeClr val="tx1"/>
                </a:solidFill>
              </a:rPr>
              <a:t>MAE = typical error; RMSE emphasizes large errors; R² is relative to the mean. Report errors in engineering units.</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4.3</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Interpreting coefficients and comparing with baselines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4: Lesson 3.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Lesson 2: Measuring error: MAE, RMSE and R²</dc:title>
  <dc:subject>Machine Learning Fundamentals for Surrogate-Based Engineering Optimization</dc:subject>
  <dc:creator>Prof. Mazharul Islam</dc:creator>
  <cp:lastModifiedBy>Prof. Mazharul Islam</cp:lastModifiedBy>
  <cp:revision>1</cp:revision>
  <dcterms:created xsi:type="dcterms:W3CDTF">2026-10-07T01:12:30Z</dcterms:created>
  <dcterms:modified xsi:type="dcterms:W3CDTF">2026-10-07T01:12:30Z</dcterms:modified>
</cp:coreProperties>
</file>