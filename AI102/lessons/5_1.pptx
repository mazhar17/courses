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9544525-d28e-4b89-3d40-39794fa47967}">
          <p14:sldIdLst>
            <p14:sldId id="256"/>
          </p14:sldIdLst>
        </p14:section>
        <p14:section name="Lesson 1: Training, validation and test sets" id="{a9876210-5dff-30ef-0d3c-e36f005d1e58}">
          <p14:sldIdLst>
            <p14:sldId id="257"/>
            <p14:sldId id="258"/>
            <p14:sldId id="259"/>
            <p14:sldId id="260"/>
            <p14:sldId id="261"/>
            <p14:sldId id="262"/>
          </p14:sldIdLst>
        </p14:section>
        <p14:section name="Summary" id="{3c2c5cb5-8772-88ae-960c-5930f7d2eb41}">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5, Lesson 1 of the self-paced course Machine Learning Fundamentals for Surrogate-Based Engineering Optimization: Training, validation and test sets. This lesson belongs to the module Generalization and trustworthy validation and takes about 9 minutes. In this lesson: Never grade a model on its own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grade a model on its own homework. A model can memorize training data. To estimate performance on new data, hold some data back. The training set fits parameters; the validation set chooses between models or settings (e.g., polynomial degree); the test set is used once, at the end, for an unbiased estimate. Look at the figure. Roles of training, validation and test data. A bar divided into a large training portion, a smaller validation portion, and a test portion used once at the end, with explanations of each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Generalization error is the expected loss on new data from the same distribution: E_{gen} = 𝔼_(_x_{, }_y_) [ (y − f̂(x))^2 ] ≈ (1)/(n_{test}) Σ_{test} (y_i − f̂(x_i))^2 The approximation is unbiased only if the test data played no part in fitting or choosing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With a simulator, you can generate an independent validation set cheaply in teaching (our model is fast). In real CFD studies validation runs cost as much as training runs — which motivates cross-validation (Lesson 3). A practical tip: Decide the split before looking at results, record the seed, and keep the test set untouched until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You try 12 polynomial degrees and pick the one with the lowest test error. Is that test error an unbiased estimate?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You used the test set for selection, so it is now part of model building; the reported error is optimistic. Select with validation data; test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Low training error means the model will predict well. In fact: Training error measures fit to seen data. Only data not used in fitting or selection estimate generalization. The takeaway: Train to fit, validate to choose, test once to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Never grade a model on its own homework: Train to fit, validate to choose, test once to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1 of Module 5: Training, validation and test sets. Next comes Lesson 2: Underfitting, overfitting and the bias–variance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5, Lesson 1 · Training, validation and test sets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5, Lesson 1 · Training, validation and test sets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05 · LESSON 1 OF 5 · ≈ 9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Training, validation and test sets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5: Generalization and trustworthy validation</a:t>
            </a:r>
            <a:endParaRPr lang="en-US" sz="1800" dirty="0"/>
          </a:p>
          <a:p>
            <a:pPr marL="342900" indent="-342900">
              <a:buSzPct val="100000"/>
              <a:buChar char="•"/>
            </a:pPr>
            <a:r>
              <a:rPr lang="en-US" sz="1800" dirty="0">
                <a:solidFill>
                  <a:srgbClr val="D6E2F0"/>
                </a:solidFill>
              </a:rPr>
              <a:t>Never grade a model on its own homework</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5.1</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Training, validation and test sets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Never grade a model on its own homework</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600" dirty="0">
                <a:solidFill>
                  <a:schemeClr val="tx1"/>
                </a:solidFill>
              </a:rPr>
              <a:t>A model can memorize training data. To estimate performance on new data, hold some data back. The </a:t>
            </a:r>
            <a:pPr indent="0" marL="0">
              <a:spcAft>
                <a:spcPts val="600"/>
              </a:spcAft>
              <a:buNone/>
            </a:pPr>
            <a:r>
              <a:rPr lang="en-US" sz="1600" b="1" dirty="0">
                <a:solidFill>
                  <a:schemeClr val="tx1"/>
                </a:solidFill>
              </a:rPr>
              <a:t>training set</a:t>
            </a:r>
            <a:pPr indent="0" marL="0">
              <a:spcAft>
                <a:spcPts val="600"/>
              </a:spcAft>
              <a:buNone/>
            </a:pPr>
            <a:r>
              <a:rPr lang="en-US" sz="1600" dirty="0">
                <a:solidFill>
                  <a:schemeClr val="tx1"/>
                </a:solidFill>
              </a:rPr>
              <a:t> fits parameters; the </a:t>
            </a:r>
            <a:pPr indent="0" marL="0">
              <a:spcAft>
                <a:spcPts val="600"/>
              </a:spcAft>
              <a:buNone/>
            </a:pPr>
            <a:r>
              <a:rPr lang="en-US" sz="1600" b="1" dirty="0">
                <a:solidFill>
                  <a:schemeClr val="tx1"/>
                </a:solidFill>
              </a:rPr>
              <a:t>validation set</a:t>
            </a:r>
            <a:pPr indent="0" marL="0">
              <a:spcAft>
                <a:spcPts val="600"/>
              </a:spcAft>
              <a:buNone/>
            </a:pPr>
            <a:r>
              <a:rPr lang="en-US" sz="1600" dirty="0">
                <a:solidFill>
                  <a:schemeClr val="tx1"/>
                </a:solidFill>
              </a:rPr>
              <a:t> chooses between models or settings (e.g., polynomial degree); the </a:t>
            </a:r>
            <a:pPr indent="0" marL="0">
              <a:spcAft>
                <a:spcPts val="600"/>
              </a:spcAft>
              <a:buNone/>
            </a:pPr>
            <a:r>
              <a:rPr lang="en-US" sz="1600" b="1" dirty="0">
                <a:solidFill>
                  <a:schemeClr val="tx1"/>
                </a:solidFill>
              </a:rPr>
              <a:t>test set</a:t>
            </a:r>
            <a:pPr indent="0" marL="0">
              <a:spcAft>
                <a:spcPts val="600"/>
              </a:spcAft>
              <a:buNone/>
            </a:pPr>
            <a:r>
              <a:rPr lang="en-US" sz="1600" dirty="0">
                <a:solidFill>
                  <a:schemeClr val="tx1"/>
                </a:solidFill>
              </a:rPr>
              <a:t> is used once, at the end, for an unbiased estimate.</a:t>
            </a:r>
            <a:endParaRPr lang="en-US" sz="1600" dirty="0"/>
          </a:p>
        </p:txBody>
      </p:sp>
      <p:pic>
        <p:nvPicPr>
          <p:cNvPr id="8" name="figure" descr="A bar divided into a large training portion, a smaller validation portion, and a test portion used once at the end, with explanations of each role.">    </p:cNvPr>
          <p:cNvPicPr>
            <a:picLocks noChangeAspect="1"/>
          </p:cNvPicPr>
          <p:nvPr/>
        </p:nvPicPr>
        <p:blipFill>
          <a:blip r:embed="rId2"/>
          <a:stretch>
            <a:fillRect/>
          </a:stretch>
        </p:blipFill>
        <p:spPr>
          <a:xfrm>
            <a:off x="1117995" y="2743200"/>
            <a:ext cx="9955706"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Roles of training, validation and test data.</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Training, validation and test sets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Never grade a model on its own homework</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2026920"/>
          </a:xfrm>
          <a:prstGeom prst="roundRect">
            <a:avLst>
              <a:gd name="adj" fmla="val 5414"/>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935480"/>
          </a:xfrm>
          <a:prstGeom prst="rect">
            <a:avLst/>
          </a:prstGeom>
          <a:noFill/>
          <a:ln/>
        </p:spPr>
        <p:txBody>
          <a:bodyPr wrap="square" lIns="1270" tIns="1270" rIns="1270" bIns="1270" rtlCol="0" anchor="ctr"/>
          <a:lstStyle/>
          <a:p>
            <a:pPr indent="0" marL="0">
              <a:spcAft>
                <a:spcPts val="800"/>
              </a:spcAft>
              <a:buNone/>
            </a:pPr>
            <a:r>
              <a:rPr lang="en-US" sz="2000" dirty="0">
                <a:solidFill>
                  <a:schemeClr val="tx1"/>
                </a:solidFill>
              </a:rPr>
              <a:t>Generalization error is the expected loss on new data from the same distribution:</a:t>
            </a:r>
            <a:endParaRPr lang="en-US" sz="2000" dirty="0"/>
          </a:p>
          <a:p>
            <a:pPr algn="ctr" indent="0" marL="0">
              <a:spcAft>
                <a:spcPts val="800"/>
              </a:spcAft>
              <a:buNone/>
            </a:pPr>
            <a:r>
              <a:rPr lang="en-US" sz="2000" i="1" dirty="0">
                <a:solidFill>
                  <a:schemeClr val="tx1"/>
                </a:solidFill>
              </a:rPr>
              <a:t>E</a:t>
            </a:r>
            <a:pPr algn="ctr" indent="0" marL="0">
              <a:buNone/>
            </a:pPr>
            <a:r>
              <a:rPr lang="en-US" sz="2000" baseline="-40000" dirty="0">
                <a:solidFill>
                  <a:schemeClr val="tx1"/>
                </a:solidFill>
              </a:rPr>
              <a:t>gen</a:t>
            </a:r>
            <a:pPr algn="ctr" indent="0" marL="0">
              <a:buNone/>
            </a:pPr>
            <a:r>
              <a:rPr lang="en-US" sz="2000" dirty="0">
                <a:solidFill>
                  <a:schemeClr val="tx1"/>
                </a:solidFill>
              </a:rPr>
              <a:t> = 𝔼</a:t>
            </a:r>
            <a:pPr algn="ctr" indent="0" marL="0">
              <a:buNone/>
            </a:pPr>
            <a:r>
              <a:rPr lang="en-US" sz="2000" baseline="-40000" dirty="0">
                <a:solidFill>
                  <a:schemeClr val="tx1"/>
                </a:solidFill>
              </a:rPr>
              <a:t>(</a:t>
            </a:r>
            <a:pPr algn="ctr" indent="0" marL="0">
              <a:buNone/>
            </a:pPr>
            <a:r>
              <a:rPr lang="en-US" sz="2000" b="1" baseline="-40000" dirty="0">
                <a:solidFill>
                  <a:schemeClr val="tx1"/>
                </a:solidFill>
              </a:rPr>
              <a:t>x</a:t>
            </a:r>
            <a:pPr algn="ctr" indent="0" marL="0">
              <a:buNone/>
            </a:pPr>
            <a:r>
              <a:rPr lang="en-US" sz="2000" baseline="-40000" dirty="0">
                <a:solidFill>
                  <a:schemeClr val="tx1"/>
                </a:solidFill>
              </a:rPr>
              <a:t>, </a:t>
            </a:r>
            <a:pPr algn="ctr" indent="0" marL="0">
              <a:buNone/>
            </a:pPr>
            <a:r>
              <a:rPr lang="en-US" sz="2000" i="1" baseline="-40000" dirty="0">
                <a:solidFill>
                  <a:schemeClr val="tx1"/>
                </a:solidFill>
              </a:rPr>
              <a:t>y</a:t>
            </a:r>
            <a:pPr algn="ctr" indent="0" marL="0">
              <a:buNone/>
            </a:pPr>
            <a:r>
              <a:rPr lang="en-US" sz="2000" baseline="-40000" dirty="0">
                <a:solidFill>
                  <a:schemeClr val="tx1"/>
                </a:solidFill>
              </a:rPr>
              <a:t>)</a:t>
            </a:r>
            <a:pPr algn="ctr" indent="0" marL="0">
              <a:buNone/>
            </a:pPr>
            <a:r>
              <a:rPr lang="en-US" sz="2000" dirty="0">
                <a:solidFill>
                  <a:schemeClr val="tx1"/>
                </a:solidFill>
              </a:rPr>
              <a:t> [ (</a:t>
            </a:r>
            <a:pPr algn="ctr" indent="0" marL="0">
              <a:buNone/>
            </a:pPr>
            <a:r>
              <a:rPr lang="en-US" sz="2000" i="1" dirty="0">
                <a:solidFill>
                  <a:schemeClr val="tx1"/>
                </a:solidFill>
              </a:rPr>
              <a:t>y</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a:t>
            </a:r>
            <a:pPr algn="ctr" indent="0" marL="0">
              <a:buNone/>
            </a:pPr>
            <a:r>
              <a:rPr lang="en-US" sz="2000" baseline="30000" dirty="0">
                <a:solidFill>
                  <a:schemeClr val="tx1"/>
                </a:solidFill>
              </a:rPr>
              <a:t>2</a:t>
            </a:r>
            <a:pPr algn="ctr" indent="0" marL="0">
              <a:buNone/>
            </a:pPr>
            <a:r>
              <a:rPr lang="en-US" sz="2000" dirty="0">
                <a:solidFill>
                  <a:schemeClr val="tx1"/>
                </a:solidFill>
              </a:rPr>
              <a:t> ] ≈ (1)/(</a:t>
            </a:r>
            <a:pPr algn="ctr" indent="0" marL="0">
              <a:buNone/>
            </a:pPr>
            <a:r>
              <a:rPr lang="en-US" sz="2000" i="1" dirty="0">
                <a:solidFill>
                  <a:schemeClr val="tx1"/>
                </a:solidFill>
              </a:rPr>
              <a:t>n</a:t>
            </a:r>
            <a:pPr algn="ctr" indent="0" marL="0">
              <a:buNone/>
            </a:pPr>
            <a:r>
              <a:rPr lang="en-US" sz="2000" baseline="-40000" dirty="0">
                <a:solidFill>
                  <a:schemeClr val="tx1"/>
                </a:solidFill>
              </a:rPr>
              <a:t>test</a:t>
            </a:r>
            <a:pPr algn="ctr" indent="0" marL="0">
              <a:buNone/>
            </a:pPr>
            <a:r>
              <a:rPr lang="en-US" sz="2000" dirty="0">
                <a:solidFill>
                  <a:schemeClr val="tx1"/>
                </a:solidFill>
              </a:rPr>
              <a:t>) Σ</a:t>
            </a:r>
            <a:pPr algn="ctr" indent="0" marL="0">
              <a:buNone/>
            </a:pPr>
            <a:r>
              <a:rPr lang="en-US" sz="2000" baseline="-40000" dirty="0">
                <a:solidFill>
                  <a:schemeClr val="tx1"/>
                </a:solidFill>
              </a:rPr>
              <a:t>test</a:t>
            </a:r>
            <a:pPr algn="ctr" indent="0" marL="0">
              <a:buNone/>
            </a:pPr>
            <a:r>
              <a:rPr lang="en-US" sz="2000" dirty="0">
                <a:solidFill>
                  <a:schemeClr val="tx1"/>
                </a:solidFill>
              </a:rPr>
              <a:t> (</a:t>
            </a:r>
            <a:pPr algn="ctr" indent="0" marL="0">
              <a:buNone/>
            </a:pPr>
            <a:r>
              <a:rPr lang="en-US" sz="2000" i="1" dirty="0">
                <a:solidFill>
                  <a:schemeClr val="tx1"/>
                </a:solidFill>
              </a:rPr>
              <a:t>y</a:t>
            </a:r>
            <a:pPr algn="ctr" indent="0" marL="0">
              <a:buNone/>
            </a:pPr>
            <a:r>
              <a:rPr lang="en-US" sz="2000" i="1" baseline="-40000" dirty="0">
                <a:solidFill>
                  <a:schemeClr val="tx1"/>
                </a:solidFill>
              </a:rPr>
              <a:t>i</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i="1" baseline="-40000" dirty="0">
                <a:solidFill>
                  <a:schemeClr val="tx1"/>
                </a:solidFill>
              </a:rPr>
              <a:t>i</a:t>
            </a:r>
            <a:pPr algn="ctr" indent="0" marL="0">
              <a:buNone/>
            </a:pPr>
            <a:r>
              <a:rPr lang="en-US" sz="2000" dirty="0">
                <a:solidFill>
                  <a:schemeClr val="tx1"/>
                </a:solidFill>
              </a:rPr>
              <a:t>))</a:t>
            </a:r>
            <a:pPr algn="ctr" indent="0" marL="0">
              <a:buNone/>
            </a:pPr>
            <a:r>
              <a:rPr lang="en-US" sz="2000" baseline="30000" dirty="0">
                <a:solidFill>
                  <a:schemeClr val="tx1"/>
                </a:solidFill>
              </a:rPr>
              <a:t>2</a:t>
            </a:r>
            <a:endParaRPr lang="en-US" sz="2000" dirty="0"/>
          </a:p>
          <a:p>
            <a:pPr indent="0" marL="0">
              <a:buNone/>
            </a:pPr>
            <a:r>
              <a:rPr lang="en-US" sz="2000" dirty="0">
                <a:solidFill>
                  <a:schemeClr val="tx1"/>
                </a:solidFill>
              </a:rPr>
              <a:t>The approximation is unbiased only if the test data played no part in fitting or choosing the model.</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Training, validation and test sets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Never grade a model on its own homework</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With a simulator, you can generate an independent validation set cheaply in teaching (our model is fast). In real CFD studies validation runs cost as much as training runs — which motivates cross-validation (Lesson 3).</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Decide the split before looking at results, record the seed, and keep the test set untouched until the final report.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Training, validation and test sets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You try 12 polynomial degrees and pick the one with the lowest </a:t>
            </a:r>
            <a:pPr indent="0" marL="0">
              <a:spcAft>
                <a:spcPts val="600"/>
              </a:spcAft>
              <a:buNone/>
            </a:pPr>
            <a:r>
              <a:rPr lang="en-US" sz="2800" i="1" dirty="0">
                <a:solidFill>
                  <a:schemeClr val="tx1"/>
                </a:solidFill>
              </a:rPr>
              <a:t>test</a:t>
            </a:r>
            <a:pPr indent="0" marL="0">
              <a:spcAft>
                <a:spcPts val="600"/>
              </a:spcAft>
              <a:buNone/>
            </a:pPr>
            <a:r>
              <a:rPr lang="en-US" sz="2800" dirty="0">
                <a:solidFill>
                  <a:schemeClr val="tx1"/>
                </a:solidFill>
              </a:rPr>
              <a:t> error. Is that test error an unbiased estimate?</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Training, validation and test sets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You try 12 polynomial degrees and pick the one with the lowest test error. Is that test error an unbiased estimate?</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You used the test set for selection, so it is now part of model building; the reported error is optimistic. Select with validation data; test once.</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Training, validation and test sets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Never grade a model on its own homework</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Low training error means the model will predict well.</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Training error measures fit to seen data. Only data not used in fitting or selection estimate generalization.</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Train to fit, validate to choose, test once to report.</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200" b="1" dirty="0">
                <a:solidFill>
                  <a:schemeClr val="tx2"/>
                </a:solidFill>
              </a:rPr>
              <a:t>Never grade a model on its own homework</a:t>
            </a:r>
            <a:endParaRPr lang="en-US" sz="2200" dirty="0"/>
          </a:p>
          <a:p>
            <a:pPr indent="0" marL="0">
              <a:buNone/>
            </a:pPr>
            <a:r>
              <a:rPr lang="en-US" sz="2200" dirty="0">
                <a:solidFill>
                  <a:schemeClr val="tx1"/>
                </a:solidFill>
              </a:rPr>
              <a:t>Train to fit, validate to choose, test once to report.</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5.2</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Underfitting, overfitting and the bias–variance trade-off</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5: Lesson 2.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Lesson 1: Training, validation and test sets</dc:title>
  <dc:subject>Machine Learning Fundamentals for Surrogate-Based Engineering Optimization</dc:subject>
  <dc:creator>Prof. Mazharul Islam</dc:creator>
  <cp:lastModifiedBy>Prof. Mazharul Islam</cp:lastModifiedBy>
  <cp:revision>1</cp:revision>
  <dcterms:created xsi:type="dcterms:W3CDTF">2026-10-07T01:12:30Z</dcterms:created>
  <dcterms:modified xsi:type="dcterms:W3CDTF">2026-10-07T01:12:30Z</dcterms:modified>
</cp:coreProperties>
</file>