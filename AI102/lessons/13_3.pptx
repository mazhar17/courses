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ae6766a-02e7-80f8-6eed-71b34820236d}">
          <p14:sldIdLst>
            <p14:sldId id="256"/>
          </p14:sldIdLst>
        </p14:section>
        <p14:section name="Lesson 3: Reporting, synthetic vs experimental evidence, ethics" id="{5037c65a-8e77-5270-dfd7-6244004e2e0d}">
          <p14:sldIdLst>
            <p14:sldId id="257"/>
            <p14:sldId id="258"/>
            <p14:sldId id="259"/>
            <p14:sldId id="260"/>
            <p14:sldId id="261"/>
            <p14:sldId id="262"/>
          </p14:sldIdLst>
        </p14:section>
        <p14:section name="Summary" id="{f481b094-6fda-c2c4-2789-26e63b5330fc}">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13, Lesson 3 of the self-paced course Machine Learning Fundamentals for Surrogate-Based Engineering Optimization: Reporting, synthetic vs experimental evidence, ethics. This lesson belongs to the module Reproducible engineering research and takes about 12 minutes. In this lesson: Claims proportional to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proportional to evidence. A good report states what was done, what was found, and what it does not show. Evidence has levels: a surrogate prediction is weakest; verification with a simplified model shows something about that model; verification with validated CFD/FEA is stronger; physical tests with uncertainty are strongest for real-world claims. Look at the figure. Strength of evidence, from surrogate predictions to physical tests. Four stacked steps from bottom to top: surrogate prediction only; verified with pedagogical/analytical model; verified with validated CFD/FEA; physical prototype tests with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Report at least: validation RMSE/MAE/max error (units, on held-out data); predicted vs verified objective and constraints for each candidate; verified best feasible design and its constraint margins; number of original evaluations; variability over seeds; limitations. Phrase optimality claims carefully: “best design found within B evaluations; local optimality verified by …” rather than “the global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Ethical use of AI in study and research: follow any rules that apply to you (e.g., your institution’s or employer’s); disclose AI assistance (e.g., code suggestions, text drafting); you remain responsible for correctness — check AI-generated code and claims against sources and calculations; never fabricate data, results or citations; do not present AI-generated text as your own original analysis where that is prohibited; protect confidential or proprietary data (do not paste it into external tools without permission). Engineering decisions affecting safety need qualified human review. A practical tip: Write a “Limitations” paragraph in every study: model simplifications, extrapolation risk, uncertainty calibration, budget, and what further evidence would be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Your verified heat-sink design has R = 0.579 K/W from the pedagogical model. Can you claim a real heat sink built this way will achieve 0.579 K/W?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No. You can claim it for the pedagogical model. Real performance needs a validated model or tests; developing-flow effects, bypass and fan curves would change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If the optimizer converged, you can call the result “the global optimum”. In fact: Convergence is local; global claims need global search evidence or problem structure, and even then only for the model used. The takeaway: Match claims to the level of evidence; disclose AI use; never claim global or real-world optimality without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Claims proportional to evidence: Match claims to the level of evidence; disclose AI use; never claim global or real-world optimality without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3 of Module 13: Reporting, synthetic vs experimental evidence, ethics. This was the last lesson of the module, so review the flashcards and take the Module 13 quiz in the course. Next comes Module 14, Guided capstone and final assessment, starting with Planning the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13, Lesson 3 · Reporting, synthetic vs experimental evidence, ethics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13, Lesson 3 · Reporting, synthetic vs experimental evidence, ethics</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13 · LESSON 3 OF 3 · ≈ 12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Reporting, synthetic vs experimental evidence, ethics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13: Reproducible engineering research</a:t>
            </a:r>
            <a:endParaRPr lang="en-US" sz="1800" dirty="0"/>
          </a:p>
          <a:p>
            <a:pPr marL="342900" indent="-342900">
              <a:buSzPct val="100000"/>
              <a:buChar char="•"/>
            </a:pPr>
            <a:r>
              <a:rPr lang="en-US" sz="1800" dirty="0">
                <a:solidFill>
                  <a:srgbClr val="D6E2F0"/>
                </a:solidFill>
              </a:rPr>
              <a:t>Claims proportional to evidence</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13.3</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Reporting, synthetic vs experimental evidence, ethics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Claims proportional to evidence</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400" dirty="0">
                <a:solidFill>
                  <a:schemeClr val="tx1"/>
                </a:solidFill>
              </a:rPr>
              <a:t>A good report states what was done, what was found, and what it does </a:t>
            </a:r>
            <a:pPr indent="0" marL="0">
              <a:spcAft>
                <a:spcPts val="600"/>
              </a:spcAft>
              <a:buNone/>
            </a:pPr>
            <a:r>
              <a:rPr lang="en-US" sz="1400" i="1" dirty="0">
                <a:solidFill>
                  <a:schemeClr val="tx1"/>
                </a:solidFill>
              </a:rPr>
              <a:t>not</a:t>
            </a:r>
            <a:pPr indent="0" marL="0">
              <a:spcAft>
                <a:spcPts val="600"/>
              </a:spcAft>
              <a:buNone/>
            </a:pPr>
            <a:r>
              <a:rPr lang="en-US" sz="1400" dirty="0">
                <a:solidFill>
                  <a:schemeClr val="tx1"/>
                </a:solidFill>
              </a:rPr>
              <a:t> show. Evidence has levels: a surrogate prediction is weakest; verification with a simplified model shows something about that model; verification with validated CFD/FEA is stronger; physical tests with uncertainty are strongest for real-world claims.</a:t>
            </a:r>
            <a:endParaRPr lang="en-US" sz="1400" dirty="0"/>
          </a:p>
        </p:txBody>
      </p:sp>
      <p:pic>
        <p:nvPicPr>
          <p:cNvPr id="8" name="figure" descr="Four stacked steps from bottom to top: surrogate prediction only; verified with pedagogical/analytical model; verified with validated CFD/FEA; physical prototype tests with uncertainty.">    </p:cNvPr>
          <p:cNvPicPr>
            <a:picLocks noChangeAspect="1"/>
          </p:cNvPicPr>
          <p:nvPr/>
        </p:nvPicPr>
        <p:blipFill>
          <a:blip r:embed="rId2"/>
          <a:stretch>
            <a:fillRect/>
          </a:stretch>
        </p:blipFill>
        <p:spPr>
          <a:xfrm>
            <a:off x="2101274" y="2743200"/>
            <a:ext cx="7989147"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Strength of evidence, from surrogate predictions to physical tests.</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Reporting, synthetic vs experimental evidence, ethics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Claims proportional to evidence</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2133600"/>
          </a:xfrm>
          <a:prstGeom prst="roundRect">
            <a:avLst>
              <a:gd name="adj" fmla="val 5143"/>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2042160"/>
          </a:xfrm>
          <a:prstGeom prst="rect">
            <a:avLst/>
          </a:prstGeom>
          <a:noFill/>
          <a:ln/>
        </p:spPr>
        <p:txBody>
          <a:bodyPr wrap="square" lIns="1270" tIns="1270" rIns="1270" bIns="1270" rtlCol="0" anchor="ctr"/>
          <a:lstStyle/>
          <a:p>
            <a:pPr indent="0" marL="0">
              <a:buNone/>
            </a:pPr>
            <a:r>
              <a:rPr lang="en-US" sz="2000" dirty="0">
                <a:solidFill>
                  <a:schemeClr val="tx1"/>
                </a:solidFill>
              </a:rPr>
              <a:t>Report at least: validation RMSE/MAE/max error (units, on held-out data); predicted vs verified objective and constraints for each candidate; verified best feasible design and its constraint margins; number of original evaluations; variability over seeds; limitations. Phrase optimality claims carefully: “best design found within </a:t>
            </a:r>
            <a:pPr indent="0" marL="0">
              <a:buNone/>
            </a:pPr>
            <a:r>
              <a:rPr lang="en-US" sz="2000" i="1" dirty="0">
                <a:solidFill>
                  <a:schemeClr val="tx1"/>
                </a:solidFill>
              </a:rPr>
              <a:t>B</a:t>
            </a:r>
            <a:pPr indent="0" marL="0">
              <a:buNone/>
            </a:pPr>
            <a:r>
              <a:rPr lang="en-US" sz="2000" dirty="0">
                <a:solidFill>
                  <a:schemeClr val="tx1"/>
                </a:solidFill>
              </a:rPr>
              <a:t> evaluations; local optimality verified by …” rather than “the global optimum”.</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Reporting, synthetic vs experimental evidence, ethics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Claims proportional to evidence</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1500" b="1" dirty="0">
                <a:solidFill>
                  <a:schemeClr val="tx1"/>
                </a:solidFill>
              </a:rPr>
              <a:t>Ethical use of AI in study and research:</a:t>
            </a:r>
            <a:pPr indent="0" marL="0">
              <a:spcAft>
                <a:spcPts val="600"/>
              </a:spcAft>
              <a:buNone/>
            </a:pPr>
            <a:r>
              <a:rPr lang="en-US" sz="1500" dirty="0">
                <a:solidFill>
                  <a:schemeClr val="tx1"/>
                </a:solidFill>
              </a:rPr>
              <a:t> follow any rules that apply to you (e.g., your institution’s or employer’s); disclose AI assistance (e.g., code suggestions, text drafting); you remain responsible for correctness — check AI-generated code and claims against sources and calculations; never fabricate data, results or citations; do not present AI-generated text as your own original analysis where that is prohibited; protect confidential or proprietary data (do not paste it into external tools without permission). Engineering decisions affecting safety need qualified human review.</a:t>
            </a:r>
            <a:endParaRPr lang="en-US" sz="15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Write a “Limitations” paragraph in every study: model simplifications, extrapolation risk, uncertainty calibration, budget, and what further evidence would be needed.</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Reporting, synthetic vs experimental evidence, ethics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Your verified heat-sink design has R = 0.579 K/W from the pedagogical model. Can you claim a real heat sink built this way will achieve 0.579 K/W?</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Reporting, synthetic vs experimental evidence, ethics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Your verified heat-sink design has R = 0.579 K/W from the pedagogical model. Can you claim a real heat sink built this way will achieve 0.579 K/W?</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No. You can claim it for the pedagogical model. Real performance needs a validated model or tests; developing-flow effects, bypass and fan curves would change the number.</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3 · Reporting, synthetic vs experimental evidence, ethics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Claims proportional to evidence</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If the optimizer converged, you can call the result “the global optimum”.</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Convergence is local; global claims need global search evidence or problem structure, and even then only for the model used.</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Match claims to the level of evidence; disclose AI use; never claim global or real-world optimality without support.</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Claims proportional to evidence</a:t>
            </a:r>
            <a:endParaRPr lang="en-US" sz="2100" dirty="0"/>
          </a:p>
          <a:p>
            <a:pPr indent="0" marL="0">
              <a:buNone/>
            </a:pPr>
            <a:r>
              <a:rPr lang="en-US" sz="2100" dirty="0">
                <a:solidFill>
                  <a:schemeClr val="tx1"/>
                </a:solidFill>
              </a:rPr>
              <a:t>Match claims to the level of evidence; disclose AI use; never claim global or real-world optimality without support.</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14.1</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Planning the study</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That completes Module 13. Before moving on, review the Module 13 flashcards and take its quiz in the course (pass mark 70%). Next: Module 14, Guided capstone and final assessment.</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13, Lesson 3: Reporting, synthetic vs experimental evidence, ethics</dc:title>
  <dc:subject>Machine Learning Fundamentals for Surrogate-Based Engineering Optimization</dc:subject>
  <dc:creator>Prof. Mazharul Islam</dc:creator>
  <cp:lastModifiedBy>Prof. Mazharul Islam</cp:lastModifiedBy>
  <cp:revision>1</cp:revision>
  <dcterms:created xsi:type="dcterms:W3CDTF">2026-10-07T01:12:32Z</dcterms:created>
  <dcterms:modified xsi:type="dcterms:W3CDTF">2026-10-07T01:12:32Z</dcterms:modified>
</cp:coreProperties>
</file>