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e8c20ee-e591-74e9-9fb3-bd2d1dafb2e7}">
          <p14:sldIdLst>
            <p14:sldId id="256"/>
          </p14:sldIdLst>
        </p14:section>
        <p14:section name="Lesson 3: NumPy, pandas, matplotlib, scikit-learn — and reproducible seeds" id="{0ae11882-a5a2-fb48-1ef9-c42fc5e7095d}">
          <p14:sldIdLst>
            <p14:sldId id="257"/>
            <p14:sldId id="258"/>
            <p14:sldId id="259"/>
            <p14:sldId id="260"/>
            <p14:sldId id="261"/>
            <p14:sldId id="262"/>
            <p14:sldId id="263"/>
            <p14:sldId id="264"/>
            <p14:sldId id="265"/>
            <p14:sldId id="266"/>
            <p14:sldId id="267"/>
            <p14:sldId id="268"/>
          </p14:sldIdLst>
        </p14:section>
        <p14:section name="Summary" id="{e5fb0d47-6783-ac5e-2988-72581d81fbf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2, Lesson 3 of the self-paced course Machine Learning Fundamentals for Surrogate-Based Engineering Optimization: NumPy, pandas, matplotlib, scikit-learn — and reproducible seeds. This lesson belongs to the module Python and Jupyter foundations and takes about 9 minutes. In this lesson: The scientific Python stack; Random seeds make randomness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scientific Python stack. NumPy: arrays and linear algebra. pandas: tables, reading/writing CSV files. matplotlib: plots. SciPy: optimization, statistics and quasi-random sampling (scipy.stats.qmc). scikit-learn: ML models with a consistent interface — model.fit(X, y), then model.predict(X_new). Look at the figure. Libraries build on each other: Python → NumPy/SciPy → pandas, matplotlib, scikit-learn. Layered diagram: Python at the bottom; NumPy and SciPy above; pandas, matplotlib and scikit-learn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The scikit-learn pattern: (The code listing is shown on the slide: from sklearn.linear_model import LinearRegression; model = LinearRegression()      # choose a model; model.fit(X_train, y_train)     # learn parameters from training data; y_pred = model.predict(X_test)  # predict for new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The same three lines work for a polynomial pipeline, a random forest or a Gaussian process — which lets you compare surrogate families fairly with identical data. A practical tip: Record versions at the top of every notebook: import sklearn; print(sklearn.__version__). Defaults change between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Does model.fit change X_train?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It changes the model’s internal parameters (e.g., model.coef_); the data are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Library calls are magic black boxes you need not understand. In fact: You must know what each call assumes (scaling, kernel, defaults). In this course’s labs, key algorithms (LHS, GP equations, expected improvement) are also written out by hand so you can see inside. The takeaway: NumPy/SciPy compute, pandas organizes, matplotlib shows, scikit-learn fits — always with fit →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seeds make randomness repeatable. Many steps use random numbers: sampling designs, splitting data, initializing models. Computers generate pseudo-random numbers from a starting value called a seed. Same seed → same sequence → same results. Different seeds show how much your conclusions depend on luck. Look at the figure. The same seed always reproduces the same “random” numbers. A slider chooses a seed; five random numbers are displayed. Pressing “run again” with the same seed shows identical numbers; changing the seed changes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(The code listing is shown on the slide: rng = np.random.default_rng(seed=42)   # create a generator with a fixed seed; x = rng.uniform(0.8, 3.0, size=5)      # five random fin gaps in mm) Pass random_state=42 to scikit-learn functions that use randomness.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Reporting “a Latin hypercube of 20 points (SciPy 1.x, seed 7)” lets a reviewer regenerate your exact designs. Reporting results over seeds 1–10 shows variability (Module 13). A practical tip: Create one generator per notebook (rng = np.random.default_rng(seed)) near the top and pass it around, instead of scattering different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You fix the seed and get a lucky, excellent result. Is it fair to report only that seed?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Fixing a seed makes a result reproducible, not representative. Repeat with several seeds and report the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Setting a seed makes results correct. In fact: It makes them repeatable. Correctness requires validation; representativeness requires repeats. The takeaway: Seeds give reproducibility; multiple seeds reveal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The scientific Python stack: NumPy/SciPy compute, pandas organizes, matplotlib shows, scikit-learn fits — always with fit → predict. Random seeds make randomness repeatable: Seeds give reproducibility; multiple seeds reveal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3 of Module 2: NumPy, pandas, matplotlib, scikit-learn — and reproducible seeds. Next comes Lesson 4: A small engineering dataset, reading errors, checking units,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2, Lesson 3 · NumPy, pandas, matplotlib, scikit-learn — and reproducible seeds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2, Lesson 3 · NumPy, pandas, matplotlib, scikit-learn — and reproducible seeds</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02 · LESSON 3 OF 4 · ≈ 9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NumPy, pandas, matplotlib, scikit-learn — and reproducible seeds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2: Python and Jupyter foundations</a:t>
            </a:r>
            <a:endParaRPr lang="en-US" sz="1800" dirty="0"/>
          </a:p>
          <a:p>
            <a:pPr marL="342900" indent="-342900">
              <a:buSzPct val="100000"/>
              <a:buChar char="•"/>
            </a:pPr>
            <a:r>
              <a:rPr lang="en-US" sz="1800" dirty="0">
                <a:solidFill>
                  <a:srgbClr val="D6E2F0"/>
                </a:solidFill>
              </a:rPr>
              <a:t>The scientific Python stack</a:t>
            </a:r>
            <a:endParaRPr lang="en-US" sz="1800" dirty="0"/>
          </a:p>
          <a:p>
            <a:pPr marL="342900" indent="-342900">
              <a:buSzPct val="100000"/>
              <a:buChar char="•"/>
            </a:pPr>
            <a:r>
              <a:rPr lang="en-US" sz="1800" dirty="0">
                <a:solidFill>
                  <a:srgbClr val="D6E2F0"/>
                </a:solidFill>
              </a:rPr>
              <a:t>Random seeds make randomness repeatable</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2.3</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The scientific Python stack</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700" b="1" dirty="0">
                <a:solidFill>
                  <a:schemeClr val="tx1"/>
                </a:solidFill>
              </a:rPr>
              <a:t>NumPy</a:t>
            </a:r>
            <a:pPr indent="0" marL="0">
              <a:spcAft>
                <a:spcPts val="600"/>
              </a:spcAft>
              <a:buNone/>
            </a:pPr>
            <a:r>
              <a:rPr lang="en-US" sz="1700" dirty="0">
                <a:solidFill>
                  <a:schemeClr val="tx1"/>
                </a:solidFill>
              </a:rPr>
              <a:t>: arrays and linear algebra. </a:t>
            </a:r>
            <a:pPr indent="0" marL="0">
              <a:spcAft>
                <a:spcPts val="600"/>
              </a:spcAft>
              <a:buNone/>
            </a:pPr>
            <a:r>
              <a:rPr lang="en-US" sz="1700" b="1" dirty="0">
                <a:solidFill>
                  <a:schemeClr val="tx1"/>
                </a:solidFill>
              </a:rPr>
              <a:t>pandas</a:t>
            </a:r>
            <a:pPr indent="0" marL="0">
              <a:spcAft>
                <a:spcPts val="600"/>
              </a:spcAft>
              <a:buNone/>
            </a:pPr>
            <a:r>
              <a:rPr lang="en-US" sz="1700" dirty="0">
                <a:solidFill>
                  <a:schemeClr val="tx1"/>
                </a:solidFill>
              </a:rPr>
              <a:t>: tables, reading/writing CSV files. </a:t>
            </a:r>
            <a:pPr indent="0" marL="0">
              <a:spcAft>
                <a:spcPts val="600"/>
              </a:spcAft>
              <a:buNone/>
            </a:pPr>
            <a:r>
              <a:rPr lang="en-US" sz="1700" b="1" dirty="0">
                <a:solidFill>
                  <a:schemeClr val="tx1"/>
                </a:solidFill>
              </a:rPr>
              <a:t>matplotlib</a:t>
            </a:r>
            <a:pPr indent="0" marL="0">
              <a:spcAft>
                <a:spcPts val="600"/>
              </a:spcAft>
              <a:buNone/>
            </a:pPr>
            <a:r>
              <a:rPr lang="en-US" sz="1700" dirty="0">
                <a:solidFill>
                  <a:schemeClr val="tx1"/>
                </a:solidFill>
              </a:rPr>
              <a:t>: plots. </a:t>
            </a:r>
            <a:pPr indent="0" marL="0">
              <a:spcAft>
                <a:spcPts val="600"/>
              </a:spcAft>
              <a:buNone/>
            </a:pPr>
            <a:r>
              <a:rPr lang="en-US" sz="1700" b="1" dirty="0">
                <a:solidFill>
                  <a:schemeClr val="tx1"/>
                </a:solidFill>
              </a:rPr>
              <a:t>SciPy</a:t>
            </a:r>
            <a:pPr indent="0" marL="0">
              <a:spcAft>
                <a:spcPts val="600"/>
              </a:spcAft>
              <a:buNone/>
            </a:pPr>
            <a:r>
              <a:rPr lang="en-US" sz="1700" dirty="0">
                <a:solidFill>
                  <a:schemeClr val="tx1"/>
                </a:solidFill>
              </a:rPr>
              <a:t>: optimization, statistics and quasi-random sampling (</a:t>
            </a:r>
            <a:pPr indent="0" marL="0">
              <a:spcAft>
                <a:spcPts val="600"/>
              </a:spcAft>
              <a:buNone/>
            </a:pPr>
            <a:r>
              <a:rPr lang="en-US" sz="1700" dirty="0">
                <a:solidFill>
                  <a:schemeClr val="tx1"/>
                </a:solidFill>
                <a:latin typeface="Courier New" pitchFamily="34" charset="0"/>
                <a:ea typeface="Courier New" pitchFamily="34" charset="-122"/>
                <a:cs typeface="Courier New" pitchFamily="34" charset="-120"/>
              </a:rPr>
              <a:t>scipy.stats.qmc</a:t>
            </a:r>
            <a:pPr indent="0" marL="0">
              <a:spcAft>
                <a:spcPts val="600"/>
              </a:spcAft>
              <a:buNone/>
            </a:pPr>
            <a:r>
              <a:rPr lang="en-US" sz="1700" dirty="0">
                <a:solidFill>
                  <a:schemeClr val="tx1"/>
                </a:solidFill>
              </a:rPr>
              <a:t>). </a:t>
            </a:r>
            <a:pPr indent="0" marL="0">
              <a:spcAft>
                <a:spcPts val="600"/>
              </a:spcAft>
              <a:buNone/>
            </a:pPr>
            <a:r>
              <a:rPr lang="en-US" sz="1700" b="1" dirty="0">
                <a:solidFill>
                  <a:schemeClr val="tx1"/>
                </a:solidFill>
              </a:rPr>
              <a:t>scikit-learn</a:t>
            </a:r>
            <a:pPr indent="0" marL="0">
              <a:spcAft>
                <a:spcPts val="600"/>
              </a:spcAft>
              <a:buNone/>
            </a:pPr>
            <a:r>
              <a:rPr lang="en-US" sz="1700" dirty="0">
                <a:solidFill>
                  <a:schemeClr val="tx1"/>
                </a:solidFill>
              </a:rPr>
              <a:t>: ML models with a consistent interface — </a:t>
            </a:r>
            <a:pPr indent="0" marL="0">
              <a:spcAft>
                <a:spcPts val="600"/>
              </a:spcAft>
              <a:buNone/>
            </a:pPr>
            <a:r>
              <a:rPr lang="en-US" sz="1700" dirty="0">
                <a:solidFill>
                  <a:schemeClr val="tx1"/>
                </a:solidFill>
                <a:latin typeface="Courier New" pitchFamily="34" charset="0"/>
                <a:ea typeface="Courier New" pitchFamily="34" charset="-122"/>
                <a:cs typeface="Courier New" pitchFamily="34" charset="-120"/>
              </a:rPr>
              <a:t>model.fit(X, y)</a:t>
            </a:r>
            <a:pPr indent="0" marL="0">
              <a:spcAft>
                <a:spcPts val="600"/>
              </a:spcAft>
              <a:buNone/>
            </a:pPr>
            <a:r>
              <a:rPr lang="en-US" sz="1700" dirty="0">
                <a:solidFill>
                  <a:schemeClr val="tx1"/>
                </a:solidFill>
              </a:rPr>
              <a:t>, then </a:t>
            </a:r>
            <a:pPr indent="0" marL="0">
              <a:spcAft>
                <a:spcPts val="600"/>
              </a:spcAft>
              <a:buNone/>
            </a:pPr>
            <a:r>
              <a:rPr lang="en-US" sz="1700" dirty="0">
                <a:solidFill>
                  <a:schemeClr val="tx1"/>
                </a:solidFill>
                <a:latin typeface="Courier New" pitchFamily="34" charset="0"/>
                <a:ea typeface="Courier New" pitchFamily="34" charset="-122"/>
                <a:cs typeface="Courier New" pitchFamily="34" charset="-120"/>
              </a:rPr>
              <a:t>model.predict(X_new)</a:t>
            </a:r>
            <a:pPr indent="0" marL="0">
              <a:spcAft>
                <a:spcPts val="600"/>
              </a:spcAft>
              <a:buNone/>
            </a:pPr>
            <a:r>
              <a:rPr lang="en-US" sz="1700" dirty="0">
                <a:solidFill>
                  <a:schemeClr val="tx1"/>
                </a:solidFill>
              </a:rPr>
              <a:t>.</a:t>
            </a:r>
            <a:endParaRPr lang="en-US" sz="1700" dirty="0"/>
          </a:p>
        </p:txBody>
      </p:sp>
      <p:pic>
        <p:nvPicPr>
          <p:cNvPr id="8" name="figure" descr="Layered diagram: Python at the bottom; NumPy and SciPy above; pandas, matplotlib and scikit-learn on top.">    </p:cNvPr>
          <p:cNvPicPr>
            <a:picLocks noChangeAspect="1"/>
          </p:cNvPicPr>
          <p:nvPr/>
        </p:nvPicPr>
        <p:blipFill>
          <a:blip r:embed="rId2"/>
          <a:stretch>
            <a:fillRect/>
          </a:stretch>
        </p:blipFill>
        <p:spPr>
          <a:xfrm>
            <a:off x="1622662" y="2743200"/>
            <a:ext cx="8946372"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Libraries build on each other: Python → NumPy/SciPy → pandas, matplotlib, scikit-learn.</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The scientific Python stack</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615440"/>
          </a:xfrm>
          <a:prstGeom prst="roundRect">
            <a:avLst>
              <a:gd name="adj" fmla="val 6792"/>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524000"/>
          </a:xfrm>
          <a:prstGeom prst="rect">
            <a:avLst/>
          </a:prstGeom>
          <a:noFill/>
          <a:ln/>
        </p:spPr>
        <p:txBody>
          <a:bodyPr wrap="square" lIns="1270" tIns="1270" rIns="1270" bIns="1270" rtlCol="0" anchor="ctr"/>
          <a:lstStyle/>
          <a:p>
            <a:pPr indent="0" marL="0">
              <a:spcAft>
                <a:spcPts val="800"/>
              </a:spcAft>
              <a:buNone/>
            </a:pPr>
            <a:r>
              <a:rPr lang="en-US" sz="1600" dirty="0">
                <a:solidFill>
                  <a:schemeClr val="tx1"/>
                </a:solidFill>
              </a:rPr>
              <a:t>The scikit-learn pattern:</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from sklearn.linear_model import LinearRegression</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model = LinearRegression()      # choose a model</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model.fit(X_train, y_train)     # learn parameters from training data</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y_pred = model.predict(X_test)  # predict for new inputs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The scientific Python stack</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The same three lines work for a polynomial pipeline, a random forest or a Gaussian process — which lets you compare surrogate families fairly with identical data.</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Record versions at the top of every notebook: </a:t>
            </a:r>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import sklearn; print(sklearn.__version__)</a:t>
            </a:r>
            <a:pPr indent="0" marL="0">
              <a:spcAft>
                <a:spcPts val="600"/>
              </a:spcAft>
              <a:buNone/>
            </a:pPr>
            <a:r>
              <a:rPr lang="en-US" sz="2000" dirty="0">
                <a:solidFill>
                  <a:schemeClr val="tx1"/>
                </a:solidFill>
              </a:rPr>
              <a:t>. Defaults change between versions.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Does </a:t>
            </a:r>
            <a:pPr indent="0" marL="0">
              <a:spcAft>
                <a:spcPts val="600"/>
              </a:spcAft>
              <a:buNone/>
            </a:pPr>
            <a:r>
              <a:rPr lang="en-US" sz="2800" dirty="0">
                <a:solidFill>
                  <a:schemeClr val="tx1"/>
                </a:solidFill>
                <a:latin typeface="Courier New" pitchFamily="34" charset="0"/>
                <a:ea typeface="Courier New" pitchFamily="34" charset="-122"/>
                <a:cs typeface="Courier New" pitchFamily="34" charset="-120"/>
              </a:rPr>
              <a:t>model.fit</a:t>
            </a:r>
            <a:pPr indent="0" marL="0">
              <a:spcAft>
                <a:spcPts val="600"/>
              </a:spcAft>
              <a:buNone/>
            </a:pPr>
            <a:r>
              <a:rPr lang="en-US" sz="2800" dirty="0">
                <a:solidFill>
                  <a:schemeClr val="tx1"/>
                </a:solidFill>
              </a:rPr>
              <a:t> change </a:t>
            </a:r>
            <a:pPr indent="0" marL="0">
              <a:spcAft>
                <a:spcPts val="600"/>
              </a:spcAft>
              <a:buNone/>
            </a:pPr>
            <a:r>
              <a:rPr lang="en-US" sz="2800" dirty="0">
                <a:solidFill>
                  <a:schemeClr val="tx1"/>
                </a:solidFill>
                <a:latin typeface="Courier New" pitchFamily="34" charset="0"/>
                <a:ea typeface="Courier New" pitchFamily="34" charset="-122"/>
                <a:cs typeface="Courier New" pitchFamily="34" charset="-120"/>
              </a:rPr>
              <a:t>X_train</a:t>
            </a:r>
            <a:pPr indent="0" marL="0">
              <a:spcAft>
                <a:spcPts val="600"/>
              </a:spcAft>
              <a:buNone/>
            </a:pPr>
            <a:r>
              <a:rPr lang="en-US" sz="2800" dirty="0">
                <a:solidFill>
                  <a:schemeClr val="tx1"/>
                </a:solidFill>
              </a:rPr>
              <a:t>?</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Does model.fit change X_train?</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It changes the model’s internal parameters (e.g., </a:t>
            </a:r>
            <a:pPr indent="0" marL="0">
              <a:spcAft>
                <a:spcPts val="600"/>
              </a:spcAft>
              <a:buNone/>
            </a:pPr>
            <a:r>
              <a:rPr lang="en-US" sz="2600" dirty="0">
                <a:solidFill>
                  <a:schemeClr val="tx1"/>
                </a:solidFill>
                <a:latin typeface="Courier New" pitchFamily="34" charset="0"/>
                <a:ea typeface="Courier New" pitchFamily="34" charset="-122"/>
                <a:cs typeface="Courier New" pitchFamily="34" charset="-120"/>
              </a:rPr>
              <a:t>model.coef_</a:t>
            </a:r>
            <a:pPr indent="0" marL="0">
              <a:spcAft>
                <a:spcPts val="600"/>
              </a:spcAft>
              <a:buNone/>
            </a:pPr>
            <a:r>
              <a:rPr lang="en-US" sz="2600" dirty="0">
                <a:solidFill>
                  <a:schemeClr val="tx1"/>
                </a:solidFill>
              </a:rPr>
              <a:t>); the data are unchanged.</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The scientific Python stack</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Library calls are magic black boxes you need not understand.</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1900" dirty="0">
                <a:solidFill>
                  <a:schemeClr val="tx1"/>
                </a:solidFill>
              </a:rPr>
              <a:t> You must know what each call assumes (scaling, kernel, defaults). In this course’s labs, key algorithms (LHS, GP equations, expected improvement) are also written out by hand so you can see inside.</a:t>
            </a:r>
            <a:endParaRPr lang="en-US" sz="19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NumPy/SciPy compute, pandas organizes, matplotlib shows, scikit-learn fits — always with fit → predict.</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Random seeds make randomness repeatable</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700" dirty="0">
                <a:solidFill>
                  <a:schemeClr val="tx1"/>
                </a:solidFill>
              </a:rPr>
              <a:t>Many steps use random numbers: sampling designs, splitting data, initializing models. Computers generate </a:t>
            </a:r>
            <a:pPr indent="0" marL="0">
              <a:spcAft>
                <a:spcPts val="600"/>
              </a:spcAft>
              <a:buNone/>
            </a:pPr>
            <a:r>
              <a:rPr lang="en-US" sz="1700" b="1" dirty="0">
                <a:solidFill>
                  <a:schemeClr val="tx1"/>
                </a:solidFill>
              </a:rPr>
              <a:t>pseudo-random</a:t>
            </a:r>
            <a:pPr indent="0" marL="0">
              <a:spcAft>
                <a:spcPts val="600"/>
              </a:spcAft>
              <a:buNone/>
            </a:pPr>
            <a:r>
              <a:rPr lang="en-US" sz="1700" dirty="0">
                <a:solidFill>
                  <a:schemeClr val="tx1"/>
                </a:solidFill>
              </a:rPr>
              <a:t> numbers from a starting value called a </a:t>
            </a:r>
            <a:pPr indent="0" marL="0">
              <a:spcAft>
                <a:spcPts val="600"/>
              </a:spcAft>
              <a:buNone/>
            </a:pPr>
            <a:r>
              <a:rPr lang="en-US" sz="1700" b="1" dirty="0">
                <a:solidFill>
                  <a:schemeClr val="tx1"/>
                </a:solidFill>
              </a:rPr>
              <a:t>seed</a:t>
            </a:r>
            <a:pPr indent="0" marL="0">
              <a:spcAft>
                <a:spcPts val="600"/>
              </a:spcAft>
              <a:buNone/>
            </a:pPr>
            <a:r>
              <a:rPr lang="en-US" sz="1700" dirty="0">
                <a:solidFill>
                  <a:schemeClr val="tx1"/>
                </a:solidFill>
              </a:rPr>
              <a:t>. Same seed → same sequence → same results. Different seeds show how much your conclusions depend on luck.</a:t>
            </a:r>
            <a:endParaRPr lang="en-US" sz="1700" dirty="0"/>
          </a:p>
        </p:txBody>
      </p:sp>
      <p:pic>
        <p:nvPicPr>
          <p:cNvPr id="8" name="figure" descr="A slider chooses a seed; five random numbers are displayed. Pressing “run again” with the same seed shows identical numbers; changing the seed changes them.">    </p:cNvPr>
          <p:cNvPicPr>
            <a:picLocks noChangeAspect="1"/>
          </p:cNvPicPr>
          <p:nvPr/>
        </p:nvPicPr>
        <p:blipFill>
          <a:blip r:embed="rId2"/>
          <a:stretch>
            <a:fillRect/>
          </a:stretch>
        </p:blipFill>
        <p:spPr>
          <a:xfrm>
            <a:off x="548640" y="2743200"/>
            <a:ext cx="11094415" cy="2469084"/>
          </a:xfrm>
          <a:prstGeom prst="rect">
            <a:avLst/>
          </a:prstGeom>
        </p:spPr>
      </p:pic>
      <p:sp>
        <p:nvSpPr>
          <p:cNvPr id="9" name="Text 4"/>
          <p:cNvSpPr txBox="1"/>
          <p:nvPr/>
        </p:nvSpPr>
        <p:spPr>
          <a:xfrm>
            <a:off x="548640" y="5258004"/>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The same seed always reproduces the same “random” numbers. (Interactive in the online course.)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Random seeds make randomness repeatable</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119632"/>
          </a:xfrm>
          <a:prstGeom prst="roundRect">
            <a:avLst>
              <a:gd name="adj" fmla="val 9800"/>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028192"/>
          </a:xfrm>
          <a:prstGeom prst="rect">
            <a:avLst/>
          </a:prstGeom>
          <a:noFill/>
          <a:ln/>
        </p:spPr>
        <p:txBody>
          <a:bodyPr wrap="square" lIns="1270" tIns="1270" rIns="1270" bIns="127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rng = np.random.default_rng(seed=42)   # create a generator with a fixed seed</a:t>
            </a:r>
            <a:endParaRPr lang="en-US" sz="1600" dirty="0"/>
          </a:p>
          <a:p>
            <a:pPr indent="0" marL="0">
              <a:spcAft>
                <a:spcPts val="800"/>
              </a:spcAft>
              <a:buNone/>
            </a:pPr>
            <a:r>
              <a:rPr lang="en-US" sz="1600" dirty="0">
                <a:solidFill>
                  <a:schemeClr val="tx1"/>
                </a:solidFill>
                <a:latin typeface="Courier New" pitchFamily="34" charset="0"/>
                <a:ea typeface="Courier New" pitchFamily="34" charset="-122"/>
                <a:cs typeface="Courier New" pitchFamily="34" charset="-120"/>
              </a:rPr>
              <a:t>x = rng.uniform(0.8, 3.0, size=5)      # five random fin gaps in mm</a:t>
            </a:r>
            <a:endParaRPr lang="en-US" sz="1600" dirty="0"/>
          </a:p>
          <a:p>
            <a:pPr indent="0" marL="0">
              <a:buNone/>
            </a:pPr>
            <a:r>
              <a:rPr lang="en-US" sz="1600" dirty="0">
                <a:solidFill>
                  <a:schemeClr val="tx1"/>
                </a:solidFill>
              </a:rPr>
              <a:t>Pass </a:t>
            </a:r>
            <a:pPr indent="0" marL="0">
              <a:buNone/>
            </a:pPr>
            <a:r>
              <a:rPr lang="en-US" sz="1600" dirty="0">
                <a:solidFill>
                  <a:schemeClr val="tx1"/>
                </a:solidFill>
                <a:latin typeface="Courier New" pitchFamily="34" charset="0"/>
                <a:ea typeface="Courier New" pitchFamily="34" charset="-122"/>
                <a:cs typeface="Courier New" pitchFamily="34" charset="-120"/>
              </a:rPr>
              <a:t>random_state=42</a:t>
            </a:r>
            <a:pPr indent="0" marL="0">
              <a:buNone/>
            </a:pPr>
            <a:r>
              <a:rPr lang="en-US" sz="1600" dirty="0">
                <a:solidFill>
                  <a:schemeClr val="tx1"/>
                </a:solidFill>
              </a:rPr>
              <a:t> to scikit-learn functions that use randomness.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Random seeds make randomness repeatable</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Reporting “a Latin hypercube of 20 points (SciPy 1.x, seed 7)” lets a reviewer regenerate your exact designs. Reporting results over seeds 1–10 shows variability (Module 13).</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Create one generator per notebook (</a:t>
            </a:r>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rng = np.random.default_rng(seed)</a:t>
            </a:r>
            <a:pPr indent="0" marL="0">
              <a:spcAft>
                <a:spcPts val="600"/>
              </a:spcAft>
              <a:buNone/>
            </a:pPr>
            <a:r>
              <a:rPr lang="en-US" sz="2000" dirty="0">
                <a:solidFill>
                  <a:schemeClr val="tx1"/>
                </a:solidFill>
              </a:rPr>
              <a:t>) near the top and pass it around, instead of scattering different seeds.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You fix the seed and get a lucky, excellent result. Is it fair to report only that seed?</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You fix the seed and get a lucky, excellent result. Is it fair to report only that seed?</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Fixing a seed makes a result </a:t>
            </a:r>
            <a:pPr indent="0" marL="0">
              <a:spcAft>
                <a:spcPts val="600"/>
              </a:spcAft>
              <a:buNone/>
            </a:pPr>
            <a:r>
              <a:rPr lang="en-US" sz="2600" i="1" dirty="0">
                <a:solidFill>
                  <a:schemeClr val="tx1"/>
                </a:solidFill>
              </a:rPr>
              <a:t>reproducible</a:t>
            </a:r>
            <a:pPr indent="0" marL="0">
              <a:spcAft>
                <a:spcPts val="600"/>
              </a:spcAft>
              <a:buNone/>
            </a:pPr>
            <a:r>
              <a:rPr lang="en-US" sz="2600" dirty="0">
                <a:solidFill>
                  <a:schemeClr val="tx1"/>
                </a:solidFill>
              </a:rPr>
              <a:t>, not </a:t>
            </a:r>
            <a:pPr indent="0" marL="0">
              <a:spcAft>
                <a:spcPts val="600"/>
              </a:spcAft>
              <a:buNone/>
            </a:pPr>
            <a:r>
              <a:rPr lang="en-US" sz="2600" i="1" dirty="0">
                <a:solidFill>
                  <a:schemeClr val="tx1"/>
                </a:solidFill>
              </a:rPr>
              <a:t>representative</a:t>
            </a:r>
            <a:pPr indent="0" marL="0">
              <a:spcAft>
                <a:spcPts val="600"/>
              </a:spcAft>
              <a:buNone/>
            </a:pPr>
            <a:r>
              <a:rPr lang="en-US" sz="2600" dirty="0">
                <a:solidFill>
                  <a:schemeClr val="tx1"/>
                </a:solidFill>
              </a:rPr>
              <a:t>. Repeat with several seeds and report the spread.</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NumPy, pandas, matplotlib, scikit-learn — and reproducible seeds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Random seeds make randomness repeatable</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Setting a seed makes results correct.</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It makes them repeatable. Correctness requires validation; representativeness requires repeats.</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Seeds give reproducibility; multiple seeds reveal variability.</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The scientific Python stack</a:t>
            </a:r>
            <a:endParaRPr lang="en-US" sz="2100" dirty="0"/>
          </a:p>
          <a:p>
            <a:pPr indent="0" marL="0">
              <a:buNone/>
            </a:pPr>
            <a:r>
              <a:rPr lang="en-US" sz="2100" dirty="0">
                <a:solidFill>
                  <a:schemeClr val="tx1"/>
                </a:solidFill>
              </a:rPr>
              <a:t>NumPy/SciPy compute, pandas organizes, matplotlib shows, scikit-learn fits — always with fit → predict.</a:t>
            </a:r>
            <a:endParaRPr lang="en-US" sz="2100" dirty="0"/>
          </a:p>
        </p:txBody>
      </p:sp>
      <p:sp>
        <p:nvSpPr>
          <p:cNvPr id="8" name="takeaway-2"/>
          <p:cNvSpPr/>
          <p:nvPr/>
        </p:nvSpPr>
        <p:spPr>
          <a:xfrm>
            <a:off x="6255868"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9" name="Text 6"/>
          <p:cNvSpPr txBox="1"/>
          <p:nvPr/>
        </p:nvSpPr>
        <p:spPr>
          <a:xfrm>
            <a:off x="6420460"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6941668"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Random seeds make randomness repeatable</a:t>
            </a:r>
            <a:endParaRPr lang="en-US" sz="2100" dirty="0"/>
          </a:p>
          <a:p>
            <a:pPr indent="0" marL="0">
              <a:buNone/>
            </a:pPr>
            <a:r>
              <a:rPr lang="en-US" sz="2100" dirty="0">
                <a:solidFill>
                  <a:schemeClr val="tx1"/>
                </a:solidFill>
              </a:rPr>
              <a:t>Seeds give reproducibility; multiple seeds reveal variability.</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2.4</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A small engineering dataset, reading errors, checking units, setup</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2: Lesson 4.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Lesson 3: NumPy, pandas, matplotlib, scikit-learn — and reproducible seeds</dc:title>
  <dc:subject>Machine Learning Fundamentals for Surrogate-Based Engineering Optimization</dc:subject>
  <dc:creator>Prof. Mazharul Islam</dc:creator>
  <cp:lastModifiedBy>Prof. Mazharul Islam</cp:lastModifiedBy>
  <cp:revision>1</cp:revision>
  <dcterms:created xsi:type="dcterms:W3CDTF">2026-10-07T01:12:30Z</dcterms:created>
  <dcterms:modified xsi:type="dcterms:W3CDTF">2026-10-07T01:12:30Z</dcterms:modified>
</cp:coreProperties>
</file>