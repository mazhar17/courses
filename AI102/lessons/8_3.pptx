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c794384-efe2-886a-47d5-774fd031bbac}">
          <p14:sldIdLst>
            <p14:sldId id="256"/>
          </p14:sldIdLst>
        </p14:section>
        <p14:section name="Lesson 3: Gaussian processes, comparison table and a worked comparison" id="{5b2e7840-e1a1-7734-28e0-998e98370733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Summary" id="{b2199834-25d0-090d-16a9-ad24bdad5eef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8, Lesson 3 of the self-paced course Machine Learning Fundamentals for Surrogate-Based Engineering Optimization: Gaussian processes, comparison table and a worked comparison. This lesson belongs to the module Surrogate model families and takes about 14 minutes. In this lesson: Choosing a surrogate family.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Choosing a surrogate family. A Gaussian process (GP) treats the unknown function as random with a specified correlation structure: nearby designs have similar outputs. It interpolates noise-free data, is smooth, and gives a predictive uncertainty (Module 9). Its cost grows as n³, which is negligible for tens or hundreds of samples. No model wins everywhere; compare candidates on the same data with the same validation. Look at the figure. Worked comparison (computed live): five families trained on the same Latin-hypercube samples of the heat sink, scored on 300 validation designs with three error measures. A table lists, for quadratic and cubic polynomials, cubic RBF, Gaussian process and simplified random forest: RMSE over all validation designs, median absolute error, RMSE among good designs (R below 0.7 K/W), maximum error, fit time and prediction time. A diverging error map shows where the selected model errs; the largest errors sit in the steep corner of small gaps and thick fins.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another view. You can add samples and watch the GP surrogate and its error map change. Left: GP surrogate map with sample points; clicking adds a sample. Right: signed error map. Errors shrink where samples are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mathematics. Fair comparison protocol: same training samples, same validation data, same output transform (log₁₀R here), metrics in engineering units back-transformed (R̂ = 10^{prediction}), and report both accuracy and cost (fit + prediction time, number of expensive runs).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a reference table. General guidance from common practice, not universal rules. Polynomial (quadratic), Data needed (smooth, d ≈ 2–10): ≥ (d+1)(d+2)/2, ideally 1.5–2×, Fit cost: very low, Smooth / differentiable: yes, Uncertainty: only via statistics of residuals, Typical use: baseline; noisy experiments; interpretable effects. RBF interpolant, Data needed (smooth, d ≈ 2–10): 10–20 per dimension, Fit cost: low (solve n×n), Smooth / differentiable: yes (cubic: twice differentiable), Uncertainty: no, Typical use: deterministic simulators. Random forest, Data needed (smooth, d ≈ 2–10): moderate–large, Fit cost: low–moderate, Smooth / differentiable: no (piecewise constant), Uncertainty: rough (tree spread), Typical use: many variables, categorical, noisy data. Gaussian process, Data needed (smooth, d ≈ 2–10): 10–20 per dimension, Fit cost: O(n³), fine to ~10³, Smooth / differentiable: yes (SE kernel: infinitely), Uncertainty: yes (model-based), Typical use: expensive simulators, Bayesian optimization. Neural network, Data needed (smooth, d ≈ 2–10): large (hundreds–thousands+), Fit cost: moderate–high, tuning-heavy, Smooth / differentiable: yes with smooth activations, Uncertainty: not by default, Typical use: large datasets, fields, images.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does this matter in engineering? What the demo typically shows with 20 LHS samples (author’s check over 10 seeds): the cubic polynomial often has the lowest overall RMSE (≈0.05 K/W), because overall RMSE is dominated by a few validation points in the steep corner (small gaps, thick fins) where R reaches 2–4 K/W; the GP and cubic RBF have the smallest median errors (≈0.006 K/W) and are usually most accurate among good designs; the quadratic is limited by its shape; the forest is worst on every measure. Lesson: the metric and the region you evaluate decide the ranking — for optimization, accuracy among good designs matters most. Lab 5 shows the same pattern with scikit-learn. A practical tip: Keep a quadratic polynomial and a GP in every comparison: one robust baseline and one flexible, uncertainty-aware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predict. Going from 20 to 30 samples roughly halves the GP’s typical error in the demo. What do 10 extra samples cost in a real CFD study, and in GP fitting? Pause here and commit to an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answer. In CFD: 10 more expensive runs (hours each). GP fitting cost rises by about (30/20)³ ≈ 3.4× (n³ scaling) but remains milliseconds — negligible compared with the simulations.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misconception is this: The model with lowest training error is best. In fact: Interpolating models have zero training error by construction. Compare on validation data. The takeaway: Choose by validation accuracy where it matters, smoothness needs, uncertainty needs and data size — not by fashion.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 up this lesson. Choosing a surrogate family: Choose by validation accuracy where it matters, smoothness needs, uncertainty needs and data size — not by fashion.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completes Lesson 3 of Module 8: Gaussian processes, comparison table and a worked comparison. This was the last lesson of the module, so review the flashcards and take the Module 8 quiz in the course. Next comes Module 9, Gaussian processes and uncertainty, starting with Mean prediction and predictive uncertainty.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5806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Machine Learning Fundamentals for Surrogate-Based Engineering Optimization · course version 3.0.0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48640" y="6126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© 2026 Prof. Mazharul Islam · CC BY 4.0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ECF7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</a:rPr>
              <a:t>Module 8, Lesson 3 · Gaussian processes, comparison table and a worked comparison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Module 8, Lesson 3 · Gaussian processes, comparison table and a worked comparison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22376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© 2026 Prof. Mazharul Islam · CC BY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MODULE 08 · LESSON 3 OF 3 · ≈ 14 MIN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Gaussian processes, comparison table and a worked comparison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6E2F0"/>
                </a:solidFill>
              </a:rPr>
              <a:t>Module 8: Surrogate model families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E2F0"/>
                </a:solidFill>
              </a:rPr>
              <a:t>Choosing a surrogate family</a:t>
            </a:r>
            <a:endParaRPr lang="en-US" sz="1800" dirty="0"/>
          </a:p>
        </p:txBody>
      </p:sp>
      <p:sp>
        <p:nvSpPr>
          <p:cNvPr id="5" name="lesson-number-ring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sp>
        <p:nvSpPr>
          <p:cNvPr id="6" name="lesson-number"/>
          <p:cNvSpPr txBox="1"/>
          <p:nvPr/>
        </p:nvSpPr>
        <p:spPr>
          <a:xfrm>
            <a:off x="8732520" y="1417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8.3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Gaussian processes, comparison table and a worked comparison · Intuition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Choosing a surrogate family</a:t>
            </a:r>
            <a:endParaRPr lang="en-US" sz="3200" dirty="0"/>
          </a:p>
        </p:txBody>
      </p:sp>
      <p:sp>
        <p:nvSpPr>
          <p:cNvPr id="5" name="intuition-card"/>
          <p:cNvSpPr/>
          <p:nvPr/>
        </p:nvSpPr>
        <p:spPr>
          <a:xfrm>
            <a:off x="548640" y="169164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icon-bg-intu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in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95221"/>
            <a:ext cx="261518" cy="261518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685800" y="2468880"/>
            <a:ext cx="4846320" cy="3611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A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Gaussian process (GP)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treats the unknown function as random with a specified correlation structure: nearby designs have similar outputs. It interpolates noise-free data, is smooth, and gives a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predictive uncertainty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(Module 9). Its cost grows as </a:t>
            </a:r>
            <a:pPr indent="0" marL="0">
              <a:spcAft>
                <a:spcPts val="6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n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³, which is negligible for tens or hundreds of samples. No model wins everywhere; compare candidates on the same data with the same validation.</a:t>
            </a:r>
            <a:endParaRPr lang="en-US" sz="1900" dirty="0"/>
          </a:p>
        </p:txBody>
      </p:sp>
      <p:pic>
        <p:nvPicPr>
          <p:cNvPr id="9" name="figure" descr="A table lists, for quadratic and cubic polynomials, cubic RBF, Gaussian process and simplified random forest: RMSE over all validation designs, median absolute error, RMSE among good designs (R below 0.7 K/W), maximum error, fit time and prediction time. A diverging error map shows where the selected model errs; the largest errors sit in the steep corner of small gaps and thick fins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462" y="1691640"/>
            <a:ext cx="2995452" cy="39776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989320" y="5715000"/>
            <a:ext cx="5653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6525F"/>
                </a:solidFill>
              </a:rPr>
              <a:t>Worked comparison (computed live): five families trained on the same Latin-hypercube samples of the heat sink, scored on 300 validation designs with three error measures.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Gaussian processes, comparison table and a worked comparison · Figure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Choosing a surrogate family</a:t>
            </a:r>
            <a:endParaRPr lang="en-US" sz="3200" dirty="0"/>
          </a:p>
        </p:txBody>
      </p:sp>
      <p:pic>
        <p:nvPicPr>
          <p:cNvPr id="5" name="figure" descr="Left: GP surrogate map with sample points; clicking adds a sample. Right: signed error map. Errors shrink where samples are adde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2064" y="1645920"/>
            <a:ext cx="8307568" cy="3931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6525F"/>
                </a:solidFill>
              </a:rPr>
              <a:t>You can add samples and watch the GP surrogate and its error map change. (Interactive in the online course.)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Gaussian processes, comparison table and a worked comparison · The mathematics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Choosing a surrogate family</a:t>
            </a:r>
            <a:endParaRPr lang="en-US" sz="32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1513840"/>
          </a:xfrm>
          <a:prstGeom prst="roundRect">
            <a:avLst>
              <a:gd name="adj" fmla="val 7248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1422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Fair comparison protocol: same training samples, same validation data, same output transform (log₁₀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R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here), metrics in engineering units back-transformed (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R̂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10</a:t>
            </a:r>
            <a:pPr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prediction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), and report both accuracy and cost (fit + prediction time, number of expensive runs).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Gaussian processes, comparison table and a worked comparison · Reference table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Choosing a surrogate family</a:t>
            </a:r>
            <a:endParaRPr lang="en-US" sz="3200" dirty="0"/>
          </a:p>
        </p:txBody>
      </p:sp>
      <p:sp>
        <p:nvSpPr>
          <p:cNvPr id="5" name="icon-bg-list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lis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584200"/>
          </a:xfrm>
          <a:prstGeom prst="roundRect">
            <a:avLst>
              <a:gd name="adj" fmla="val 18783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4927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General guidance from common practice, not universal rules.</a:t>
            </a:r>
            <a:endParaRPr lang="en-US" sz="2000" dirty="0"/>
          </a:p>
        </p:txBody>
      </p:sp>
      <p:graphicFrame>
        <p:nvGraphicFramePr>
          <p:cNvPr id="6" name="math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4440" y="2367280"/>
          <a:ext cx="10408615" cy="914400"/>
        </p:xfrm>
        <a:graphic>
          <a:graphicData uri="http://schemas.openxmlformats.org/drawingml/2006/table">
            <a:tbl>
              <a:tblPr/>
              <a:tblGrid>
                <a:gridCol w="1734769"/>
                <a:gridCol w="1734769"/>
                <a:gridCol w="1734769"/>
                <a:gridCol w="1734769"/>
                <a:gridCol w="1734769"/>
                <a:gridCol w="173476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Family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Data needed (smooth, d ≈ 2–10)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Fit cost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Smooth / differentiable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Uncertainty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Typical use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Polynomial (quadratic)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≥ (d+1)(d+2)/2, ideally 1.5–2×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very low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only via statistics of residuals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baseline; noisy experiments; interpretable effects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RBF interpolant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10–20 per dimension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low (solve n×n)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yes (cubic: twice differentiable)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deterministic simulators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Random forest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moderate–large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low–moderate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no (piecewise constant)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rough (tree spread)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many variables, categorical, noisy data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Gaussian process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10–20 per dimension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O(n³), fine to ~10³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yes (SE kernel: infinitely)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yes (model-based)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expensive simulators, Bayesian optimization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Neural network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large (hundreds–thousands+)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moderate–high, tuning-heavy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yes with smooth activations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not by default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large datasets, fields, images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Gaussian processes, comparison table and a worked comparison · In engineering practice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Choosing a surrogate family</a:t>
            </a:r>
            <a:endParaRPr lang="en-US" sz="3200" dirty="0"/>
          </a:p>
        </p:txBody>
      </p:sp>
      <p:sp>
        <p:nvSpPr>
          <p:cNvPr id="5" name="Engineering application"/>
          <p:cNvSpPr/>
          <p:nvPr/>
        </p:nvSpPr>
        <p:spPr>
          <a:xfrm>
            <a:off x="548640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" name="icon-bg-ap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-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Engineering application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What the demo typically shows with 20 LHS samples (author’s check over 10 seeds): the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cubic polynomial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often has the lowest overall RMSE (≈0.05 K/W), because overall RMSE is dominated by a few validation points in the steep corner (small gaps, thick fins) where R reaches 2–4 K/W; the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GP and cubic RBF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have the smallest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median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errors (≈0.006 K/W) and are usually most accurate among good designs; the quadratic is limited by its shape; the forest is worst on every measure. Lesson: the metric and the region you evaluate decide the ranking — for optimization, accuracy among good designs matters most. Lab 5 shows the same pattern with scikit-learn.</a:t>
            </a:r>
            <a:endParaRPr lang="en-US" sz="1400" dirty="0"/>
          </a:p>
        </p:txBody>
      </p:sp>
      <p:sp>
        <p:nvSpPr>
          <p:cNvPr id="10" name="Practical tip"/>
          <p:cNvSpPr/>
          <p:nvPr/>
        </p:nvSpPr>
        <p:spPr>
          <a:xfrm>
            <a:off x="6278728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1" name="icon-bg-tip"/>
          <p:cNvSpPr/>
          <p:nvPr/>
        </p:nvSpPr>
        <p:spPr>
          <a:xfrm>
            <a:off x="6553048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t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110" y="20563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tip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Keep a quadratic polynomial and a GP in every comparison: one robust baseline and one flexible, uncertainty-aware model.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Gaussian processes, comparison table and a worked comparison · Predict before you look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Pause and predict</a:t>
            </a:r>
            <a:endParaRPr lang="en-US" sz="3200" dirty="0"/>
          </a:p>
        </p:txBody>
      </p:sp>
      <p:sp>
        <p:nvSpPr>
          <p:cNvPr id="5" name="question-card"/>
          <p:cNvSpPr/>
          <p:nvPr/>
        </p:nvSpPr>
        <p:spPr>
          <a:xfrm>
            <a:off x="548640" y="173736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accent2">
              <a:alpha val="9000"/>
            </a:schemeClr>
          </a:solidFill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" name="icon-bg-predict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predi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80390" cy="38039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874520" y="1965960"/>
            <a:ext cx="9448495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Going from 20 to 30 samples roughly halves the GP’s typical error in the demo. What do 10 extra samples cost in a real CFD study, and in GP fitting?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6525F"/>
                </a:solidFill>
              </a:rPr>
              <a:t>Write down your answer, then continue to the next slide.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Gaussian processes, comparison table and a worked comparison · Answer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happens, and why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525F"/>
                </a:solidFill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46525F"/>
                </a:solidFill>
              </a:rPr>
              <a:t>Going from 20 to 30 samples roughly halves the GP’s typical error in the demo. What do 10 extra samples cost in a real CFD study, and in GP fitting?</a:t>
            </a:r>
            <a:endParaRPr lang="en-US" sz="1400" dirty="0"/>
          </a:p>
        </p:txBody>
      </p:sp>
      <p:sp>
        <p:nvSpPr>
          <p:cNvPr id="6" name="answer-card"/>
          <p:cNvSpPr/>
          <p:nvPr/>
        </p:nvSpPr>
        <p:spPr>
          <a:xfrm>
            <a:off x="548640" y="2606040"/>
            <a:ext cx="11094415" cy="3566160"/>
          </a:xfrm>
          <a:prstGeom prst="roundRect">
            <a:avLst>
              <a:gd name="adj" fmla="val 307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7" name="icon-bg-answer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answ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74520" y="2788920"/>
            <a:ext cx="9448495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In CFD: 10 more expensive runs (hours each). GP fitting cost rises by about (30/20)³ ≈ 3.4× (n³ scaling) but remains milliseconds — negligible compared with the simulations.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Gaussian processes, comparison table and a worked comparison · Common misconception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Choosing a surrogate family</a:t>
            </a:r>
            <a:endParaRPr lang="en-US" sz="3200" dirty="0"/>
          </a:p>
        </p:txBody>
      </p:sp>
      <p:sp>
        <p:nvSpPr>
          <p:cNvPr id="5" name="Misconception"/>
          <p:cNvSpPr/>
          <p:nvPr/>
        </p:nvSpPr>
        <p:spPr>
          <a:xfrm>
            <a:off x="548640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6">
              <a:alpha val="9000"/>
            </a:schemeClr>
          </a:solidFill>
          <a:ln w="1270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6" name="icon-bg-mis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con-mi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Misconception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The model with lowest training error is best.</a:t>
            </a:r>
            <a:endParaRPr lang="en-US" sz="2000" dirty="0"/>
          </a:p>
        </p:txBody>
      </p:sp>
      <p:sp>
        <p:nvSpPr>
          <p:cNvPr id="10" name="What is actually true"/>
          <p:cNvSpPr/>
          <p:nvPr/>
        </p:nvSpPr>
        <p:spPr>
          <a:xfrm>
            <a:off x="6278728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3">
              <a:alpha val="9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1" name="icon-bg-cor"/>
          <p:cNvSpPr/>
          <p:nvPr/>
        </p:nvSpPr>
        <p:spPr>
          <a:xfrm>
            <a:off x="6553048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c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06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actually true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Interpolating models have zero training error by construction. Compare on validation data.</a:t>
            </a:r>
            <a:endParaRPr lang="en-US" sz="2000" dirty="0"/>
          </a:p>
        </p:txBody>
      </p:sp>
      <p:sp>
        <p:nvSpPr>
          <p:cNvPr id="15" name="takeaway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icon-bg-take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389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983480"/>
            <a:ext cx="985997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Takeaway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Choose by validation accuracy where it matters, smoothness needs, uncertainty needs and data size — not by fashion.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Summary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takeaways from this lesson</a:t>
            </a:r>
            <a:endParaRPr lang="en-US" sz="3200" dirty="0"/>
          </a:p>
        </p:txBody>
      </p:sp>
      <p:sp>
        <p:nvSpPr>
          <p:cNvPr id="5" name="takeaway-1"/>
          <p:cNvSpPr/>
          <p:nvPr/>
        </p:nvSpPr>
        <p:spPr>
          <a:xfrm>
            <a:off x="548640" y="1645920"/>
            <a:ext cx="5387188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19072"/>
            <a:ext cx="4564228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Choosing a surrogate family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Choose by validation accuracy where it matters, smoothness needs, uncertainty needs and data size — not by fashion.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UP NEXT · LESSON 9.1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Mean prediction and predictive uncertainty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That completes Module 8. Before moving on, review the Module 8 flashcards and take its quiz in the course (pass mark 70%). Next: Module 9, Gaussian processes and uncertainty.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pic>
        <p:nvPicPr>
          <p:cNvPr id="6" name="icon-n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331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LSO Course">
  <a:themeElements>
    <a:clrScheme name="MLSO Course">
      <a:dk1>
        <a:srgbClr val="18212B"/>
      </a:dk1>
      <a:lt1>
        <a:srgbClr val="FFFFFF"/>
      </a:lt1>
      <a:dk2>
        <a:srgbClr val="123B6B"/>
      </a:dk2>
      <a:lt2>
        <a:srgbClr val="EEF2F7"/>
      </a:lt2>
      <a:accent1>
        <a:srgbClr val="1F5FA8"/>
      </a:accent1>
      <a:accent2>
        <a:srgbClr val="C2500A"/>
      </a:accent2>
      <a:accent3>
        <a:srgbClr val="1A6E3D"/>
      </a:accent3>
      <a:accent4>
        <a:srgbClr val="B98500"/>
      </a:accent4>
      <a:accent5>
        <a:srgbClr val="7A3FB0"/>
      </a:accent5>
      <a:accent6>
        <a:srgbClr val="B3261E"/>
      </a:accent6>
      <a:hlink>
        <a:srgbClr val="1F5FA8"/>
      </a:hlink>
      <a:folHlink>
        <a:srgbClr val="7A3FB0"/>
      </a:folHlink>
    </a:clrScheme>
    <a:fontScheme name="MLSO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Self-paced course (CC BY 4.0)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8, Lesson 3: Gaussian processes, comparison table and a worked comparison</dc:title>
  <dc:subject>Machine Learning Fundamentals for Surrogate-Based Engineering Optimization</dc:subject>
  <dc:creator>Prof. Mazharul Islam</dc:creator>
  <cp:lastModifiedBy>Prof. Mazharul Islam</cp:lastModifiedBy>
  <cp:revision>1</cp:revision>
  <dcterms:created xsi:type="dcterms:W3CDTF">2026-10-07T01:12:31Z</dcterms:created>
  <dcterms:modified xsi:type="dcterms:W3CDTF">2026-10-07T01:12:31Z</dcterms:modified>
</cp:coreProperties>
</file>