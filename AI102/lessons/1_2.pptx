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4a3230a-307d-6bd8-bb8d-96b081058421}">
          <p14:sldIdLst>
            <p14:sldId id="256"/>
          </p14:sldIdLst>
        </p14:section>
        <p14:section name="Lesson 2: Learning from examples, and three kinds of learning" id="{2cda05a2-37c4-5bf6-96fa-b7929c8beb7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ummary" id="{ca52f919-0afd-7a47-62b6-1e2b04b1dcc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1, Lesson 2 of the self-paced course Machine Learning Fundamentals for Surrogate-Based Engineering Optimization: Learning from examples, and three kinds of learning. This lesson belongs to the module AI and ML from the beginning and takes about 8 minutes. In this lesson: Explicit rules versus learned rules; Supervised, unsupervised and reinforcement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rules versus learned rules. A conventional program encodes rules the engineer wrote: “if the fin is thicker than 1 mm, then…”. A machine-learning program is given examples — pairs of inputs and correct outputs — plus a flexible model with adjustable parameters. A learning algorithm adjusts the parameters so the model reproduces the examples well, and (we hope) predicts well for new inputs. Look at the figure. Left: rules written by an engineer map inputs to outputs. Right: a learning algorithm derives the rule from examples, and the trained model then predicts for new inputs. Two flowcharts. Programmed: inputs and engineer-written rules produce an output. ML: examples feed a learning algorithm that produces a trained model; a new input goes into the trained model to produce a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“Learning” usually means choosing parameters θ to minimize a loss on the n training examples: θ̂ = arg min_θ (1)/(n) Σ_i_{=1}^n ( y_i − f̂(x_i; θ) )^2 (x_i, y_i) is the the i-th training example. arg min is the “the value of θ that minimizes”. n is the number of examples, in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 machining engineer has 60 test cuts with cutting speed, feed, depth and measured surface roughness R_a (µm). Instead of deriving a full tribological model, they fit a regression model to predict R_a for new settings inside the tested range. A practical tip: Always ask what the examples cover. The range of the training data is the model’s comfort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If all 60 test cuts used feeds between 0.05 and 0.20 mm/rev, should you trust the model at 0.40 mm/rev?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No. That is extrapolation: the model has never seen that region, and nothing in the learning process constrains its behaviour there (Module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model that fits its training data perfectly has “learned the physics”. In fact: It has learned a function that matches those examples. It may still be wrong between or beyond them. Validation on new data (Module 5) is needed. The takeaway: ML replaces hand-written rules with parameters fitted to examples by minimizing 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Supervised, unsupervised and reinforcement learning. Supervised learning: every example has a known output (label/target); learn x → y. Unsupervised learning: only inputs; find structure such as clusters or low-dimensional patterns. Reinforcement learning: an agent takes actions, receives rewards and learns a policy by trial and error. Surrogate modelling is supervised regression. Look at the figure. Three learning paradigms with engineering examples. Three boxes. Supervised: inputs and outputs known, learn x to y, e.g. predict thermal resistance from geometry. Unsupervised: inputs only, find groups, e.g. cluster vibration signatures. Reinforcement: agent acts and receives reward, e.g. tune a controller in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Supervised data: {(x_i, y_i)}_{i=1..n}. Unsupervised data: {x_i} only. Reinforcement learning maximizes expected cumulative reward Σ_k γ^k r_k (γ ∈ (0,1] a discount factor) — introduced here only for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Supervised: predict pump efficiency from impeller blade angles using CFD runs. Unsupervised: group 5 000 bearing-vibration spectra into “normal” and unusual families without labels. Reinforcement: learn a valve-control policy in a process simulator. A practical tip: Identify the paradigm by asking: “for each example, do I know the answer I want the model to produce?”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 have 200 FEA runs of a bracket, each with plate thickness, fillet radius and maximum von Mises stress. Which paradigm?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Supervised learning (regression): inputs and the numerical output are known for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Unsupervised learning is supervised learning with less effort. In fact: They answer different questions. Without targets, unsupervised methods cannot predict a specific output such as stress. The takeaway: Surrogates are supervised learning: examples come with simulator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Explicit rules versus learned rules: ML replaces hand-written rules with parameters fitted to examples by minimizing a loss. Supervised, unsupervised and reinforcement learning: Surrogates are supervised learning: examples come with simulator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1: Learning from examples, and three kinds of learning. Next comes Lesson 3: Regression vs classification; features, targets, samples,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1, Lesson 2 · Learning from examples, and three kinds of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1, Lesson 2 · Learning from examples, and three kinds of learning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01 · LESSON 2 OF 4 · ≈ 8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Learning from examples, and three kinds of learning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1: AI and ML from the beginning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Explicit rules versus learned rules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Supervised, unsupervised and reinforcement learning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Explicit rules versus learned rules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conventional program encodes rules the engineer wrote: “if the fin is thicker than 1 mm, then…”. A machine-learning program is given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— pairs of inputs and correct outputs — plus a flexible model with adjustable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parameters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 A learning algorithm adjusts the parameters so the model reproduces the examples well, and (we hope) predicts well for new inputs.</a:t>
            </a:r>
            <a:endParaRPr lang="en-US" sz="1500" dirty="0"/>
          </a:p>
        </p:txBody>
      </p:sp>
      <p:pic>
        <p:nvPicPr>
          <p:cNvPr id="8" name="figure" descr="Two flowcharts. Programmed: inputs and engineer-written rules produce an output. ML: examples feed a learning algorithm that produces a trained model; a new input goes into the trained model to produce a predic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71" y="2880360"/>
            <a:ext cx="8520354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Left: rules written by an engineer map inputs to outputs. Right: a learning algorithm derives the rule from examples, and the trained model then predicts for new inputs.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Explicit rules versus learned rules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“Learning” usually means choosing parameters θ to minimize 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loss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on the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training examples: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θ̂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arg min</a:t>
            </a:r>
            <a:pPr algn="ctr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θ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(1)/(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=1</a:t>
            </a:r>
            <a:pPr algn="ctr"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f̂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;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θ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308864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(x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, y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the i-th training example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arg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“the value of θ that minimizes”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number of examples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Explicit rules versus learned rules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machining engineer has 60 test cuts with cutting speed, feed, depth and measured surface roughness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(µm). Instead of deriving a full tribological model, they fit a regression model to predict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for new settings inside the tested range.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Always ask what the examples cover. The range of the training data is the model’s comfort zone.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If all 60 test cuts used feeds between 0.05 and 0.20 mm/rev, should you trust the model at 0.40 mm/rev?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If all 60 test cuts used feeds between 0.05 and 0.20 mm/rev, should you trust the model at 0.40 mm/rev?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No. That is extrapolation: the model has never seen that region, and nothing in the learning process constrains its behaviour there (Module 6).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Explicit rules versus learned rules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model that fits its training data perfectly has “learned the physics”.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 has learned a function that matches those examples. It may still be wrong between or beyond them. Validation on new data (Module 5) is needed.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ML replaces hand-written rules with parameters fitted to examples by minimizing a loss.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Supervised, unsupervised and reinforcement learning</a:t>
            </a:r>
            <a:endParaRPr lang="en-US" sz="26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Supervised learning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: every example has a known output (label/target); learn x → y.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Unsupervised learning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: only inputs; find structure such as clusters or low-dimensional patterns.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Reinforcement learning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: an agent takes actions, receives rewards and learns a policy by trial and error. Surrogate modelling is supervised regression.</a:t>
            </a:r>
            <a:endParaRPr lang="en-US" sz="1400" dirty="0"/>
          </a:p>
        </p:txBody>
      </p:sp>
      <p:pic>
        <p:nvPicPr>
          <p:cNvPr id="8" name="figure" descr="Three boxes. Supervised: inputs and outputs known, learn x to y, e.g. predict thermal resistance from geometry. Unsupervised: inputs only, find groups, e.g. cluster vibration signatures. Reinforcement: agent acts and receives reward, e.g. tune a controller in simula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46" y="2743200"/>
            <a:ext cx="10164202" cy="2880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Three learning paradigms with engineering examples.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Supervised, unsupervised and reinforcement learning</a:t>
            </a:r>
            <a:endParaRPr lang="en-US" sz="26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203960"/>
          </a:xfrm>
          <a:prstGeom prst="roundRect">
            <a:avLst>
              <a:gd name="adj" fmla="val 91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112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Supervised data: {(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)}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i=1..n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Unsupervised data: {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} only. Reinforcement learning maximizes expected cumulative reward Σ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γ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(γ ∈ (0,1] a discount factor) — introduced here only for recognition.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Supervised, unsupervised and reinforcement learning</a:t>
            </a:r>
            <a:endParaRPr lang="en-US" sz="26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Supervised: predict pump efficiency from impeller blade angles using CFD runs. Unsupervised: group 5 000 bearing-vibration spectra into “normal” and unusual families without labels. Reinforcement: learn a valve-control policy in a process simulator.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Identify the paradigm by asking: “for each example, do I know the answer I want the model to produce?”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 have 200 FEA runs of a bracket, each with plate thickness, fillet radius and maximum von Mises stress. Which paradigm?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 have 200 FEA runs of a bracket, each with plate thickness, fillet radius and maximum von Mises stress. Which paradigm?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Supervised learning (regression): inputs and the numerical output are known for every run.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Learning from examples, and three kinds of learning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Supervised, unsupervised and reinforcement learning</a:t>
            </a:r>
            <a:endParaRPr lang="en-US" sz="26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Unsupervised learning is supervised learning with less effort.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They answer different questions. Without targets, unsupervised methods cannot predict a specific output such as stress.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Surrogates are supervised learning: examples come with simulator outputs.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Explicit rules versus learned rules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ML replaces hand-written rules with parameters fitted to examples by minimizing a loss.</a:t>
            </a:r>
            <a:endParaRPr lang="en-US" sz="2100" dirty="0"/>
          </a:p>
        </p:txBody>
      </p:sp>
      <p:sp>
        <p:nvSpPr>
          <p:cNvPr id="8" name="takeaway-2"/>
          <p:cNvSpPr/>
          <p:nvPr/>
        </p:nvSpPr>
        <p:spPr>
          <a:xfrm>
            <a:off x="6255868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20460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41668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Supervised, unsupervised and reinforcement learning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Surrogates are supervised learning: examples come with simulator outputs.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Regression vs classification; features, targets, samples, parameters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1, Lesson 2: Learning from examples, and three kinds of learning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