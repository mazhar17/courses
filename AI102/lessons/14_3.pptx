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0917858-4a91-ca88-d9ed-2b590c3779ee}">
          <p14:sldIdLst>
            <p14:sldId id="256"/>
          </p14:sldIdLst>
        </p14:section>
        <p14:section name="Lesson 3: Preparing for the final assessment and interactive capstone" id="{b1cf43eb-ef6c-bbb5-7f2f-e7329a87c563}">
          <p14:sldIdLst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Summary" id="{6836cffc-bc2f-29de-581e-a2ba0c5e079f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Module 14, Lesson 3 of the self-paced course Machine Learning Fundamentals for Surrogate-Based Engineering Optimization: Preparing for the final assessment and interactive capstone. This lesson belongs to the module Guided capstone and final assessment and takes about 8 minutes. In this lesson: How the browser-graded parts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the browser-graded parts work. The final assessment draws 20 integrative questions from a bank (multiple choice, multiple select, numerical with tolerances, scenarios and plot interpretation). The interactive capstone exercise asks you to formulate the problem, run a budgeted surrogate study in the browser (14 evaluations), and interpret your own results. To pass, an exercise attempt must contain at least one completed surrogate optimize → original-model verify cycle; manually evaluating a good design is not enough.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the mathematics. Accomplishment grade = 0.60 × (mean best module-quiz score) + 0.25 × (best final) + 0.15 × (best capstone exercise). Certificate: every quiz, the final and a counting exercise attempt (one with a verified surrogate cycle) each ≥ 70%, and overall ≥ 70%. See Grades.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does this matter in engineering? Revision strategy: review flashcards due today; revisit lessons flagged under “Concepts to review” in your quiz results; redo one lab’s interpretation tasks. A practical tip: In the exercise, record predicted vs verified values as you go — Part C asks about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to predict. In the interactive capstone, why must your final design be one you evaluated? Pause here and commit to an answer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the answer. Because only verified designs provide evidence of performance and feasibility — exactly the principle of Module 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common misconception is this: Spending the whole budget on the initial design is the safest strategy. In fact: Leaving a few evaluations for verification and refinement usually yields a better verified design. The takeaway: Final: integrative questions; exercise: plan, sample, fit, optimize, verify, interpret — within budget.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 up this lesson. How the browser-graded parts work: Final: integrative questions; exercise: plan, sample, fit, optimize, verify, interpret — within budget.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 completes Lesson 3 of Module 14: Preparing for the final assessment and interactive capstone. This was the final lesson of the course. Take the final assessment and the interactive capstone exercise in the course.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spc="200" kern="0" dirty="0">
                <a:solidFill>
                  <a:srgbClr val="F2C14E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D6E2F0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58064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6"/>
                </a:solidFill>
              </a:rPr>
              <a:t>Machine Learning Fundamentals for Surrogate-Based Engineering Optimization · course version 3.0.0</a:t>
            </a:r>
            <a:endParaRPr lang="en-US" sz="1200" dirty="0"/>
          </a:p>
        </p:txBody>
      </p:sp>
      <p:sp>
        <p:nvSpPr>
          <p:cNvPr id="6" name="Text 1"/>
          <p:cNvSpPr/>
          <p:nvPr/>
        </p:nvSpPr>
        <p:spPr>
          <a:xfrm>
            <a:off x="548640" y="61264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6"/>
                </a:solidFill>
              </a:rPr>
              <a:t>© 2026 Prof. Mazharul Islam · CC BY 4.0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dirty="0">
                <a:solidFill>
                  <a:srgbClr val="F2C14E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33172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931920"/>
            <a:ext cx="105156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3ECF7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2F0"/>
                </a:solidFill>
              </a:rPr>
              <a:t>Module 14, Lesson 3 · Preparing for the final assessment and interactive capstone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2"/>
                </a:solidFill>
              </a:rPr>
              <a:t>Module 14, Lesson 3 · Preparing for the final assessment and interactive capstone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7223760" y="6400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2"/>
                </a:solidFill>
              </a:rPr>
              <a:t>© 2026 Prof. Mazharul Islam · CC BY 4.0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2C14E"/>
                </a:solidFill>
              </a:rPr>
              <a:t>MODULE 14 · LESSON 3 OF 3 · ≈ 8 MIN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Preparing for the final assessment and interactive capstone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D6E2F0"/>
                </a:solidFill>
              </a:rPr>
              <a:t>Module 14: Guided capstone and final assessment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D6E2F0"/>
                </a:solidFill>
              </a:rPr>
              <a:t>How the browser-graded parts work</a:t>
            </a:r>
            <a:endParaRPr lang="en-US" sz="1800" dirty="0"/>
          </a:p>
        </p:txBody>
      </p:sp>
      <p:sp>
        <p:nvSpPr>
          <p:cNvPr id="5" name="lesson-number-ring"/>
          <p:cNvSpPr/>
          <p:nvPr/>
        </p:nvSpPr>
        <p:spPr>
          <a:xfrm>
            <a:off x="8732520" y="1417320"/>
            <a:ext cx="2926080" cy="2926080"/>
          </a:xfrm>
          <a:prstGeom prst="ellipse">
            <a:avLst/>
          </a:prstGeom>
          <a:solidFill>
            <a:schemeClr val="bg1">
              <a:alpha val="12000"/>
            </a:schemeClr>
          </a:solidFill>
          <a:ln w="38100">
            <a:solidFill>
              <a:srgbClr val="F2C14E"/>
            </a:solidFill>
            <a:prstDash val="solid"/>
          </a:ln>
        </p:spPr>
      </p:sp>
      <p:sp>
        <p:nvSpPr>
          <p:cNvPr id="6" name="lesson-number"/>
          <p:cNvSpPr txBox="1"/>
          <p:nvPr/>
        </p:nvSpPr>
        <p:spPr>
          <a:xfrm>
            <a:off x="8732520" y="141732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bg1"/>
                </a:solidFill>
              </a:rPr>
              <a:t>14.3</a:t>
            </a:r>
            <a:endParaRPr lang="en-US" sz="8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3 · Preparing for the final assessment and interactive capstone · Intuition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How the browser-graded parts work</a:t>
            </a:r>
            <a:endParaRPr lang="en-US" sz="3200" dirty="0"/>
          </a:p>
        </p:txBody>
      </p:sp>
      <p:sp>
        <p:nvSpPr>
          <p:cNvPr id="5" name="intuition-card"/>
          <p:cNvSpPr/>
          <p:nvPr/>
        </p:nvSpPr>
        <p:spPr>
          <a:xfrm>
            <a:off x="548640" y="1691640"/>
            <a:ext cx="11094415" cy="4480560"/>
          </a:xfrm>
          <a:prstGeom prst="roundRect">
            <a:avLst>
              <a:gd name="adj" fmla="val 2449"/>
            </a:avLst>
          </a:prstGeom>
          <a:solidFill>
            <a:schemeClr val="accent1">
              <a:alpha val="7000"/>
            </a:schemeClr>
          </a:solidFill>
          <a:ln w="12700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6" name="icon-bg-intu"/>
          <p:cNvSpPr/>
          <p:nvPr/>
        </p:nvSpPr>
        <p:spPr>
          <a:xfrm>
            <a:off x="822960" y="192024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-intu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2056303"/>
            <a:ext cx="294803" cy="294803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1600200" y="1874520"/>
            <a:ext cx="9722815" cy="41148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The final assessment draws 20 integrative questions from a bank (multiple choice, multiple select, numerical with tolerances, scenarios and plot interpretation). The interactive capstone exercise asks you to formulate the problem, run a budgeted surrogate study in the browser (14 evaluations), and interpret your own results. To pass, an exercise attempt must contain at least one completed </a:t>
            </a:r>
            <a:pPr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surrogate optimize → original-model verify</a:t>
            </a:r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 cycle; manually evaluating a good design is not enough.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3 · Preparing for the final assessment and interactive capstone · The mathematics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How the browser-graded parts work</a:t>
            </a:r>
            <a:endParaRPr lang="en-US" sz="3200" dirty="0"/>
          </a:p>
        </p:txBody>
      </p:sp>
      <p:sp>
        <p:nvSpPr>
          <p:cNvPr id="5" name="icon-bg-math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-mat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766621"/>
            <a:ext cx="261518" cy="261518"/>
          </a:xfrm>
          <a:prstGeom prst="rect">
            <a:avLst/>
          </a:prstGeom>
        </p:spPr>
      </p:pic>
      <p:sp>
        <p:nvSpPr>
          <p:cNvPr id="7" name="math-card"/>
          <p:cNvSpPr/>
          <p:nvPr/>
        </p:nvSpPr>
        <p:spPr>
          <a:xfrm>
            <a:off x="1143000" y="1600200"/>
            <a:ext cx="10500055" cy="1513840"/>
          </a:xfrm>
          <a:prstGeom prst="roundRect">
            <a:avLst>
              <a:gd name="adj" fmla="val 7248"/>
            </a:avLst>
          </a:prstGeom>
          <a:solidFill>
            <a:schemeClr val="bg2"/>
          </a:solidFill>
          <a:ln w="12700">
            <a:solidFill>
              <a:schemeClr val="bg2">
                <a:alpha val="30000"/>
              </a:schemeClr>
            </a:solidFill>
            <a:prstDash val="solid"/>
          </a:ln>
        </p:spPr>
      </p:sp>
      <p:sp>
        <p:nvSpPr>
          <p:cNvPr id="8" name="math-text"/>
          <p:cNvSpPr txBox="1"/>
          <p:nvPr/>
        </p:nvSpPr>
        <p:spPr>
          <a:xfrm>
            <a:off x="1234440" y="1645920"/>
            <a:ext cx="10408615" cy="1422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Accomplishment grade = 0.60 × (mean best module-quiz score) + 0.25 × (best final) + 0.15 × (best capstone exercise). Certificate: every quiz, the final and a counting exercise attempt (one with a verified surrogate cycle) each ≥ 70%, and overall ≥ 70%. See Grades.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3 · Preparing for the final assessment and interactive capstone · In engineering practice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How the browser-graded parts work</a:t>
            </a:r>
            <a:endParaRPr lang="en-US" sz="3200" dirty="0"/>
          </a:p>
        </p:txBody>
      </p:sp>
      <p:sp>
        <p:nvSpPr>
          <p:cNvPr id="5" name="Engineering application"/>
          <p:cNvSpPr/>
          <p:nvPr/>
        </p:nvSpPr>
        <p:spPr>
          <a:xfrm>
            <a:off x="548640" y="1691640"/>
            <a:ext cx="5364328" cy="4480560"/>
          </a:xfrm>
          <a:prstGeom prst="roundRect">
            <a:avLst>
              <a:gd name="adj" fmla="val 2449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6" name="icon-bg-app"/>
          <p:cNvSpPr/>
          <p:nvPr/>
        </p:nvSpPr>
        <p:spPr>
          <a:xfrm>
            <a:off x="822960" y="1920240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7" name="icon-app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2056303"/>
            <a:ext cx="294803" cy="29480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965960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Engineering application</a:t>
            </a:r>
            <a:endParaRPr lang="en-US" sz="2000" dirty="0"/>
          </a:p>
        </p:txBody>
      </p:sp>
      <p:sp>
        <p:nvSpPr>
          <p:cNvPr id="9" name="text"/>
          <p:cNvSpPr txBox="1"/>
          <p:nvPr/>
        </p:nvSpPr>
        <p:spPr>
          <a:xfrm>
            <a:off x="777240" y="2697480"/>
            <a:ext cx="4907128" cy="3337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Revision strategy: review flashcards due today; revisit lessons flagged under “Concepts to review” in your quiz results; redo one lab’s interpretation tasks.</a:t>
            </a:r>
            <a:endParaRPr lang="en-US" sz="2000" dirty="0"/>
          </a:p>
        </p:txBody>
      </p:sp>
      <p:sp>
        <p:nvSpPr>
          <p:cNvPr id="10" name="Practical tip"/>
          <p:cNvSpPr/>
          <p:nvPr/>
        </p:nvSpPr>
        <p:spPr>
          <a:xfrm>
            <a:off x="6278728" y="1691640"/>
            <a:ext cx="5364328" cy="4480560"/>
          </a:xfrm>
          <a:prstGeom prst="roundRect">
            <a:avLst>
              <a:gd name="adj" fmla="val 2449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30000"/>
              </a:schemeClr>
            </a:solidFill>
            <a:prstDash val="solid"/>
          </a:ln>
        </p:spPr>
      </p:sp>
      <p:sp>
        <p:nvSpPr>
          <p:cNvPr id="11" name="icon-bg-tip"/>
          <p:cNvSpPr/>
          <p:nvPr/>
        </p:nvSpPr>
        <p:spPr>
          <a:xfrm>
            <a:off x="6553048" y="192024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icon-tip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9110" y="2056303"/>
            <a:ext cx="294803" cy="29480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38848" y="1965960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Practical tip</a:t>
            </a:r>
            <a:endParaRPr lang="en-US" sz="2000" dirty="0"/>
          </a:p>
        </p:txBody>
      </p:sp>
      <p:sp>
        <p:nvSpPr>
          <p:cNvPr id="14" name="text"/>
          <p:cNvSpPr txBox="1"/>
          <p:nvPr/>
        </p:nvSpPr>
        <p:spPr>
          <a:xfrm>
            <a:off x="6507328" y="2697480"/>
            <a:ext cx="4907128" cy="3337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In the exercise, record predicted vs verified values as you go — Part C asks about them.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3 · Preparing for the final assessment and interactive capstone · Predict before you look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Pause and predict</a:t>
            </a:r>
            <a:endParaRPr lang="en-US" sz="3200" dirty="0"/>
          </a:p>
        </p:txBody>
      </p:sp>
      <p:sp>
        <p:nvSpPr>
          <p:cNvPr id="5" name="question-card"/>
          <p:cNvSpPr/>
          <p:nvPr/>
        </p:nvSpPr>
        <p:spPr>
          <a:xfrm>
            <a:off x="548640" y="1737360"/>
            <a:ext cx="11094415" cy="3291840"/>
          </a:xfrm>
          <a:prstGeom prst="roundRect">
            <a:avLst>
              <a:gd name="adj" fmla="val 3333"/>
            </a:avLst>
          </a:prstGeom>
          <a:solidFill>
            <a:schemeClr val="accent2">
              <a:alpha val="9000"/>
            </a:schemeClr>
          </a:solidFill>
          <a:ln w="12700">
            <a:solidFill>
              <a:schemeClr val="accent2">
                <a:alpha val="30000"/>
              </a:schemeClr>
            </a:solidFill>
            <a:prstDash val="solid"/>
          </a:ln>
        </p:spPr>
      </p:sp>
      <p:sp>
        <p:nvSpPr>
          <p:cNvPr id="6" name="icon-bg-predict"/>
          <p:cNvSpPr/>
          <p:nvPr/>
        </p:nvSpPr>
        <p:spPr>
          <a:xfrm>
            <a:off x="868680" y="20116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con-predic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2187245"/>
            <a:ext cx="380390" cy="380390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1874520" y="1965960"/>
            <a:ext cx="9448495" cy="2834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In the interactive capstone, why must your final design be one you evaluated?</a:t>
            </a:r>
            <a:endParaRPr lang="en-US" sz="28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3035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6525F"/>
                </a:solidFill>
              </a:rPr>
              <a:t>Write down your answer, then continue to the next slide.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3 · Preparing for the final assessment and interactive capstone · Answer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happens, and why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002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6525F"/>
                </a:solidFill>
              </a:rPr>
              <a:t>Question: </a:t>
            </a:r>
            <a:pPr indent="0" marL="0">
              <a:buNone/>
            </a:pPr>
            <a:r>
              <a:rPr lang="en-US" sz="1400" dirty="0">
                <a:solidFill>
                  <a:srgbClr val="46525F"/>
                </a:solidFill>
              </a:rPr>
              <a:t>In the interactive capstone, why must your final design be one you evaluated?</a:t>
            </a:r>
            <a:endParaRPr lang="en-US" sz="1400" dirty="0"/>
          </a:p>
        </p:txBody>
      </p:sp>
      <p:sp>
        <p:nvSpPr>
          <p:cNvPr id="6" name="answer-card"/>
          <p:cNvSpPr/>
          <p:nvPr/>
        </p:nvSpPr>
        <p:spPr>
          <a:xfrm>
            <a:off x="548640" y="2606040"/>
            <a:ext cx="11094415" cy="3566160"/>
          </a:xfrm>
          <a:prstGeom prst="roundRect">
            <a:avLst>
              <a:gd name="adj" fmla="val 3077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7" name="icon-bg-answer"/>
          <p:cNvSpPr/>
          <p:nvPr/>
        </p:nvSpPr>
        <p:spPr>
          <a:xfrm>
            <a:off x="868680" y="288036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8" name="icon-answ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3055925"/>
            <a:ext cx="380390" cy="380390"/>
          </a:xfrm>
          <a:prstGeom prst="rect">
            <a:avLst/>
          </a:prstGeom>
        </p:spPr>
      </p:pic>
      <p:sp>
        <p:nvSpPr>
          <p:cNvPr id="9" name="text"/>
          <p:cNvSpPr txBox="1"/>
          <p:nvPr/>
        </p:nvSpPr>
        <p:spPr>
          <a:xfrm>
            <a:off x="1874520" y="2788920"/>
            <a:ext cx="9448495" cy="3200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Because only verified designs provide evidence of performance and feasibility — exactly the principle of Module 11.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3 · Preparing for the final assessment and interactive capstone · Common misconception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How the browser-graded parts work</a:t>
            </a:r>
            <a:endParaRPr lang="en-US" sz="3200" dirty="0"/>
          </a:p>
        </p:txBody>
      </p:sp>
      <p:sp>
        <p:nvSpPr>
          <p:cNvPr id="5" name="Misconception"/>
          <p:cNvSpPr/>
          <p:nvPr/>
        </p:nvSpPr>
        <p:spPr>
          <a:xfrm>
            <a:off x="548640" y="1691640"/>
            <a:ext cx="5364328" cy="2971800"/>
          </a:xfrm>
          <a:prstGeom prst="roundRect">
            <a:avLst>
              <a:gd name="adj" fmla="val 3692"/>
            </a:avLst>
          </a:prstGeom>
          <a:solidFill>
            <a:schemeClr val="accent6">
              <a:alpha val="9000"/>
            </a:schemeClr>
          </a:solidFill>
          <a:ln w="12700">
            <a:solidFill>
              <a:schemeClr val="accent6">
                <a:alpha val="30000"/>
              </a:schemeClr>
            </a:solidFill>
            <a:prstDash val="solid"/>
          </a:ln>
        </p:spPr>
      </p:sp>
      <p:sp>
        <p:nvSpPr>
          <p:cNvPr id="6" name="icon-bg-mis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7" name="icon-mi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006194"/>
            <a:ext cx="285293" cy="2852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901952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Misconception</a:t>
            </a:r>
            <a:endParaRPr lang="en-US" sz="2000" dirty="0"/>
          </a:p>
        </p:txBody>
      </p:sp>
      <p:sp>
        <p:nvSpPr>
          <p:cNvPr id="9" name="text"/>
          <p:cNvSpPr txBox="1"/>
          <p:nvPr/>
        </p:nvSpPr>
        <p:spPr>
          <a:xfrm>
            <a:off x="777240" y="2560320"/>
            <a:ext cx="4907128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Spending the whole budget on the initial design is the safest strategy.</a:t>
            </a:r>
            <a:endParaRPr lang="en-US" sz="2000" dirty="0"/>
          </a:p>
        </p:txBody>
      </p:sp>
      <p:sp>
        <p:nvSpPr>
          <p:cNvPr id="10" name="What is actually true"/>
          <p:cNvSpPr/>
          <p:nvPr/>
        </p:nvSpPr>
        <p:spPr>
          <a:xfrm>
            <a:off x="6278728" y="1691640"/>
            <a:ext cx="5364328" cy="2971800"/>
          </a:xfrm>
          <a:prstGeom prst="roundRect">
            <a:avLst>
              <a:gd name="adj" fmla="val 3692"/>
            </a:avLst>
          </a:prstGeom>
          <a:solidFill>
            <a:schemeClr val="accent3">
              <a:alpha val="9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11" name="icon-bg-cor"/>
          <p:cNvSpPr/>
          <p:nvPr/>
        </p:nvSpPr>
        <p:spPr>
          <a:xfrm>
            <a:off x="6553048" y="187452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2" name="icon-co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721" y="2006194"/>
            <a:ext cx="285293" cy="28529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38848" y="1901952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What is actually true</a:t>
            </a:r>
            <a:endParaRPr lang="en-US" sz="2000" dirty="0"/>
          </a:p>
        </p:txBody>
      </p:sp>
      <p:sp>
        <p:nvSpPr>
          <p:cNvPr id="14" name="text"/>
          <p:cNvSpPr txBox="1"/>
          <p:nvPr/>
        </p:nvSpPr>
        <p:spPr>
          <a:xfrm>
            <a:off x="6507328" y="2560320"/>
            <a:ext cx="4907128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Leaving a few evaluations for verification and refinement usually yields a better verified design.</a:t>
            </a:r>
            <a:endParaRPr lang="en-US" sz="2000" dirty="0"/>
          </a:p>
        </p:txBody>
      </p:sp>
      <p:sp>
        <p:nvSpPr>
          <p:cNvPr id="15" name="takeaway"/>
          <p:cNvSpPr/>
          <p:nvPr/>
        </p:nvSpPr>
        <p:spPr>
          <a:xfrm>
            <a:off x="548640" y="4892040"/>
            <a:ext cx="11094415" cy="128016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icon-bg-take"/>
          <p:cNvSpPr/>
          <p:nvPr/>
        </p:nvSpPr>
        <p:spPr>
          <a:xfrm>
            <a:off x="822960" y="52578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7" name="icon-tak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5389474"/>
            <a:ext cx="285293" cy="28529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54480" y="4983480"/>
            <a:ext cx="9859975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C14E"/>
                </a:solidFill>
              </a:rPr>
              <a:t>Takeaway  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Final: integrative questions; exercise: plan, sample, fit, optimize, verify, interpret — within budget.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Summary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Key takeaways from this lesson</a:t>
            </a:r>
            <a:endParaRPr lang="en-US" sz="3200" dirty="0"/>
          </a:p>
        </p:txBody>
      </p:sp>
      <p:sp>
        <p:nvSpPr>
          <p:cNvPr id="5" name="takeaway-1"/>
          <p:cNvSpPr/>
          <p:nvPr/>
        </p:nvSpPr>
        <p:spPr>
          <a:xfrm>
            <a:off x="548640" y="1645920"/>
            <a:ext cx="5387188" cy="2103120"/>
          </a:xfrm>
          <a:prstGeom prst="roundRect">
            <a:avLst>
              <a:gd name="adj" fmla="val 5217"/>
            </a:avLst>
          </a:prstGeom>
          <a:solidFill>
            <a:schemeClr val="accent1">
              <a:alpha val="7000"/>
            </a:schemeClr>
          </a:solidFill>
          <a:ln w="12700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" y="181051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719072"/>
            <a:ext cx="4564228" cy="1956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How the browser-graded parts work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Final: integrative questions; exercise: plan, sample, fit, optimize, verify, interpret — within budget.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2C14E"/>
                </a:solidFill>
              </a:rPr>
              <a:t>COURSE COMPLETE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Final assessment and capstone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2F0"/>
                </a:solidFill>
              </a:rPr>
              <a:t>Review the Module 14 flashcards and quiz, then take the final assessment and the interactive capstone exercise in the course.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732520" y="1417320"/>
            <a:ext cx="2926080" cy="2926080"/>
          </a:xfrm>
          <a:prstGeom prst="ellipse">
            <a:avLst/>
          </a:prstGeom>
          <a:solidFill>
            <a:schemeClr val="bg1">
              <a:alpha val="12000"/>
            </a:schemeClr>
          </a:solidFill>
          <a:ln w="38100">
            <a:solidFill>
              <a:srgbClr val="F2C14E"/>
            </a:solidFill>
            <a:prstDash val="solid"/>
          </a:ln>
        </p:spPr>
      </p:sp>
      <p:pic>
        <p:nvPicPr>
          <p:cNvPr id="6" name="icon-nex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33172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LSO Course">
  <a:themeElements>
    <a:clrScheme name="MLSO Course">
      <a:dk1>
        <a:srgbClr val="18212B"/>
      </a:dk1>
      <a:lt1>
        <a:srgbClr val="FFFFFF"/>
      </a:lt1>
      <a:dk2>
        <a:srgbClr val="123B6B"/>
      </a:dk2>
      <a:lt2>
        <a:srgbClr val="EEF2F7"/>
      </a:lt2>
      <a:accent1>
        <a:srgbClr val="1F5FA8"/>
      </a:accent1>
      <a:accent2>
        <a:srgbClr val="C2500A"/>
      </a:accent2>
      <a:accent3>
        <a:srgbClr val="1A6E3D"/>
      </a:accent3>
      <a:accent4>
        <a:srgbClr val="B98500"/>
      </a:accent4>
      <a:accent5>
        <a:srgbClr val="7A3FB0"/>
      </a:accent5>
      <a:accent6>
        <a:srgbClr val="B3261E"/>
      </a:accent6>
      <a:hlink>
        <a:srgbClr val="1F5FA8"/>
      </a:hlink>
      <a:folHlink>
        <a:srgbClr val="7A3FB0"/>
      </a:folHlink>
    </a:clrScheme>
    <a:fontScheme name="MLSO Cours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Self-paced course (CC BY 4.0)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14, Lesson 3: Preparing for the final assessment and interactive capstone</dc:title>
  <dc:subject>Machine Learning Fundamentals for Surrogate-Based Engineering Optimization</dc:subject>
  <dc:creator>Prof. Mazharul Islam</dc:creator>
  <cp:lastModifiedBy>Prof. Mazharul Islam</cp:lastModifiedBy>
  <cp:revision>1</cp:revision>
  <dcterms:created xsi:type="dcterms:W3CDTF">2026-10-07T01:12:32Z</dcterms:created>
  <dcterms:modified xsi:type="dcterms:W3CDTF">2026-10-07T01:12:32Z</dcterms:modified>
</cp:coreProperties>
</file>