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48e611a-6040-9637-3783-b9ec778ab6ba}">
          <p14:sldIdLst>
            <p14:sldId id="256"/>
          </p14:sldIdLst>
        </p14:section>
        <p14:section name="Lesson 2: Random, Latin hypercube and Sobol sampling" id="{67649556-ecf0-b786-cd82-d051bb44c55e}">
          <p14:sldIdLst>
            <p14:sldId id="257"/>
            <p14:sldId id="258"/>
            <p14:sldId id="259"/>
            <p14:sldId id="260"/>
            <p14:sldId id="261"/>
            <p14:sldId id="262"/>
          </p14:sldIdLst>
        </p14:section>
        <p14:section name="Summary" id="{4f89898f-b918-71b0-bdae-08fb7ce97092}">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7, Lesson 2 of the self-paced course Machine Learning Fundamentals for Surrogate-Based Engineering Optimization: Random, Latin hypercube and Sobol sampling. This lesson belongs to the module Sampling and design of experiments and takes about 12 minutes. In this lesson: Spreading points evenly with few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Spreading points evenly with few runs. Random (Monte Carlo) sampling draws each point independently and uniformly — simple, but points clump and leave holes. Latin hypercube sampling (LHS) divides each variable’s range into n equal strata and puts exactly one point in each stratum per variable — every 1-D projection is evenly covered. Sobol sequences are deterministic low-discrepancy sequences that fill space evenly and can be extended point by point (best balanced at n = 2^m). Look at the figure. Interactive comparison of full factorial, random, Latin hypercube and Sobol samples; red ticks show 1-D projections. Four square panels of points in the unit square. Factorial points form a grid with only a few distinct projection values. Random points clump with visible gaps. LHS points have exactly one tick per stratum on each axis. Sobol points look evenly spread. The readout lists minimum pairwise distance and fill distance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LHS construction for n points in d dimensions: z_{ij} = (π_j(i) + u_{ij})/(n), i = 0, …, n−1 π_j is the a random permutation of 0…n−1, independent for each variable j. u_{ij} is the uniform random number in [0, 1) (use 0.5 for stratum centres). Space-filling measures: minimum pairwise distance (larger = less clumping; “maximin” designs maximize it) and fill distance (the largest distance from any point of the space to its nearest sample; smaller = no big 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Additive manufacturing: 16 coupons over (laser power, scan speed) via LHS test 16 distinct power levels and 16 distinct speeds, unlike a 4×4 grid with only 4 of each. In SciPy: qmc.LatinHypercube(d=2, seed=1).random(16) and qmc.Sobol(d=2, scramble=True, seed=1).random_base2(m=4). A practical tip: For an initial surrogate design, a common rule of thumb is about 10 × d points (here ~20) — then add points sequentially where needed (Modules 11–12). Treat it as a starting point,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With LHS of n = 10 points, how many points fall in the stratum 0.3 ≤ z₁ &lt; 0.4?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Exactly one — that is the defining property of LHS in every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LHS guarantees a good 2-D spread. In fact: It guarantees even 1-D projections only; a bad permutation can still line points up diagonally. Optimized (maximin) LHS or several seeds help. The takeaway: LHS covers each variable evenly; Sobol fills space evenly and extends nicely; random is simplest but clumpy.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Spreading points evenly with few runs: LHS covers each variable evenly; Sobol fills space evenly and extends nicely; random is simplest but clumpy.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2 of Module 7: Random, Latin hypercube and Sobol sampling. Next comes Lesson 3: Scaling, validation points and practical choices under a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7, Lesson 2 · Random, Latin hypercube and Sobol sampling</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7, Lesson 2 · Random, Latin hypercube and Sobol sampling</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07 · LESSON 2 OF 3 · ≈ 12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Random, Latin hypercube and Sobol sampling</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7: Sampling and design of experiments</a:t>
            </a:r>
            <a:endParaRPr lang="en-US" sz="1800" dirty="0"/>
          </a:p>
          <a:p>
            <a:pPr marL="342900" indent="-342900">
              <a:buSzPct val="100000"/>
              <a:buChar char="•"/>
            </a:pPr>
            <a:r>
              <a:rPr lang="en-US" sz="1800" dirty="0">
                <a:solidFill>
                  <a:srgbClr val="D6E2F0"/>
                </a:solidFill>
              </a:rPr>
              <a:t>Spreading points evenly with few runs</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7.2</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Random, Latin hypercube and Sobol sampling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Spreading points evenly with few runs</a:t>
            </a:r>
            <a:endParaRPr lang="en-US" sz="3200" dirty="0"/>
          </a:p>
        </p:txBody>
      </p:sp>
      <p:sp>
        <p:nvSpPr>
          <p:cNvPr id="5" name="intuition-card"/>
          <p:cNvSpPr/>
          <p:nvPr/>
        </p:nvSpPr>
        <p:spPr>
          <a:xfrm>
            <a:off x="548640" y="1691640"/>
            <a:ext cx="5120640"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777240" y="1874520"/>
            <a:ext cx="502920" cy="502920"/>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8" name="text"/>
          <p:cNvSpPr txBox="1"/>
          <p:nvPr/>
        </p:nvSpPr>
        <p:spPr>
          <a:xfrm>
            <a:off x="685800" y="2468880"/>
            <a:ext cx="4846320" cy="3611880"/>
          </a:xfrm>
          <a:prstGeom prst="rect">
            <a:avLst/>
          </a:prstGeom>
          <a:noFill/>
          <a:ln/>
        </p:spPr>
        <p:txBody>
          <a:bodyPr wrap="square" lIns="1270" tIns="1270" rIns="1270" bIns="1270" rtlCol="0" anchor="t"/>
          <a:lstStyle/>
          <a:p>
            <a:pPr indent="0" marL="0">
              <a:spcAft>
                <a:spcPts val="600"/>
              </a:spcAft>
              <a:buNone/>
            </a:pPr>
            <a:r>
              <a:rPr lang="en-US" sz="1800" b="1" dirty="0">
                <a:solidFill>
                  <a:schemeClr val="tx1"/>
                </a:solidFill>
              </a:rPr>
              <a:t>Random (Monte Carlo) sampling</a:t>
            </a:r>
            <a:pPr indent="0" marL="0">
              <a:spcAft>
                <a:spcPts val="600"/>
              </a:spcAft>
              <a:buNone/>
            </a:pPr>
            <a:r>
              <a:rPr lang="en-US" sz="1800" dirty="0">
                <a:solidFill>
                  <a:schemeClr val="tx1"/>
                </a:solidFill>
              </a:rPr>
              <a:t> draws each point independently and uniformly — simple, but points clump and leave holes. </a:t>
            </a:r>
            <a:pPr indent="0" marL="0">
              <a:spcAft>
                <a:spcPts val="600"/>
              </a:spcAft>
              <a:buNone/>
            </a:pPr>
            <a:r>
              <a:rPr lang="en-US" sz="1800" b="1" dirty="0">
                <a:solidFill>
                  <a:schemeClr val="tx1"/>
                </a:solidFill>
              </a:rPr>
              <a:t>Latin hypercube sampling (LHS)</a:t>
            </a:r>
            <a:pPr indent="0" marL="0">
              <a:spcAft>
                <a:spcPts val="600"/>
              </a:spcAft>
              <a:buNone/>
            </a:pPr>
            <a:r>
              <a:rPr lang="en-US" sz="1800" dirty="0">
                <a:solidFill>
                  <a:schemeClr val="tx1"/>
                </a:solidFill>
              </a:rPr>
              <a:t> divides each variable’s range into </a:t>
            </a:r>
            <a:pPr indent="0" marL="0">
              <a:spcAft>
                <a:spcPts val="600"/>
              </a:spcAft>
              <a:buNone/>
            </a:pPr>
            <a:r>
              <a:rPr lang="en-US" sz="1800" i="1" dirty="0">
                <a:solidFill>
                  <a:schemeClr val="tx1"/>
                </a:solidFill>
              </a:rPr>
              <a:t>n</a:t>
            </a:r>
            <a:pPr indent="0" marL="0">
              <a:spcAft>
                <a:spcPts val="600"/>
              </a:spcAft>
              <a:buNone/>
            </a:pPr>
            <a:r>
              <a:rPr lang="en-US" sz="1800" dirty="0">
                <a:solidFill>
                  <a:schemeClr val="tx1"/>
                </a:solidFill>
              </a:rPr>
              <a:t> equal strata and puts exactly one point in each stratum per variable — every 1-D projection is evenly covered. </a:t>
            </a:r>
            <a:pPr indent="0" marL="0">
              <a:spcAft>
                <a:spcPts val="600"/>
              </a:spcAft>
              <a:buNone/>
            </a:pPr>
            <a:r>
              <a:rPr lang="en-US" sz="1800" b="1" dirty="0">
                <a:solidFill>
                  <a:schemeClr val="tx1"/>
                </a:solidFill>
              </a:rPr>
              <a:t>Sobol sequences</a:t>
            </a:r>
            <a:pPr indent="0" marL="0">
              <a:spcAft>
                <a:spcPts val="600"/>
              </a:spcAft>
              <a:buNone/>
            </a:pPr>
            <a:r>
              <a:rPr lang="en-US" sz="1800" dirty="0">
                <a:solidFill>
                  <a:schemeClr val="tx1"/>
                </a:solidFill>
              </a:rPr>
              <a:t> are deterministic low-discrepancy sequences that fill space evenly and can be extended point by point (best balanced at </a:t>
            </a:r>
            <a:pPr indent="0" marL="0">
              <a:spcAft>
                <a:spcPts val="600"/>
              </a:spcAft>
              <a:buNone/>
            </a:pPr>
            <a:r>
              <a:rPr lang="en-US" sz="1800" i="1" dirty="0">
                <a:solidFill>
                  <a:schemeClr val="tx1"/>
                </a:solidFill>
              </a:rPr>
              <a:t>n</a:t>
            </a:r>
            <a:pPr indent="0" marL="0">
              <a:spcAft>
                <a:spcPts val="600"/>
              </a:spcAft>
              <a:buNone/>
            </a:pPr>
            <a:r>
              <a:rPr lang="en-US" sz="1800" dirty="0">
                <a:solidFill>
                  <a:schemeClr val="tx1"/>
                </a:solidFill>
              </a:rPr>
              <a:t> = 2</a:t>
            </a:r>
            <a:pPr indent="0" marL="0">
              <a:spcAft>
                <a:spcPts val="600"/>
              </a:spcAft>
              <a:buNone/>
            </a:pPr>
            <a:r>
              <a:rPr lang="en-US" sz="1800" baseline="30000" dirty="0">
                <a:solidFill>
                  <a:schemeClr val="tx1"/>
                </a:solidFill>
              </a:rPr>
              <a:t>m</a:t>
            </a:r>
            <a:pPr indent="0" marL="0">
              <a:spcAft>
                <a:spcPts val="600"/>
              </a:spcAft>
              <a:buNone/>
            </a:pPr>
            <a:r>
              <a:rPr lang="en-US" sz="1800" dirty="0">
                <a:solidFill>
                  <a:schemeClr val="tx1"/>
                </a:solidFill>
              </a:rPr>
              <a:t>).</a:t>
            </a:r>
            <a:endParaRPr lang="en-US" sz="1800" dirty="0"/>
          </a:p>
        </p:txBody>
      </p:sp>
      <p:pic>
        <p:nvPicPr>
          <p:cNvPr id="9" name="figure" descr="Four square panels of points in the unit square. Factorial points form a grid with only a few distinct projection values. Random points clump with visible gaps. LHS points have exactly one tick per stratum on each axis. Sobol points look evenly spread. The readout lists minimum pairwise distance and fill distance for each.">    </p:cNvPr>
          <p:cNvPicPr>
            <a:picLocks noChangeAspect="1"/>
          </p:cNvPicPr>
          <p:nvPr/>
        </p:nvPicPr>
        <p:blipFill>
          <a:blip r:embed="rId2"/>
          <a:stretch>
            <a:fillRect/>
          </a:stretch>
        </p:blipFill>
        <p:spPr>
          <a:xfrm>
            <a:off x="6757102" y="1691640"/>
            <a:ext cx="4118171" cy="3977640"/>
          </a:xfrm>
          <a:prstGeom prst="rect">
            <a:avLst/>
          </a:prstGeom>
        </p:spPr>
      </p:pic>
      <p:sp>
        <p:nvSpPr>
          <p:cNvPr id="10" name="Text 5"/>
          <p:cNvSpPr txBox="1"/>
          <p:nvPr/>
        </p:nvSpPr>
        <p:spPr>
          <a:xfrm>
            <a:off x="5989320" y="5715000"/>
            <a:ext cx="5653735" cy="502920"/>
          </a:xfrm>
          <a:prstGeom prst="rect">
            <a:avLst/>
          </a:prstGeom>
          <a:noFill/>
          <a:ln/>
        </p:spPr>
        <p:txBody>
          <a:bodyPr wrap="square" lIns="0" tIns="0" rIns="0" bIns="0" rtlCol="0" anchor="t"/>
          <a:lstStyle/>
          <a:p>
            <a:pPr indent="0" marL="0">
              <a:buNone/>
            </a:pPr>
            <a:r>
              <a:rPr lang="en-US" sz="1200" i="1" dirty="0">
                <a:solidFill>
                  <a:srgbClr val="46525F"/>
                </a:solidFill>
              </a:rPr>
              <a:t>Interactive comparison of full factorial, random, Latin hypercube and Sobol samples; red ticks show 1-D projections. (Interactive in the online course.)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Random, Latin hypercube and Sobol sampling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Spreading points evenly with few runs</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995680"/>
          </a:xfrm>
          <a:prstGeom prst="roundRect">
            <a:avLst>
              <a:gd name="adj" fmla="val 11020"/>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904240"/>
          </a:xfrm>
          <a:prstGeom prst="rect">
            <a:avLst/>
          </a:prstGeom>
          <a:noFill/>
          <a:ln/>
        </p:spPr>
        <p:txBody>
          <a:bodyPr wrap="square" lIns="1270" tIns="1270" rIns="1270" bIns="1270" rtlCol="0" anchor="ctr"/>
          <a:lstStyle/>
          <a:p>
            <a:pPr indent="0" marL="0">
              <a:spcAft>
                <a:spcPts val="800"/>
              </a:spcAft>
              <a:buNone/>
            </a:pPr>
            <a:r>
              <a:rPr lang="en-US" sz="2000" dirty="0">
                <a:solidFill>
                  <a:schemeClr val="tx1"/>
                </a:solidFill>
              </a:rPr>
              <a:t>LHS construction for </a:t>
            </a:r>
            <a:pPr indent="0" marL="0">
              <a:buNone/>
            </a:pPr>
            <a:r>
              <a:rPr lang="en-US" sz="2000" i="1" dirty="0">
                <a:solidFill>
                  <a:schemeClr val="tx1"/>
                </a:solidFill>
              </a:rPr>
              <a:t>n</a:t>
            </a:r>
            <a:pPr indent="0" marL="0">
              <a:buNone/>
            </a:pPr>
            <a:r>
              <a:rPr lang="en-US" sz="2000" dirty="0">
                <a:solidFill>
                  <a:schemeClr val="tx1"/>
                </a:solidFill>
              </a:rPr>
              <a:t> points in </a:t>
            </a:r>
            <a:pPr indent="0" marL="0">
              <a:buNone/>
            </a:pPr>
            <a:r>
              <a:rPr lang="en-US" sz="2000" i="1" dirty="0">
                <a:solidFill>
                  <a:schemeClr val="tx1"/>
                </a:solidFill>
              </a:rPr>
              <a:t>d</a:t>
            </a:r>
            <a:pPr indent="0" marL="0">
              <a:buNone/>
            </a:pPr>
            <a:r>
              <a:rPr lang="en-US" sz="2000" dirty="0">
                <a:solidFill>
                  <a:schemeClr val="tx1"/>
                </a:solidFill>
              </a:rPr>
              <a:t> dimensions:</a:t>
            </a:r>
            <a:endParaRPr lang="en-US" sz="2000" dirty="0"/>
          </a:p>
          <a:p>
            <a:pPr algn="ctr" indent="0" marL="0">
              <a:buNone/>
            </a:pPr>
            <a:r>
              <a:rPr lang="en-US" sz="2000" i="1" dirty="0">
                <a:solidFill>
                  <a:schemeClr val="tx1"/>
                </a:solidFill>
              </a:rPr>
              <a:t>z</a:t>
            </a:r>
            <a:pPr algn="ctr" indent="0" marL="0">
              <a:buNone/>
            </a:pPr>
            <a:r>
              <a:rPr lang="en-US" sz="2000" i="1" baseline="-40000" dirty="0">
                <a:solidFill>
                  <a:schemeClr val="tx1"/>
                </a:solidFill>
              </a:rPr>
              <a:t>ij</a:t>
            </a:r>
            <a:pPr algn="ctr" indent="0" marL="0">
              <a:buNone/>
            </a:pPr>
            <a:r>
              <a:rPr lang="en-US" sz="2000" dirty="0">
                <a:solidFill>
                  <a:schemeClr val="tx1"/>
                </a:solidFill>
              </a:rPr>
              <a:t> = (</a:t>
            </a:r>
            <a:pPr algn="ctr" indent="0" marL="0">
              <a:buNone/>
            </a:pPr>
            <a:r>
              <a:rPr lang="en-US" sz="2000" i="1" dirty="0">
                <a:solidFill>
                  <a:schemeClr val="tx1"/>
                </a:solidFill>
              </a:rPr>
              <a:t>π</a:t>
            </a:r>
            <a:pPr algn="ctr" indent="0" marL="0">
              <a:buNone/>
            </a:pPr>
            <a:r>
              <a:rPr lang="en-US" sz="2000" i="1" baseline="-40000" dirty="0">
                <a:solidFill>
                  <a:schemeClr val="tx1"/>
                </a:solidFill>
              </a:rPr>
              <a:t>j</a:t>
            </a:r>
            <a:pPr algn="ctr" indent="0" marL="0">
              <a:buNone/>
            </a:pPr>
            <a:r>
              <a:rPr lang="en-US" sz="2000" dirty="0">
                <a:solidFill>
                  <a:schemeClr val="tx1"/>
                </a:solidFill>
              </a:rPr>
              <a:t>(</a:t>
            </a:r>
            <a:pPr algn="ctr" indent="0" marL="0">
              <a:buNone/>
            </a:pPr>
            <a:r>
              <a:rPr lang="en-US" sz="2000" i="1" dirty="0">
                <a:solidFill>
                  <a:schemeClr val="tx1"/>
                </a:solidFill>
              </a:rPr>
              <a:t>i</a:t>
            </a:r>
            <a:pPr algn="ctr" indent="0" marL="0">
              <a:buNone/>
            </a:pPr>
            <a:r>
              <a:rPr lang="en-US" sz="2000" dirty="0">
                <a:solidFill>
                  <a:schemeClr val="tx1"/>
                </a:solidFill>
              </a:rPr>
              <a:t>) + </a:t>
            </a:r>
            <a:pPr algn="ctr" indent="0" marL="0">
              <a:buNone/>
            </a:pPr>
            <a:r>
              <a:rPr lang="en-US" sz="2000" i="1" dirty="0">
                <a:solidFill>
                  <a:schemeClr val="tx1"/>
                </a:solidFill>
              </a:rPr>
              <a:t>u</a:t>
            </a:r>
            <a:pPr algn="ctr" indent="0" marL="0">
              <a:buNone/>
            </a:pPr>
            <a:r>
              <a:rPr lang="en-US" sz="2000" i="1" baseline="-40000" dirty="0">
                <a:solidFill>
                  <a:schemeClr val="tx1"/>
                </a:solidFill>
              </a:rPr>
              <a:t>ij</a:t>
            </a:r>
            <a:pPr algn="ctr" indent="0" marL="0">
              <a:buNone/>
            </a:pPr>
            <a:r>
              <a:rPr lang="en-US" sz="2000" dirty="0">
                <a:solidFill>
                  <a:schemeClr val="tx1"/>
                </a:solidFill>
              </a:rPr>
              <a:t>)/(</a:t>
            </a:r>
            <a:pPr algn="ctr" indent="0" marL="0">
              <a:buNone/>
            </a:pPr>
            <a:r>
              <a:rPr lang="en-US" sz="2000" i="1" dirty="0">
                <a:solidFill>
                  <a:schemeClr val="tx1"/>
                </a:solidFill>
              </a:rPr>
              <a:t>n</a:t>
            </a:r>
            <a:pPr algn="ctr" indent="0" marL="0">
              <a:buNone/>
            </a:pPr>
            <a:r>
              <a:rPr lang="en-US" sz="2000" dirty="0">
                <a:solidFill>
                  <a:schemeClr val="tx1"/>
                </a:solidFill>
              </a:rPr>
              <a:t>), </a:t>
            </a:r>
            <a:pPr algn="ctr" indent="0" marL="0">
              <a:buNone/>
            </a:pPr>
            <a:r>
              <a:rPr lang="en-US" sz="2000" i="1" dirty="0">
                <a:solidFill>
                  <a:schemeClr val="tx1"/>
                </a:solidFill>
              </a:rPr>
              <a:t>i</a:t>
            </a:r>
            <a:pPr algn="ctr" indent="0" marL="0">
              <a:buNone/>
            </a:pPr>
            <a:r>
              <a:rPr lang="en-US" sz="2000" dirty="0">
                <a:solidFill>
                  <a:schemeClr val="tx1"/>
                </a:solidFill>
              </a:rPr>
              <a:t> = 0, …, </a:t>
            </a:r>
            <a:pPr algn="ctr" indent="0" marL="0">
              <a:buNone/>
            </a:pPr>
            <a:r>
              <a:rPr lang="en-US" sz="2000" i="1" dirty="0">
                <a:solidFill>
                  <a:schemeClr val="tx1"/>
                </a:solidFill>
              </a:rPr>
              <a:t>n</a:t>
            </a:r>
            <a:pPr algn="ctr" indent="0" marL="0">
              <a:buNone/>
            </a:pPr>
            <a:r>
              <a:rPr lang="en-US" sz="2000" dirty="0">
                <a:solidFill>
                  <a:schemeClr val="tx1"/>
                </a:solidFill>
              </a:rPr>
              <a:t>−1</a:t>
            </a:r>
            <a:endParaRPr lang="en-US" sz="2000" dirty="0"/>
          </a:p>
        </p:txBody>
      </p:sp>
      <p:graphicFrame>
        <p:nvGraphicFramePr>
          <p:cNvPr id="4" name="math-table"/>
          <p:cNvGraphicFramePr>
            <a:graphicFrameLocks noGrp="1"/>
          </p:cNvGraphicFramePr>
          <p:nvPr>
            <p:extLst>
              <p:ext uri="{D42A27DB-BD31-4B8C-83A1-F6EECF244321}">
                <p14:modId xmlns:p14="http://schemas.microsoft.com/office/powerpoint/2010/main" val="1579011935"/>
              </p:ext>
            </p:extLst>
          </p:nvPr>
        </p:nvGraphicFramePr>
        <p:xfrm>
          <a:off x="1234440" y="2778760"/>
          <a:ext cx="10408615" cy="914400"/>
        </p:xfrm>
        <a:graphic>
          <a:graphicData uri="http://schemas.openxmlformats.org/drawingml/2006/table">
            <a:tbl>
              <a:tblPr/>
              <a:tblGrid>
                <a:gridCol w="2289895"/>
                <a:gridCol w="6036997"/>
                <a:gridCol w="2081723"/>
              </a:tblGrid>
              <a:tr h="0">
                <a:tc>
                  <a:txBody>
                    <a:bodyPr/>
                    <a:lstStyle/>
                    <a:p>
                      <a:pPr indent="0" marL="0">
                        <a:buNone/>
                      </a:pPr>
                      <a:r>
                        <a:rPr lang="en-US" sz="1400" b="1" dirty="0">
                          <a:solidFill>
                            <a:srgbClr val="FFFFFF"/>
                          </a:solidFill>
                        </a:rPr>
                        <a:t>Symbol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Meaning</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Unit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r>
              <a:tr h="0">
                <a:tc>
                  <a:txBody>
                    <a:bodyPr/>
                    <a:lstStyle/>
                    <a:p>
                      <a:pPr indent="0" marL="0">
                        <a:buNone/>
                      </a:pPr>
                      <a:r>
                        <a:rPr lang="en-US" sz="1400" dirty="0">
                          <a:solidFill>
                            <a:srgbClr val="18212B"/>
                          </a:solidFill>
                        </a:rPr>
                        <a:t>π</a:t>
                      </a:r>
                      <a:pPr indent="0" marL="0">
                        <a:buNone/>
                      </a:pPr>
                      <a:r>
                        <a:rPr lang="en-US" sz="1400" baseline="-40000" dirty="0">
                          <a:solidFill>
                            <a:srgbClr val="18212B"/>
                          </a:solidFill>
                        </a:rPr>
                        <a:t>j</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a random permutation of 0…n−1, independent for each variable j</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u</a:t>
                      </a:r>
                      <a:pPr indent="0" marL="0">
                        <a:buNone/>
                      </a:pPr>
                      <a:r>
                        <a:rPr lang="en-US" sz="1400" baseline="-40000" dirty="0">
                          <a:solidFill>
                            <a:srgbClr val="18212B"/>
                          </a:solidFill>
                        </a:rPr>
                        <a:t>ij</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uniform random number in [0, 1) (use 0.5 for stratum centres)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bl>
          </a:graphicData>
        </a:graphic>
      </p:graphicFrame>
      <p:sp>
        <p:nvSpPr>
          <p:cNvPr id="10" name="math-card"/>
          <p:cNvSpPr/>
          <p:nvPr/>
        </p:nvSpPr>
        <p:spPr>
          <a:xfrm>
            <a:off x="1143000" y="4808728"/>
            <a:ext cx="10500055" cy="1203960"/>
          </a:xfrm>
          <a:prstGeom prst="roundRect">
            <a:avLst>
              <a:gd name="adj" fmla="val 9114"/>
            </a:avLst>
          </a:prstGeom>
          <a:solidFill>
            <a:schemeClr val="bg2"/>
          </a:solidFill>
          <a:ln w="12700">
            <a:solidFill>
              <a:schemeClr val="bg2">
                <a:alpha val="30000"/>
              </a:schemeClr>
            </a:solidFill>
            <a:prstDash val="solid"/>
          </a:ln>
        </p:spPr>
      </p:sp>
      <p:sp>
        <p:nvSpPr>
          <p:cNvPr id="11" name="math-text"/>
          <p:cNvSpPr txBox="1"/>
          <p:nvPr/>
        </p:nvSpPr>
        <p:spPr>
          <a:xfrm>
            <a:off x="1234440" y="4854448"/>
            <a:ext cx="10408615" cy="1112520"/>
          </a:xfrm>
          <a:prstGeom prst="rect">
            <a:avLst/>
          </a:prstGeom>
          <a:noFill/>
          <a:ln/>
        </p:spPr>
        <p:txBody>
          <a:bodyPr wrap="square" lIns="1270" tIns="1270" rIns="1270" bIns="1270" rtlCol="0" anchor="ctr"/>
          <a:lstStyle/>
          <a:p>
            <a:pPr indent="0" marL="0">
              <a:buNone/>
            </a:pPr>
            <a:r>
              <a:rPr lang="en-US" sz="2000" dirty="0">
                <a:solidFill>
                  <a:schemeClr val="tx1"/>
                </a:solidFill>
              </a:rPr>
              <a:t>Space-filling measures: </a:t>
            </a:r>
            <a:pPr indent="0" marL="0">
              <a:buNone/>
            </a:pPr>
            <a:r>
              <a:rPr lang="en-US" sz="2000" b="1" dirty="0">
                <a:solidFill>
                  <a:schemeClr val="tx1"/>
                </a:solidFill>
              </a:rPr>
              <a:t>minimum pairwise distance</a:t>
            </a:r>
            <a:pPr indent="0" marL="0">
              <a:buNone/>
            </a:pPr>
            <a:r>
              <a:rPr lang="en-US" sz="2000" dirty="0">
                <a:solidFill>
                  <a:schemeClr val="tx1"/>
                </a:solidFill>
              </a:rPr>
              <a:t> (larger = less clumping; “maximin” designs maximize it) and </a:t>
            </a:r>
            <a:pPr indent="0" marL="0">
              <a:buNone/>
            </a:pPr>
            <a:r>
              <a:rPr lang="en-US" sz="2000" b="1" dirty="0">
                <a:solidFill>
                  <a:schemeClr val="tx1"/>
                </a:solidFill>
              </a:rPr>
              <a:t>fill distance</a:t>
            </a:r>
            <a:pPr indent="0" marL="0">
              <a:buNone/>
            </a:pPr>
            <a:r>
              <a:rPr lang="en-US" sz="2000" dirty="0">
                <a:solidFill>
                  <a:schemeClr val="tx1"/>
                </a:solidFill>
              </a:rPr>
              <a:t> (the largest distance from any point of the space to its nearest sample; smaller = no big holes).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Random, Latin hypercube and Sobol sampling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Spreading points evenly with few runs</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Additive manufacturing: 16 coupons over (laser power, scan speed) via LHS test 16 distinct power levels and 16 distinct speeds, unlike a 4×4 grid with only 4 of each. In SciPy: </a:t>
            </a:r>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qmc.LatinHypercube(d=2, seed=1).random(16)</a:t>
            </a:r>
            <a:pPr indent="0" marL="0">
              <a:spcAft>
                <a:spcPts val="600"/>
              </a:spcAft>
              <a:buNone/>
            </a:pPr>
            <a:r>
              <a:rPr lang="en-US" sz="2000" dirty="0">
                <a:solidFill>
                  <a:schemeClr val="tx1"/>
                </a:solidFill>
              </a:rPr>
              <a:t> and </a:t>
            </a:r>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qmc.Sobol(d=2, scramble=True, seed=1).random_base2(m=4)</a:t>
            </a:r>
            <a:pPr indent="0" marL="0">
              <a:spcAft>
                <a:spcPts val="600"/>
              </a:spcAft>
              <a:buNone/>
            </a:pPr>
            <a:r>
              <a:rPr lang="en-US" sz="2000" dirty="0">
                <a:solidFill>
                  <a:schemeClr val="tx1"/>
                </a:solidFill>
              </a:rPr>
              <a:t>.</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For an initial surrogate design, a common rule of thumb is about 10 × </a:t>
            </a:r>
            <a:pPr indent="0" marL="0">
              <a:spcAft>
                <a:spcPts val="600"/>
              </a:spcAft>
              <a:buNone/>
            </a:pPr>
            <a:r>
              <a:rPr lang="en-US" sz="2000" i="1" dirty="0">
                <a:solidFill>
                  <a:schemeClr val="tx1"/>
                </a:solidFill>
              </a:rPr>
              <a:t>d</a:t>
            </a:r>
            <a:pPr indent="0" marL="0">
              <a:spcAft>
                <a:spcPts val="600"/>
              </a:spcAft>
              <a:buNone/>
            </a:pPr>
            <a:r>
              <a:rPr lang="en-US" sz="2000" dirty="0">
                <a:solidFill>
                  <a:schemeClr val="tx1"/>
                </a:solidFill>
              </a:rPr>
              <a:t> points (here ~20) — then add points sequentially where needed (Modules 11–12). Treat it as a starting point, not a law.</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Random, Latin hypercube and Sobol sampling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With LHS of n = 10 points, how many points fall in the stratum 0.3 ≤ z₁ &lt; 0.4?</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Random, Latin hypercube and Sobol sampling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With LHS of n = 10 points, how many points fall in the stratum 0.3 ≤ z₁ &lt; 0.4?</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Exactly one — that is the defining property of LHS in every variable.</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Random, Latin hypercube and Sobol sampling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Spreading points evenly with few runs</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LHS guarantees a good 2-D spread.</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guarantees even 1-D projections only; a bad permutation can still line points up diagonally. Optimized (maximin) LHS or several seeds help.</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LHS covers each variable evenly; Sobol fills space evenly and extends nicely; random is simplest but clumpy.</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1800" b="1" dirty="0">
                <a:solidFill>
                  <a:schemeClr val="tx2"/>
                </a:solidFill>
              </a:rPr>
              <a:t>Spreading points evenly with few runs</a:t>
            </a:r>
            <a:endParaRPr lang="en-US" sz="1800" dirty="0"/>
          </a:p>
          <a:p>
            <a:pPr indent="0" marL="0">
              <a:buNone/>
            </a:pPr>
            <a:r>
              <a:rPr lang="en-US" sz="1800" dirty="0">
                <a:solidFill>
                  <a:schemeClr val="tx1"/>
                </a:solidFill>
              </a:rPr>
              <a:t>LHS covers each variable evenly; Sobol fills space evenly and extends nicely; random is simplest but clumpy.</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7.3</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Scaling, validation points and practical choices under a budget</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7: Lesson 3.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Lesson 2: Random, Latin hypercube and Sobol sampling</dc:title>
  <dc:subject>Machine Learning Fundamentals for Surrogate-Based Engineering Optimization</dc:subject>
  <dc:creator>Prof. Mazharul Islam</dc:creator>
  <cp:lastModifiedBy>Prof. Mazharul Islam</cp:lastModifiedBy>
  <cp:revision>1</cp:revision>
  <dcterms:created xsi:type="dcterms:W3CDTF">2026-10-07T01:12:31Z</dcterms:created>
  <dcterms:modified xsi:type="dcterms:W3CDTF">2026-10-07T01:12:31Z</dcterms:modified>
</cp:coreProperties>
</file>