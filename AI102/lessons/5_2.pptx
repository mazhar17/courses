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c749b3c-73df-3056-9841-954182ee3e7d}">
          <p14:sldIdLst>
            <p14:sldId id="256"/>
          </p14:sldIdLst>
        </p14:section>
        <p14:section name="Lesson 2: Underfitting, overfitting and the bias–variance trade-off" id="{b2fd9633-0d3a-443e-2116-64635cd806e7}">
          <p14:sldIdLst>
            <p14:sldId id="257"/>
            <p14:sldId id="258"/>
            <p14:sldId id="259"/>
            <p14:sldId id="260"/>
            <p14:sldId id="261"/>
            <p14:sldId id="262"/>
            <p14:sldId id="263"/>
            <p14:sldId id="264"/>
            <p14:sldId id="265"/>
          </p14:sldIdLst>
        </p14:section>
        <p14:section name="Summary" id="{eec8bab5-43e9-7d58-cb7f-4d9c49fa71f2}">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5, Lesson 2 of the self-paced course Machine Learning Fundamentals for Surrogate-Based Engineering Optimization: Underfitting, overfitting and the bias–variance trade-off. This lesson belongs to the module Generalization and trustworthy validation and takes about 12 minutes. In this lesson: Too simple, about right, too flexible.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 simple, about right, too flexible. An underfitted model is too simple to follow the true trend (high error everywhere). An overfitted model is so flexible that it follows noise or wiggles between samples (low training error, high validation error). The goal is the flexibility that minimizes validation error. Look at the figure. The same nine noisy samples fitted with degree 1 (underfit), 3 (suitable) and 8 (overfit) polynomials. Three panels. Degree 1: a straight line missing the U-shaped trend. Degree 3: a smooth curve close to the true response. Degree 8: a wiggly curve passing near every point but oscillating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another view. Change polynomial degree, number of samples and noise; compare training and validation RMSE. Plot of the true response R(s) at t = 0.6 mm, training samples, validation samples and a polynomial fit. Sliders control degree (1–12), sample size (4–40) and synthetic noise; the readout shows training and validation RMSE and a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another view. Fifteen fits to different random samples for three degrees: spread = variance, offset = bias. Three panels with many faint blue curves: degree 1 curves agree with each other but miss the truth (bias); degree 3 curves cluster around the truth; degree 9 curves scatter widely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For a model trained on random data, the expected squared error at x decomposes as 𝔼[(y − f̂)^2] = (bias)^2 + variance + σ^2_{noise} bias is the systematic error: average prediction minus truth, in units of y. variance is the how much predictions change with different training sets, in (units of y)². σ²_{noise} is the irreducible noise (zero for a deterministic simulator), in (units of y)².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More flexibility lowers bias but raises variance. A polynomial of degree p in one variable has p + 1 coefficients; if p + 1 ≥ n, it can pass through every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For a deterministic simulator, σ²_{noise} = 0 and an interpolating model (passing through all samples) is not automatically overfitting; the danger then is wild behaviour between samples. For noisy experiments (machining tests, AM coupons), interpolating the noise is overfitting. A practical tip: Increase model flexibility only while validation error keeps dropping; stop when it 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With 6 noise-free samples, a degree-5 polynomial passes exactly through all of them. Is its training RMSE meaningful evidence of accuracy?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No — it is zero by construction (6 coefficients, 6 points). Only validation points between the samples reveal its real error, which may be large (oscillation).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Overfitting only happens with noisy data. In fact: With noise-free data the risk becomes oscillation between samples. Validation is needed either way. The takeaway: Choose flexibility by validation error; bias falls and variance rises with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Too simple, about right, too flexible: Choose flexibility by validation error; bias falls and variance rises with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2 of Module 5: Underfitting, overfitting and the bias–variance trade-off. Next comes Lesson 3: Cross-validation and learning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5, Lesson 2 · Underfitting, overfitting and the bias–variance trade-off</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5, Lesson 2 · Underfitting, overfitting and the bias–variance trade-off</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05 · LESSON 2 OF 5 · ≈ 12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Underfitting, overfitting and the bias–variance trade-off</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5: Generalization and trustworthy validation</a:t>
            </a:r>
            <a:endParaRPr lang="en-US" sz="1800" dirty="0"/>
          </a:p>
          <a:p>
            <a:pPr marL="342900" indent="-342900">
              <a:buSzPct val="100000"/>
              <a:buChar char="•"/>
            </a:pPr>
            <a:r>
              <a:rPr lang="en-US" sz="1800" dirty="0">
                <a:solidFill>
                  <a:srgbClr val="D6E2F0"/>
                </a:solidFill>
              </a:rPr>
              <a:t>Too simple, about right, too flexible</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5.2</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Underfitting, overfitting and the bias–variance trade-off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Too simple, about right, too flexible</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005840"/>
          </a:xfrm>
          <a:prstGeom prst="rect">
            <a:avLst/>
          </a:prstGeom>
          <a:noFill/>
          <a:ln/>
        </p:spPr>
        <p:txBody>
          <a:bodyPr wrap="square" lIns="1270" tIns="1270" rIns="1270" bIns="1270" rtlCol="0" anchor="t"/>
          <a:lstStyle/>
          <a:p>
            <a:pPr indent="0" marL="0">
              <a:spcAft>
                <a:spcPts val="600"/>
              </a:spcAft>
              <a:buNone/>
            </a:pPr>
            <a:r>
              <a:rPr lang="en-US" sz="1600" dirty="0">
                <a:solidFill>
                  <a:schemeClr val="tx1"/>
                </a:solidFill>
              </a:rPr>
              <a:t>An </a:t>
            </a:r>
            <a:pPr indent="0" marL="0">
              <a:spcAft>
                <a:spcPts val="600"/>
              </a:spcAft>
              <a:buNone/>
            </a:pPr>
            <a:r>
              <a:rPr lang="en-US" sz="1600" b="1" dirty="0">
                <a:solidFill>
                  <a:schemeClr val="tx1"/>
                </a:solidFill>
              </a:rPr>
              <a:t>underfitted</a:t>
            </a:r>
            <a:pPr indent="0" marL="0">
              <a:spcAft>
                <a:spcPts val="600"/>
              </a:spcAft>
              <a:buNone/>
            </a:pPr>
            <a:r>
              <a:rPr lang="en-US" sz="1600" dirty="0">
                <a:solidFill>
                  <a:schemeClr val="tx1"/>
                </a:solidFill>
              </a:rPr>
              <a:t> model is too simple to follow the true trend (high error everywhere). An </a:t>
            </a:r>
            <a:pPr indent="0" marL="0">
              <a:spcAft>
                <a:spcPts val="600"/>
              </a:spcAft>
              <a:buNone/>
            </a:pPr>
            <a:r>
              <a:rPr lang="en-US" sz="1600" b="1" dirty="0">
                <a:solidFill>
                  <a:schemeClr val="tx1"/>
                </a:solidFill>
              </a:rPr>
              <a:t>overfitted</a:t>
            </a:r>
            <a:pPr indent="0" marL="0">
              <a:spcAft>
                <a:spcPts val="600"/>
              </a:spcAft>
              <a:buNone/>
            </a:pPr>
            <a:r>
              <a:rPr lang="en-US" sz="1600" dirty="0">
                <a:solidFill>
                  <a:schemeClr val="tx1"/>
                </a:solidFill>
              </a:rPr>
              <a:t> model is so flexible that it follows noise or wiggles between samples (low training error, high validation error). The goal is the flexibility that minimizes validation error.</a:t>
            </a:r>
            <a:endParaRPr lang="en-US" sz="1600" dirty="0"/>
          </a:p>
        </p:txBody>
      </p:sp>
      <p:pic>
        <p:nvPicPr>
          <p:cNvPr id="8" name="figure" descr="Three panels. Degree 1: a straight line missing the U-shaped trend. Degree 3: a smooth curve close to the true response. Degree 8: a wiggly curve passing near every point but oscillating between them.">    </p:cNvPr>
          <p:cNvPicPr>
            <a:picLocks noChangeAspect="1"/>
          </p:cNvPicPr>
          <p:nvPr/>
        </p:nvPicPr>
        <p:blipFill>
          <a:blip r:embed="rId2"/>
          <a:stretch>
            <a:fillRect/>
          </a:stretch>
        </p:blipFill>
        <p:spPr>
          <a:xfrm>
            <a:off x="1743017" y="2743200"/>
            <a:ext cx="8705662" cy="2880360"/>
          </a:xfrm>
          <a:prstGeom prst="rect">
            <a:avLst/>
          </a:prstGeom>
        </p:spPr>
      </p:pic>
      <p:sp>
        <p:nvSpPr>
          <p:cNvPr id="9" name="Text 4"/>
          <p:cNvSpPr txBox="1"/>
          <p:nvPr/>
        </p:nvSpPr>
        <p:spPr>
          <a:xfrm>
            <a:off x="548640" y="5669280"/>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The same nine noisy samples fitted with degree 1 (underfit), 3 (suitable) and 8 (overfit) polynomials.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Underfitting, overfitting and the bias–variance trade-off · Figure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Too simple, about right, too flexible</a:t>
            </a:r>
            <a:endParaRPr lang="en-US" sz="3200" dirty="0"/>
          </a:p>
        </p:txBody>
      </p:sp>
      <p:pic>
        <p:nvPicPr>
          <p:cNvPr id="5" name="figure" descr="Plot of the true response R(s) at t = 0.6 mm, training samples, validation samples and a polynomial fit. Sliders control degree (1–12), sample size (4–40) and synthetic noise; the readout shows training and validation RMSE and a verdict.">    </p:cNvPr>
          <p:cNvPicPr>
            <a:picLocks noChangeAspect="1"/>
          </p:cNvPicPr>
          <p:nvPr/>
        </p:nvPicPr>
        <p:blipFill>
          <a:blip r:embed="rId1"/>
          <a:stretch>
            <a:fillRect/>
          </a:stretch>
        </p:blipFill>
        <p:spPr>
          <a:xfrm>
            <a:off x="2816003" y="1645920"/>
            <a:ext cx="6559688" cy="3931920"/>
          </a:xfrm>
          <a:prstGeom prst="rect">
            <a:avLst/>
          </a:prstGeom>
        </p:spPr>
      </p:pic>
      <p:sp>
        <p:nvSpPr>
          <p:cNvPr id="6" name="Text 2"/>
          <p:cNvSpPr txBox="1"/>
          <p:nvPr/>
        </p:nvSpPr>
        <p:spPr>
          <a:xfrm>
            <a:off x="548640" y="5669280"/>
            <a:ext cx="11094415" cy="548640"/>
          </a:xfrm>
          <a:prstGeom prst="rect">
            <a:avLst/>
          </a:prstGeom>
          <a:noFill/>
          <a:ln/>
        </p:spPr>
        <p:txBody>
          <a:bodyPr wrap="square" lIns="0" tIns="0" rIns="0" bIns="0" rtlCol="0" anchor="ctr"/>
          <a:lstStyle/>
          <a:p>
            <a:pPr algn="ctr" indent="0" marL="0">
              <a:buNone/>
            </a:pPr>
            <a:r>
              <a:rPr lang="en-US" sz="1400" i="1" dirty="0">
                <a:solidFill>
                  <a:srgbClr val="46525F"/>
                </a:solidFill>
              </a:rPr>
              <a:t>Change polynomial degree, number of samples and noise; compare training and validation RMSE. (Interactive in the online course.)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Underfitting, overfitting and the bias–variance trade-off · Figure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Too simple, about right, too flexible</a:t>
            </a:r>
            <a:endParaRPr lang="en-US" sz="3200" dirty="0"/>
          </a:p>
        </p:txBody>
      </p:sp>
      <p:pic>
        <p:nvPicPr>
          <p:cNvPr id="5" name="figure" descr="Three panels with many faint blue curves: degree 1 curves agree with each other but miss the truth (bias); degree 3 curves cluster around the truth; degree 9 curves scatter widely (variance).">    </p:cNvPr>
          <p:cNvPicPr>
            <a:picLocks noChangeAspect="1"/>
          </p:cNvPicPr>
          <p:nvPr/>
        </p:nvPicPr>
        <p:blipFill>
          <a:blip r:embed="rId1"/>
          <a:stretch>
            <a:fillRect/>
          </a:stretch>
        </p:blipFill>
        <p:spPr>
          <a:xfrm>
            <a:off x="3883286" y="1645920"/>
            <a:ext cx="4425123" cy="3931920"/>
          </a:xfrm>
          <a:prstGeom prst="rect">
            <a:avLst/>
          </a:prstGeom>
        </p:spPr>
      </p:pic>
      <p:sp>
        <p:nvSpPr>
          <p:cNvPr id="6" name="Text 2"/>
          <p:cNvSpPr txBox="1"/>
          <p:nvPr/>
        </p:nvSpPr>
        <p:spPr>
          <a:xfrm>
            <a:off x="548640" y="5669280"/>
            <a:ext cx="11094415" cy="548640"/>
          </a:xfrm>
          <a:prstGeom prst="rect">
            <a:avLst/>
          </a:prstGeom>
          <a:noFill/>
          <a:ln/>
        </p:spPr>
        <p:txBody>
          <a:bodyPr wrap="square" lIns="0" tIns="0" rIns="0" bIns="0" rtlCol="0" anchor="ctr"/>
          <a:lstStyle/>
          <a:p>
            <a:pPr algn="ctr" indent="0" marL="0">
              <a:buNone/>
            </a:pPr>
            <a:r>
              <a:rPr lang="en-US" sz="1400" i="1" dirty="0">
                <a:solidFill>
                  <a:srgbClr val="46525F"/>
                </a:solidFill>
              </a:rPr>
              <a:t>Fifteen fits to different random samples for three degrees: spread = variance, offset = bias.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Underfitting, overfitting and the bias–variance trade-off · The mathematics (1/2)</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Too simple, about right, too flexible</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305560"/>
          </a:xfrm>
          <a:prstGeom prst="roundRect">
            <a:avLst>
              <a:gd name="adj" fmla="val 8405"/>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214120"/>
          </a:xfrm>
          <a:prstGeom prst="rect">
            <a:avLst/>
          </a:prstGeom>
          <a:noFill/>
          <a:ln/>
        </p:spPr>
        <p:txBody>
          <a:bodyPr wrap="square" lIns="1270" tIns="1270" rIns="1270" bIns="1270" rtlCol="0" anchor="ctr"/>
          <a:lstStyle/>
          <a:p>
            <a:pPr indent="0" marL="0">
              <a:spcAft>
                <a:spcPts val="800"/>
              </a:spcAft>
              <a:buNone/>
            </a:pPr>
            <a:r>
              <a:rPr lang="en-US" sz="2000" dirty="0">
                <a:solidFill>
                  <a:schemeClr val="tx1"/>
                </a:solidFill>
              </a:rPr>
              <a:t>For a model trained on random data, the expected squared error at </a:t>
            </a:r>
            <a:pPr indent="0" marL="0">
              <a:buNone/>
            </a:pPr>
            <a:r>
              <a:rPr lang="en-US" sz="2000" b="1" dirty="0">
                <a:solidFill>
                  <a:schemeClr val="tx1"/>
                </a:solidFill>
              </a:rPr>
              <a:t>x</a:t>
            </a:r>
            <a:pPr indent="0" marL="0">
              <a:buNone/>
            </a:pPr>
            <a:r>
              <a:rPr lang="en-US" sz="2000" dirty="0">
                <a:solidFill>
                  <a:schemeClr val="tx1"/>
                </a:solidFill>
              </a:rPr>
              <a:t> decomposes as</a:t>
            </a:r>
            <a:endParaRPr lang="en-US" sz="2000" dirty="0"/>
          </a:p>
          <a:p>
            <a:pPr algn="ctr" indent="0" marL="0">
              <a:buNone/>
            </a:pPr>
            <a:r>
              <a:rPr lang="en-US" sz="2000" dirty="0">
                <a:solidFill>
                  <a:schemeClr val="tx1"/>
                </a:solidFill>
              </a:rPr>
              <a:t>𝔼[(</a:t>
            </a:r>
            <a:pPr algn="ctr" indent="0" marL="0">
              <a:buNone/>
            </a:pPr>
            <a:r>
              <a:rPr lang="en-US" sz="2000" i="1" dirty="0">
                <a:solidFill>
                  <a:schemeClr val="tx1"/>
                </a:solidFill>
              </a:rPr>
              <a:t>y</a:t>
            </a:r>
            <a:pPr algn="ctr" indent="0" marL="0">
              <a:buNone/>
            </a:pPr>
            <a:r>
              <a:rPr lang="en-US" sz="2000" dirty="0">
                <a:solidFill>
                  <a:schemeClr val="tx1"/>
                </a:solidFill>
              </a:rPr>
              <a:t> − </a:t>
            </a:r>
            <a:pPr algn="ctr" indent="0" marL="0">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aseline="30000" dirty="0">
                <a:solidFill>
                  <a:schemeClr val="tx1"/>
                </a:solidFill>
              </a:rPr>
              <a:t>2</a:t>
            </a:r>
            <a:pPr algn="ctr" indent="0" marL="0">
              <a:buNone/>
            </a:pPr>
            <a:r>
              <a:rPr lang="en-US" sz="2000" dirty="0">
                <a:solidFill>
                  <a:schemeClr val="tx1"/>
                </a:solidFill>
              </a:rPr>
              <a:t>] = (bias)</a:t>
            </a:r>
            <a:pPr algn="ctr" indent="0" marL="0">
              <a:buNone/>
            </a:pPr>
            <a:r>
              <a:rPr lang="en-US" sz="2000" baseline="30000" dirty="0">
                <a:solidFill>
                  <a:schemeClr val="tx1"/>
                </a:solidFill>
              </a:rPr>
              <a:t>2</a:t>
            </a:r>
            <a:pPr algn="ctr" indent="0" marL="0">
              <a:buNone/>
            </a:pPr>
            <a:r>
              <a:rPr lang="en-US" sz="2000" dirty="0">
                <a:solidFill>
                  <a:schemeClr val="tx1"/>
                </a:solidFill>
              </a:rPr>
              <a:t> + variance + σ</a:t>
            </a:r>
            <a:pPr algn="ctr" indent="0" marL="0">
              <a:buNone/>
            </a:pPr>
            <a:r>
              <a:rPr lang="en-US" sz="2000" baseline="30000" dirty="0">
                <a:solidFill>
                  <a:schemeClr val="tx1"/>
                </a:solidFill>
              </a:rPr>
              <a:t>2</a:t>
            </a:r>
            <a:pPr algn="ctr" indent="0" marL="0">
              <a:buNone/>
            </a:pPr>
            <a:r>
              <a:rPr lang="en-US" sz="2000" baseline="-40000" dirty="0">
                <a:solidFill>
                  <a:schemeClr val="tx1"/>
                </a:solidFill>
              </a:rPr>
              <a:t>noise</a:t>
            </a:r>
            <a:endParaRPr lang="en-US" sz="2000" dirty="0"/>
          </a:p>
        </p:txBody>
      </p:sp>
      <p:graphicFrame>
        <p:nvGraphicFramePr>
          <p:cNvPr id="6" name="math-table"/>
          <p:cNvGraphicFramePr>
            <a:graphicFrameLocks noGrp="1"/>
          </p:cNvGraphicFramePr>
          <p:nvPr>
            <p:extLst>
              <p:ext uri="{D42A27DB-BD31-4B8C-83A1-F6EECF244321}">
                <p14:modId xmlns:p14="http://schemas.microsoft.com/office/powerpoint/2010/main" val="1579011935"/>
              </p:ext>
            </p:extLst>
          </p:nvPr>
        </p:nvGraphicFramePr>
        <p:xfrm>
          <a:off x="1234440" y="3088640"/>
          <a:ext cx="10408615" cy="914400"/>
        </p:xfrm>
        <a:graphic>
          <a:graphicData uri="http://schemas.openxmlformats.org/drawingml/2006/table">
            <a:tbl>
              <a:tblPr/>
              <a:tblGrid>
                <a:gridCol w="2289895"/>
                <a:gridCol w="6036997"/>
                <a:gridCol w="2081723"/>
              </a:tblGrid>
              <a:tr h="0">
                <a:tc>
                  <a:txBody>
                    <a:bodyPr/>
                    <a:lstStyle/>
                    <a:p>
                      <a:pPr indent="0" marL="0">
                        <a:buNone/>
                      </a:pPr>
                      <a:r>
                        <a:rPr lang="en-US" sz="1400" b="1" dirty="0">
                          <a:solidFill>
                            <a:srgbClr val="FFFFFF"/>
                          </a:solidFill>
                        </a:rPr>
                        <a:t>Symbol</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c>
                  <a:txBody>
                    <a:bodyPr/>
                    <a:lstStyle/>
                    <a:p>
                      <a:pPr indent="0" marL="0">
                        <a:buNone/>
                      </a:pPr>
                      <a:r>
                        <a:rPr lang="en-US" sz="1400" b="1" dirty="0">
                          <a:solidFill>
                            <a:srgbClr val="FFFFFF"/>
                          </a:solidFill>
                        </a:rPr>
                        <a:t>Meaning</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c>
                  <a:txBody>
                    <a:bodyPr/>
                    <a:lstStyle/>
                    <a:p>
                      <a:pPr indent="0" marL="0">
                        <a:buNone/>
                      </a:pPr>
                      <a:r>
                        <a:rPr lang="en-US" sz="1400" b="1" dirty="0">
                          <a:solidFill>
                            <a:srgbClr val="FFFFFF"/>
                          </a:solidFill>
                        </a:rPr>
                        <a:t>Unit</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r>
              <a:tr h="0">
                <a:tc>
                  <a:txBody>
                    <a:bodyPr/>
                    <a:lstStyle/>
                    <a:p>
                      <a:pPr indent="0" marL="0">
                        <a:buNone/>
                      </a:pPr>
                      <a:r>
                        <a:rPr lang="en-US" sz="1400" dirty="0">
                          <a:solidFill>
                            <a:srgbClr val="18212B"/>
                          </a:solidFill>
                        </a:rPr>
                        <a:t>bias</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systematic error: average prediction minus truth</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units of y</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8212B"/>
                          </a:solidFill>
                        </a:rPr>
                        <a:t>variance</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how much predictions change with different training sets</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(units of y)²</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400" dirty="0">
                          <a:solidFill>
                            <a:srgbClr val="18212B"/>
                          </a:solidFill>
                        </a:rPr>
                        <a:t>σ²</a:t>
                      </a:r>
                      <a:pPr indent="0" marL="0">
                        <a:buNone/>
                      </a:pPr>
                      <a:r>
                        <a:rPr lang="en-US" sz="1400" baseline="-40000" dirty="0">
                          <a:solidFill>
                            <a:srgbClr val="18212B"/>
                          </a:solidFill>
                        </a:rPr>
                        <a:t>noise</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irreducible noise (zero for a deterministic simulator)</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(units of y)²</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Underfitting, overfitting and the bias–variance trade-off · The mathematics (2/2)</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Too simple, about right, too flexible</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203960"/>
          </a:xfrm>
          <a:prstGeom prst="roundRect">
            <a:avLst>
              <a:gd name="adj" fmla="val 9114"/>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112520"/>
          </a:xfrm>
          <a:prstGeom prst="rect">
            <a:avLst/>
          </a:prstGeom>
          <a:noFill/>
          <a:ln/>
        </p:spPr>
        <p:txBody>
          <a:bodyPr wrap="square" lIns="1270" tIns="1270" rIns="1270" bIns="1270" rtlCol="0" anchor="ctr"/>
          <a:lstStyle/>
          <a:p>
            <a:pPr indent="0" marL="0">
              <a:buNone/>
            </a:pPr>
            <a:r>
              <a:rPr lang="en-US" sz="2000" dirty="0">
                <a:solidFill>
                  <a:schemeClr val="tx1"/>
                </a:solidFill>
              </a:rPr>
              <a:t>More flexibility lowers bias but raises variance. A polynomial of degree </a:t>
            </a:r>
            <a:pPr indent="0" marL="0">
              <a:buNone/>
            </a:pPr>
            <a:r>
              <a:rPr lang="en-US" sz="2000" i="1" dirty="0">
                <a:solidFill>
                  <a:schemeClr val="tx1"/>
                </a:solidFill>
              </a:rPr>
              <a:t>p</a:t>
            </a:r>
            <a:pPr indent="0" marL="0">
              <a:buNone/>
            </a:pPr>
            <a:r>
              <a:rPr lang="en-US" sz="2000" dirty="0">
                <a:solidFill>
                  <a:schemeClr val="tx1"/>
                </a:solidFill>
              </a:rPr>
              <a:t> in one variable has </a:t>
            </a:r>
            <a:pPr indent="0" marL="0">
              <a:buNone/>
            </a:pPr>
            <a:r>
              <a:rPr lang="en-US" sz="2000" i="1" dirty="0">
                <a:solidFill>
                  <a:schemeClr val="tx1"/>
                </a:solidFill>
              </a:rPr>
              <a:t>p</a:t>
            </a:r>
            <a:pPr indent="0" marL="0">
              <a:buNone/>
            </a:pPr>
            <a:r>
              <a:rPr lang="en-US" sz="2000" dirty="0">
                <a:solidFill>
                  <a:schemeClr val="tx1"/>
                </a:solidFill>
              </a:rPr>
              <a:t> + 1 coefficients; if </a:t>
            </a:r>
            <a:pPr indent="0" marL="0">
              <a:buNone/>
            </a:pPr>
            <a:r>
              <a:rPr lang="en-US" sz="2000" i="1" dirty="0">
                <a:solidFill>
                  <a:schemeClr val="tx1"/>
                </a:solidFill>
              </a:rPr>
              <a:t>p</a:t>
            </a:r>
            <a:pPr indent="0" marL="0">
              <a:buNone/>
            </a:pPr>
            <a:r>
              <a:rPr lang="en-US" sz="2000" dirty="0">
                <a:solidFill>
                  <a:schemeClr val="tx1"/>
                </a:solidFill>
              </a:rPr>
              <a:t> + 1 ≥ </a:t>
            </a:r>
            <a:pPr indent="0" marL="0">
              <a:buNone/>
            </a:pPr>
            <a:r>
              <a:rPr lang="en-US" sz="2000" i="1" dirty="0">
                <a:solidFill>
                  <a:schemeClr val="tx1"/>
                </a:solidFill>
              </a:rPr>
              <a:t>n</a:t>
            </a:r>
            <a:pPr indent="0" marL="0">
              <a:buNone/>
            </a:pPr>
            <a:r>
              <a:rPr lang="en-US" sz="2000" dirty="0">
                <a:solidFill>
                  <a:schemeClr val="tx1"/>
                </a:solidFill>
              </a:rPr>
              <a:t>, it can pass through every point.</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Underfitting, overfitting and the bias–variance trade-off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Too simple, about right, too flexible</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For a deterministic simulator, σ²</a:t>
            </a:r>
            <a:pPr indent="0" marL="0">
              <a:spcAft>
                <a:spcPts val="600"/>
              </a:spcAft>
              <a:buNone/>
            </a:pPr>
            <a:r>
              <a:rPr lang="en-US" sz="2000" baseline="-40000" dirty="0">
                <a:solidFill>
                  <a:schemeClr val="tx1"/>
                </a:solidFill>
              </a:rPr>
              <a:t>noise</a:t>
            </a:r>
            <a:pPr indent="0" marL="0">
              <a:spcAft>
                <a:spcPts val="600"/>
              </a:spcAft>
              <a:buNone/>
            </a:pPr>
            <a:r>
              <a:rPr lang="en-US" sz="2000" dirty="0">
                <a:solidFill>
                  <a:schemeClr val="tx1"/>
                </a:solidFill>
              </a:rPr>
              <a:t> = 0 and an interpolating model (passing through all samples) is not automatically overfitting; the danger then is wild behaviour </a:t>
            </a:r>
            <a:pPr indent="0" marL="0">
              <a:spcAft>
                <a:spcPts val="600"/>
              </a:spcAft>
              <a:buNone/>
            </a:pPr>
            <a:r>
              <a:rPr lang="en-US" sz="2000" i="1" dirty="0">
                <a:solidFill>
                  <a:schemeClr val="tx1"/>
                </a:solidFill>
              </a:rPr>
              <a:t>between</a:t>
            </a:r>
            <a:pPr indent="0" marL="0">
              <a:spcAft>
                <a:spcPts val="600"/>
              </a:spcAft>
              <a:buNone/>
            </a:pPr>
            <a:r>
              <a:rPr lang="en-US" sz="2000" dirty="0">
                <a:solidFill>
                  <a:schemeClr val="tx1"/>
                </a:solidFill>
              </a:rPr>
              <a:t> samples. For noisy experiments (machining tests, AM coupons), interpolating the noise is overfitting.</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Increase model flexibility only while validation error keeps dropping; stop when it rises.</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Underfitting, overfitting and the bias–variance trade-off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With 6 noise-free samples, a degree-5 polynomial passes exactly through all of them. Is its training RMSE meaningful evidence of accuracy?</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Underfitting, overfitting and the bias–variance trade-off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With 6 noise-free samples, a degree-5 polynomial passes exactly through all of them. Is its training RMSE meaningful evidence of accuracy?</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No — it is zero by construction (6 coefficients, 6 points). Only validation points between the samples reveal its real error, which may be large (oscillation).</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Underfitting, overfitting and the bias–variance trade-off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Too simple, about right, too flexible</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Overfitting only happens with noisy data.</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With noise-free data the risk becomes oscillation between samples. Validation is needed either way.</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Choose flexibility by validation error; bias falls and variance rises with complexity.</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Too simple, about right, too flexible</a:t>
            </a:r>
            <a:endParaRPr lang="en-US" sz="2100" dirty="0"/>
          </a:p>
          <a:p>
            <a:pPr indent="0" marL="0">
              <a:buNone/>
            </a:pPr>
            <a:r>
              <a:rPr lang="en-US" sz="2100" dirty="0">
                <a:solidFill>
                  <a:schemeClr val="tx1"/>
                </a:solidFill>
              </a:rPr>
              <a:t>Choose flexibility by validation error; bias falls and variance rises with complexity.</a:t>
            </a:r>
            <a:endParaRPr lang="en-US" sz="2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5.3</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Cross-validation and learning curves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Next in Module 5: Lesson 3. Mark this lesson complete in the course before continuing.</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Lesson 2: Underfitting, overfitting and the bias–variance trade-off</dc:title>
  <dc:subject>Machine Learning Fundamentals for Surrogate-Based Engineering Optimization</dc:subject>
  <dc:creator>Prof. Mazharul Islam</dc:creator>
  <cp:lastModifiedBy>Prof. Mazharul Islam</cp:lastModifiedBy>
  <cp:revision>1</cp:revision>
  <dcterms:created xsi:type="dcterms:W3CDTF">2026-10-07T01:12:30Z</dcterms:created>
  <dcterms:modified xsi:type="dcterms:W3CDTF">2026-10-07T01:12:30Z</dcterms:modified>
</cp:coreProperties>
</file>