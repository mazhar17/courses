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ae657a4-b005-44bc-ed81-d4e997bd2466}">
          <p14:sldIdLst>
            <p14:sldId id="256"/>
          </p14:sldIdLst>
        </p14:section>
        <p14:section name="Lesson 1: The loop: fit, optimize, verify, update" id="{e36a0ece-feb4-4307-cf38-dc9d648137bb}">
          <p14:sldIdLst>
            <p14:sldId id="257"/>
            <p14:sldId id="258"/>
            <p14:sldId id="259"/>
            <p14:sldId id="260"/>
            <p14:sldId id="261"/>
            <p14:sldId id="262"/>
            <p14:sldId id="263"/>
          </p14:sldIdLst>
        </p14:section>
        <p14:section name="Summary" id="{cc5b48d9-b4b0-9b0d-cf7c-288ee4688794}">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11, Lesson 1 of the self-paced course Machine Learning Fundamentals for Surrogate-Based Engineering Optimization: The loop: fit, optimize, verify, update. This lesson belongs to the module Surrogate-based optimization and takes about 14 minutes. In this lesson: Running surrogate-based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surrogate-based optimization. Start with a space-filling sample. Fit surrogates for the expensive responses (here log₁₀R and log₁₀ΔT_{air}); compute cheap responses (mass) exactly. Optimize the surrogate problem. Evaluate the candidate with the original model. Add it to the data and refit. Each iteration teaches the surrogate most where it matters — near promising designs. Look at the figure. The SBO loop. Cycle diagram of initial design, original-model runs, surrogate fitting, surrogate optimization, verification and stopping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another view. Choose surrogate type and initial sample size; press ① to optimize the surrogate and ② to verify and add the point. A table records predicted vs verified values. Map of the surrogate prediction of R with true constraint lines and the true optimum star. Evaluated designs are orange dots; the current candidate is a hollow circle. A table logs each iteration: design, predicted and verified R, predicted and verified air-temperature rise, mass and feasibility.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Iteration k: x_k = arg min_x_{ ∈ box} R̂_k(x) s.t. m(x) ≤ 0.070, T̂_k(x) ≤ 12; then evaluate R(x_k), ΔT_{air}(x_k) Keep a table of: iteration, evaluations used, design, predicted and verified objective, predicted and verified constraints, feasibility. The best verified feasible design is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Typical observation in the demo: with 8 initial LHS points, the first candidate’s predicted R differs from the verified value by a few thousandths to a few hundredths of a K/W; after about 3–5 updates the best verified design typically lies on the mass boundary within 1% of R* (author’s check: within 0.5% after 5 updates for 8 of 8 seeds). Results depend on the seed — try several. A practical tip: Do not re-evaluate a design already in the data; with a deterministic model it adds nothing. If the optimizer proposes one, explore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After adding a verified candidate and refitting, should the next candidate be identical to the last one?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Usually not: the new data point changes the surrogate locally. If the optimizer keeps returning the same point, the surrogate is already exact there — a sign of convergence (or a need to explore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One surrogate fit followed by one optimization is enough. In fact: A one-shot approach relies entirely on initial accuracy near the optimum. Sequential updates concentrate accuracy where it matters. The takeaway: Fit → optimize → verify → update; the best verified feasible design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Running surrogate-based optimization: Fit → optimize → verify → update; the best verified feasible design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1 of Module 11: The loop: fit, optimize, verify, update. Next comes Lesson 2: Constraint surrogates and optimizer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11, Lesson 1 · The loop: fit, optimize, verify, update</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11, Lesson 1 · The loop: fit, optimize, verify, update</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11 · LESSON 1 OF 3 · ≈ 14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The loop: fit, optimize, verify, update</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11: Surrogate-based optimization</a:t>
            </a:r>
            <a:endParaRPr lang="en-US" sz="1800" dirty="0"/>
          </a:p>
          <a:p>
            <a:pPr marL="342900" indent="-342900">
              <a:buSzPct val="100000"/>
              <a:buChar char="•"/>
            </a:pPr>
            <a:r>
              <a:rPr lang="en-US" sz="1800" dirty="0">
                <a:solidFill>
                  <a:srgbClr val="D6E2F0"/>
                </a:solidFill>
              </a:rPr>
              <a:t>Running surrogate-based optimization</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11.1</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The loop: fit, optimize, verify, update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Running surrogate-based optimization</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143000"/>
          </a:xfrm>
          <a:prstGeom prst="rect">
            <a:avLst/>
          </a:prstGeom>
          <a:noFill/>
          <a:ln/>
        </p:spPr>
        <p:txBody>
          <a:bodyPr wrap="square" lIns="1270" tIns="1270" rIns="1270" bIns="1270" rtlCol="0" anchor="t"/>
          <a:lstStyle/>
          <a:p>
            <a:pPr indent="0" marL="0">
              <a:spcAft>
                <a:spcPts val="600"/>
              </a:spcAft>
              <a:buNone/>
            </a:pPr>
            <a:r>
              <a:rPr lang="en-US" sz="1500" dirty="0">
                <a:solidFill>
                  <a:schemeClr val="tx1"/>
                </a:solidFill>
              </a:rPr>
              <a:t>Start with a space-filling sample. Fit surrogates for the expensive responses (here log₁₀</a:t>
            </a:r>
            <a:pPr indent="0" marL="0">
              <a:spcAft>
                <a:spcPts val="600"/>
              </a:spcAft>
              <a:buNone/>
            </a:pPr>
            <a:r>
              <a:rPr lang="en-US" sz="1500" i="1" dirty="0">
                <a:solidFill>
                  <a:schemeClr val="tx1"/>
                </a:solidFill>
              </a:rPr>
              <a:t>R</a:t>
            </a:r>
            <a:pPr indent="0" marL="0">
              <a:spcAft>
                <a:spcPts val="600"/>
              </a:spcAft>
              <a:buNone/>
            </a:pPr>
            <a:r>
              <a:rPr lang="en-US" sz="1500" dirty="0">
                <a:solidFill>
                  <a:schemeClr val="tx1"/>
                </a:solidFill>
              </a:rPr>
              <a:t> and log₁₀Δ</a:t>
            </a:r>
            <a:pPr indent="0" marL="0">
              <a:spcAft>
                <a:spcPts val="600"/>
              </a:spcAft>
              <a:buNone/>
            </a:pPr>
            <a:r>
              <a:rPr lang="en-US" sz="1500" i="1" dirty="0">
                <a:solidFill>
                  <a:schemeClr val="tx1"/>
                </a:solidFill>
              </a:rPr>
              <a:t>T</a:t>
            </a:r>
            <a:pPr indent="0" marL="0">
              <a:spcAft>
                <a:spcPts val="600"/>
              </a:spcAft>
              <a:buNone/>
            </a:pPr>
            <a:r>
              <a:rPr lang="en-US" sz="1500" baseline="-40000" dirty="0">
                <a:solidFill>
                  <a:schemeClr val="tx1"/>
                </a:solidFill>
              </a:rPr>
              <a:t>air</a:t>
            </a:r>
            <a:pPr indent="0" marL="0">
              <a:spcAft>
                <a:spcPts val="600"/>
              </a:spcAft>
              <a:buNone/>
            </a:pPr>
            <a:r>
              <a:rPr lang="en-US" sz="1500" dirty="0">
                <a:solidFill>
                  <a:schemeClr val="tx1"/>
                </a:solidFill>
              </a:rPr>
              <a:t>); compute cheap responses (mass) exactly. Optimize the surrogate problem. Evaluate the candidate with the original model. Add it to the data and refit. Each iteration teaches the surrogate most where it matters — near promising designs.</a:t>
            </a:r>
            <a:endParaRPr lang="en-US" sz="1500" dirty="0"/>
          </a:p>
        </p:txBody>
      </p:sp>
      <p:pic>
        <p:nvPicPr>
          <p:cNvPr id="8" name="figure" descr="Cycle diagram of initial design, original-model runs, surrogate fitting, surrogate optimization, verification and stopping decision.">    </p:cNvPr>
          <p:cNvPicPr>
            <a:picLocks noChangeAspect="1"/>
          </p:cNvPicPr>
          <p:nvPr/>
        </p:nvPicPr>
        <p:blipFill>
          <a:blip r:embed="rId2"/>
          <a:stretch>
            <a:fillRect/>
          </a:stretch>
        </p:blipFill>
        <p:spPr>
          <a:xfrm>
            <a:off x="2782377" y="2880360"/>
            <a:ext cx="6626942" cy="274320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The SBO loop.</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The loop: fit, optimize, verify, update · Figure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Running surrogate-based optimization</a:t>
            </a:r>
            <a:endParaRPr lang="en-US" sz="3200" dirty="0"/>
          </a:p>
        </p:txBody>
      </p:sp>
      <p:pic>
        <p:nvPicPr>
          <p:cNvPr id="5" name="figure" descr="Map of the surrogate prediction of R with true constraint lines and the true optimum star. Evaluated designs are orange dots; the current candidate is a hollow circle. A table logs each iteration: design, predicted and verified R, predicted and verified air-temperature rise, mass and feasibility.">    </p:cNvPr>
          <p:cNvPicPr>
            <a:picLocks noChangeAspect="1"/>
          </p:cNvPicPr>
          <p:nvPr/>
        </p:nvPicPr>
        <p:blipFill>
          <a:blip r:embed="rId1"/>
          <a:stretch>
            <a:fillRect/>
          </a:stretch>
        </p:blipFill>
        <p:spPr>
          <a:xfrm>
            <a:off x="3492592" y="1645920"/>
            <a:ext cx="5206511" cy="3931920"/>
          </a:xfrm>
          <a:prstGeom prst="rect">
            <a:avLst/>
          </a:prstGeom>
        </p:spPr>
      </p:pic>
      <p:sp>
        <p:nvSpPr>
          <p:cNvPr id="6" name="Text 2"/>
          <p:cNvSpPr txBox="1"/>
          <p:nvPr/>
        </p:nvSpPr>
        <p:spPr>
          <a:xfrm>
            <a:off x="548640" y="5669280"/>
            <a:ext cx="11094415" cy="548640"/>
          </a:xfrm>
          <a:prstGeom prst="rect">
            <a:avLst/>
          </a:prstGeom>
          <a:noFill/>
          <a:ln/>
        </p:spPr>
        <p:txBody>
          <a:bodyPr wrap="square" lIns="0" tIns="0" rIns="0" bIns="0" rtlCol="0" anchor="ctr"/>
          <a:lstStyle/>
          <a:p>
            <a:pPr algn="ctr" indent="0" marL="0">
              <a:buNone/>
            </a:pPr>
            <a:r>
              <a:rPr lang="en-US" sz="1400" i="1" dirty="0">
                <a:solidFill>
                  <a:srgbClr val="46525F"/>
                </a:solidFill>
              </a:rPr>
              <a:t>Choose surrogate type and initial sample size; press ① to optimize the surrogate and ② to verify and add the point. A table records predicted vs verified values. (Interactive in the online course.)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The loop: fit, optimize, verify, update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Running surrogate-based optimization</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2336800"/>
          </a:xfrm>
          <a:prstGeom prst="roundRect">
            <a:avLst>
              <a:gd name="adj" fmla="val 4696"/>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2245360"/>
          </a:xfrm>
          <a:prstGeom prst="rect">
            <a:avLst/>
          </a:prstGeom>
          <a:noFill/>
          <a:ln/>
        </p:spPr>
        <p:txBody>
          <a:bodyPr wrap="square" lIns="1270" tIns="1270" rIns="1270" bIns="1270" rtlCol="0" anchor="ctr"/>
          <a:lstStyle/>
          <a:p>
            <a:pPr indent="0" marL="0">
              <a:spcAft>
                <a:spcPts val="800"/>
              </a:spcAft>
              <a:buNone/>
            </a:pPr>
            <a:r>
              <a:rPr lang="en-US" sz="2000" dirty="0">
                <a:solidFill>
                  <a:schemeClr val="tx1"/>
                </a:solidFill>
              </a:rPr>
              <a:t>Iteration </a:t>
            </a:r>
            <a:pPr indent="0" marL="0">
              <a:buNone/>
            </a:pPr>
            <a:r>
              <a:rPr lang="en-US" sz="2000" i="1" dirty="0">
                <a:solidFill>
                  <a:schemeClr val="tx1"/>
                </a:solidFill>
              </a:rPr>
              <a:t>k</a:t>
            </a:r>
            <a:pPr indent="0" marL="0">
              <a:buNone/>
            </a:pPr>
            <a:r>
              <a:rPr lang="en-US" sz="2000" dirty="0">
                <a:solidFill>
                  <a:schemeClr val="tx1"/>
                </a:solidFill>
              </a:rPr>
              <a:t>:</a:t>
            </a:r>
            <a:endParaRPr lang="en-US" sz="2000" dirty="0"/>
          </a:p>
          <a:p>
            <a:pPr algn="ctr" indent="0" marL="0">
              <a:spcAft>
                <a:spcPts val="800"/>
              </a:spcAft>
              <a:buNone/>
            </a:pPr>
            <a:r>
              <a:rPr lang="en-US" sz="2000" b="1" dirty="0">
                <a:solidFill>
                  <a:schemeClr val="tx1"/>
                </a:solidFill>
              </a:rPr>
              <a:t>x</a:t>
            </a:r>
            <a:pPr algn="ctr" indent="0" marL="0">
              <a:buNone/>
            </a:pPr>
            <a:r>
              <a:rPr lang="en-US" sz="2000" i="1" baseline="-40000" dirty="0">
                <a:solidFill>
                  <a:schemeClr val="tx1"/>
                </a:solidFill>
              </a:rPr>
              <a:t>k</a:t>
            </a:r>
            <a:pPr algn="ctr" indent="0" marL="0">
              <a:buNone/>
            </a:pPr>
            <a:r>
              <a:rPr lang="en-US" sz="2000" dirty="0">
                <a:solidFill>
                  <a:schemeClr val="tx1"/>
                </a:solidFill>
              </a:rPr>
              <a:t> = arg min</a:t>
            </a:r>
            <a:pPr algn="ctr" indent="0" marL="0">
              <a:buNone/>
            </a:pPr>
            <a:r>
              <a:rPr lang="en-US" sz="2000" b="1" baseline="-40000" dirty="0">
                <a:solidFill>
                  <a:schemeClr val="tx1"/>
                </a:solidFill>
              </a:rPr>
              <a:t>x</a:t>
            </a:r>
            <a:pPr algn="ctr" indent="0" marL="0">
              <a:buNone/>
            </a:pPr>
            <a:r>
              <a:rPr lang="en-US" sz="2000" baseline="-40000" dirty="0">
                <a:solidFill>
                  <a:schemeClr val="tx1"/>
                </a:solidFill>
              </a:rPr>
              <a:t> ∈ box</a:t>
            </a:r>
            <a:pPr algn="ctr" indent="0" marL="0">
              <a:buNone/>
            </a:pPr>
            <a:r>
              <a:rPr lang="en-US" sz="2000" dirty="0">
                <a:solidFill>
                  <a:schemeClr val="tx1"/>
                </a:solidFill>
              </a:rPr>
              <a:t> </a:t>
            </a:r>
            <a:pPr algn="ctr" indent="0" marL="0">
              <a:buNone/>
            </a:pPr>
            <a:r>
              <a:rPr lang="en-US" sz="2000" i="1" dirty="0">
                <a:solidFill>
                  <a:schemeClr val="tx1"/>
                </a:solidFill>
              </a:rPr>
              <a:t>R̂</a:t>
            </a:r>
            <a:pPr algn="ctr" indent="0" marL="0">
              <a:buNone/>
            </a:pPr>
            <a:r>
              <a:rPr lang="en-US" sz="2000" i="1" baseline="-40000" dirty="0">
                <a:solidFill>
                  <a:schemeClr val="tx1"/>
                </a:solidFill>
              </a:rPr>
              <a:t>k</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s.t. </a:t>
            </a:r>
            <a:pPr algn="ctr" indent="0" marL="0">
              <a:buNone/>
            </a:pPr>
            <a:r>
              <a:rPr lang="en-US" sz="2000" i="1" dirty="0">
                <a:solidFill>
                  <a:schemeClr val="tx1"/>
                </a:solidFill>
              </a:rPr>
              <a:t>m</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 0.070, </a:t>
            </a:r>
            <a:pPr algn="ctr" indent="0" marL="0">
              <a:buNone/>
            </a:pPr>
            <a:r>
              <a:rPr lang="en-US" sz="2000" i="1" dirty="0">
                <a:solidFill>
                  <a:schemeClr val="tx1"/>
                </a:solidFill>
              </a:rPr>
              <a:t>T̂</a:t>
            </a:r>
            <a:pPr algn="ctr" indent="0" marL="0">
              <a:buNone/>
            </a:pPr>
            <a:r>
              <a:rPr lang="en-US" sz="2000" i="1" baseline="-40000" dirty="0">
                <a:solidFill>
                  <a:schemeClr val="tx1"/>
                </a:solidFill>
              </a:rPr>
              <a:t>k</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 12; then evaluate </a:t>
            </a:r>
            <a:pPr algn="ctr" indent="0" marL="0">
              <a:buNone/>
            </a:pPr>
            <a:r>
              <a:rPr lang="en-US" sz="2000" i="1" dirty="0">
                <a:solidFill>
                  <a:schemeClr val="tx1"/>
                </a:solidFill>
              </a:rPr>
              <a:t>R</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i="1" baseline="-40000" dirty="0">
                <a:solidFill>
                  <a:schemeClr val="tx1"/>
                </a:solidFill>
              </a:rPr>
              <a:t>k</a:t>
            </a:r>
            <a:pPr algn="ctr" indent="0" marL="0">
              <a:buNone/>
            </a:pPr>
            <a:r>
              <a:rPr lang="en-US" sz="2000" dirty="0">
                <a:solidFill>
                  <a:schemeClr val="tx1"/>
                </a:solidFill>
              </a:rPr>
              <a:t>), Δ</a:t>
            </a:r>
            <a:pPr algn="ctr" indent="0" marL="0">
              <a:buNone/>
            </a:pPr>
            <a:r>
              <a:rPr lang="en-US" sz="2000" i="1" dirty="0">
                <a:solidFill>
                  <a:schemeClr val="tx1"/>
                </a:solidFill>
              </a:rPr>
              <a:t>T</a:t>
            </a:r>
            <a:pPr algn="ctr" indent="0" marL="0">
              <a:buNone/>
            </a:pPr>
            <a:r>
              <a:rPr lang="en-US" sz="2000" baseline="-40000" dirty="0">
                <a:solidFill>
                  <a:schemeClr val="tx1"/>
                </a:solidFill>
              </a:rPr>
              <a:t>air</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i="1" baseline="-40000" dirty="0">
                <a:solidFill>
                  <a:schemeClr val="tx1"/>
                </a:solidFill>
              </a:rPr>
              <a:t>k</a:t>
            </a:r>
            <a:pPr algn="ctr" indent="0" marL="0">
              <a:buNone/>
            </a:pPr>
            <a:r>
              <a:rPr lang="en-US" sz="2000" dirty="0">
                <a:solidFill>
                  <a:schemeClr val="tx1"/>
                </a:solidFill>
              </a:rPr>
              <a:t>)</a:t>
            </a:r>
            <a:endParaRPr lang="en-US" sz="2000" dirty="0"/>
          </a:p>
          <a:p>
            <a:pPr indent="0" marL="0">
              <a:buNone/>
            </a:pPr>
            <a:r>
              <a:rPr lang="en-US" sz="2000" dirty="0">
                <a:solidFill>
                  <a:schemeClr val="tx1"/>
                </a:solidFill>
              </a:rPr>
              <a:t>Keep a table of: iteration, evaluations used, design, predicted and verified objective, predicted and verified constraints, feasibility. The best </a:t>
            </a:r>
            <a:pPr indent="0" marL="0">
              <a:buNone/>
            </a:pPr>
            <a:r>
              <a:rPr lang="en-US" sz="2000" b="1" dirty="0">
                <a:solidFill>
                  <a:schemeClr val="tx1"/>
                </a:solidFill>
              </a:rPr>
              <a:t>verified feasible</a:t>
            </a:r>
            <a:pPr indent="0" marL="0">
              <a:buNone/>
            </a:pPr>
            <a:r>
              <a:rPr lang="en-US" sz="2000" dirty="0">
                <a:solidFill>
                  <a:schemeClr val="tx1"/>
                </a:solidFill>
              </a:rPr>
              <a:t> design is the result.</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The loop: fit, optimize, verify, update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Running surrogate-based optimization</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1800" dirty="0">
                <a:solidFill>
                  <a:schemeClr val="tx1"/>
                </a:solidFill>
              </a:rPr>
              <a:t>Typical observation in the demo: with 8 initial LHS points, the first candidate’s predicted </a:t>
            </a:r>
            <a:pPr indent="0" marL="0">
              <a:spcAft>
                <a:spcPts val="600"/>
              </a:spcAft>
              <a:buNone/>
            </a:pPr>
            <a:r>
              <a:rPr lang="en-US" sz="1800" i="1" dirty="0">
                <a:solidFill>
                  <a:schemeClr val="tx1"/>
                </a:solidFill>
              </a:rPr>
              <a:t>R</a:t>
            </a:r>
            <a:pPr indent="0" marL="0">
              <a:spcAft>
                <a:spcPts val="600"/>
              </a:spcAft>
              <a:buNone/>
            </a:pPr>
            <a:r>
              <a:rPr lang="en-US" sz="1800" dirty="0">
                <a:solidFill>
                  <a:schemeClr val="tx1"/>
                </a:solidFill>
              </a:rPr>
              <a:t> differs from the verified value by a few thousandths to a few hundredths of a K/W; after about 3–5 updates the best verified design typically lies on the mass boundary within 1% of </a:t>
            </a:r>
            <a:pPr indent="0" marL="0">
              <a:spcAft>
                <a:spcPts val="600"/>
              </a:spcAft>
              <a:buNone/>
            </a:pPr>
            <a:r>
              <a:rPr lang="en-US" sz="1800" i="1" dirty="0">
                <a:solidFill>
                  <a:schemeClr val="tx1"/>
                </a:solidFill>
              </a:rPr>
              <a:t>R</a:t>
            </a:r>
            <a:pPr indent="0" marL="0">
              <a:spcAft>
                <a:spcPts val="600"/>
              </a:spcAft>
              <a:buNone/>
            </a:pPr>
            <a:r>
              <a:rPr lang="en-US" sz="1800" dirty="0">
                <a:solidFill>
                  <a:schemeClr val="tx1"/>
                </a:solidFill>
              </a:rPr>
              <a:t>* (author’s check: within 0.5% after 5 updates for 8 of 8 seeds). Results depend on the seed — try several.</a:t>
            </a:r>
            <a:endParaRPr lang="en-US" sz="18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Do not re-evaluate a design already in the data; with a deterministic model it adds nothing. If the optimizer proposes one, explore elsewhere.</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The loop: fit, optimize, verify, update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After adding a verified candidate and refitting, should the next candidate be identical to the last one?</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The loop: fit, optimize, verify, update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After adding a verified candidate and refitting, should the next candidate be identical to the last one?</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Usually not: the new data point changes the surrogate locally. If the optimizer keeps returning the same point, the surrogate is already exact there — a sign of convergence (or a need to explore elsewhere).</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1 · The loop: fit, optimize, verify, update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Running surrogate-based optimization</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One surrogate fit followed by one optimization is enough.</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A one-shot approach relies entirely on initial accuracy near the optimum. Sequential updates concentrate accuracy where it matters.</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Fit → optimize → verify → update; the best verified feasible design is the answer.</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Running surrogate-based optimization</a:t>
            </a:r>
            <a:endParaRPr lang="en-US" sz="2100" dirty="0"/>
          </a:p>
          <a:p>
            <a:pPr indent="0" marL="0">
              <a:buNone/>
            </a:pPr>
            <a:r>
              <a:rPr lang="en-US" sz="2100" dirty="0">
                <a:solidFill>
                  <a:schemeClr val="tx1"/>
                </a:solidFill>
              </a:rPr>
              <a:t>Fit → optimize → verify → update; the best verified feasible design is the answer.</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11.2</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Constraint surrogates and optimizer exploitation</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11: Lesson 2.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11, Lesson 1: The loop: fit, optimize, verify, update</dc:title>
  <dc:subject>Machine Learning Fundamentals for Surrogate-Based Engineering Optimization</dc:subject>
  <dc:creator>Prof. Mazharul Islam</dc:creator>
  <cp:lastModifiedBy>Prof. Mazharul Islam</cp:lastModifiedBy>
  <cp:revision>1</cp:revision>
  <dcterms:created xsi:type="dcterms:W3CDTF">2026-10-07T01:12:31Z</dcterms:created>
  <dcterms:modified xsi:type="dcterms:W3CDTF">2026-10-07T01:12:31Z</dcterms:modified>
</cp:coreProperties>
</file>