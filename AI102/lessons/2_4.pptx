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f4fc499-4630-dcfc-1a90-783a9f14f798}">
          <p14:sldIdLst>
            <p14:sldId id="256"/>
          </p14:sldIdLst>
        </p14:section>
        <p14:section name="Lesson 4: A small engineering dataset, reading errors, checking units, setup" id="{cc850227-609b-b89f-8326-9151366924f9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Summary" id="{5fe27f55-9f2d-adce-ba85-85ff109f3016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2, Lesson 4 of the self-paced course Machine Learning Fundamentals for Surrogate-Based Engineering Optimization: A small engineering dataset, reading errors, checking units, setup. This lesson belongs to the module Python and Jupyter foundations and takes about 10 minutes. In this lesson: Reading Python errors calmly; Setting up JupyterLab locally (optional for reading).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Python errors calmly. An error message (traceback) is a report, not a failure of you. Read the last line first: it names the error type and a message. Then find the arrow ----&gt; showing which line failed. Common types: NameError (unknown name — typo or cell not run), TypeError (wrong kind of object), ValueError (right type, bad value — often a shape mismatch), ModuleNotFoundError (package not installed). Look at the figure. How to read a traceback: last line first, then the arrow. A dark code box shows a NameError traceback with an arrow on line 2 “R = heat_sink(s, thickness)” and the final line “NameError: name thickness is not defined”. Annotations: read the last line first; the arrow shows the failing line; fix then re-run cells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Unit checks are dimensional analysis in code. In heat_sink, u = dp*s**2/(12*mu*L) has units Pa·m²/(Pa·s·m) = m/s ✓. If s were left in mm, u would be 10⁶ times too large — no error message, just wrong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A quick sanity check after building a dataset: print min and max of each column and compare with the physical ranges (e.g., 0.8 ≤ s ≤ 3.0 mm; R of order 0.5–5 K/W for this sink). Out-of-range values reveal unit or sign mistakes. A practical tip: Test your function on one design you can verify by hand or from a reference value (e.g., the course gives R(2.0, 0.8) = 0.5874 K/W).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Your code runs without error but predicts a heat-sink thermal resistance of 0.0004 K/W. What should you suspect?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A unit error (e.g., mm used where m was required), not a brilliant design. Silent unit errors are more dangerous than crashes.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If the code runs without errors, the results are right. In fact: Most damaging mistakes (units, wrong column, data leakage) produce no error message. Check ranges, units and simple known cases. The takeaway: Read tracebacks from the bottom; check units and ranges even when nothing crashes.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 up JupyterLab locally (optional for reading). You can study the whole course without installing anything. To run the labs, install a Python distribution once (e.g., Miniforge), create an environment with the required packages, and start JupyterLab. Full commands are on the Labs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(The code listing is shown on the slide: conda create -n mlso python=3.13 numpy pandas matplotlib "scipy&gt;=1.8" scikit-learn jupyterlab -c conda-forge; conda activate mlso; jupyter lab)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An environment isolates package versions for this course from other projects — the software equivalent of calibrated, dedicated lab equipment. A practical tip: If your institution provides JupyterHub or a lab computer, use that — no installation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You get ModuleNotFoundError: No module named 'sklearn'. What is the likely cause?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scikit-learn is not installed in the environment the notebook kernel is using (or the wrong kernel/environment is selected). Install it there or switch kernels.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You must install Python before you can learn from this course. In fact: The browser course is complete for reading and graded activities; Python is only needed to run the labs. The takeaway: One environment, one command to start JupyterLab; the labs are self-contained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Reading Python errors calmly: Read tracebacks from the bottom; check units and ranges even when nothing crashes. Setting up JupyterLab locally (optional for reading): One environment, one command to start JupyterLab; the labs are self-contained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4 of Module 2: A small engineering dataset, reading errors, checking units, setup. This was the last lesson of the module, so review the flashcards and take the Module 2 quiz in the course. Next comes Module 3, Mathematics and data intuition, starting with Functions, vectors, matrices and gradients.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2, Lesson 4 · A small engineering dataset, reading errors, checking units, setup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2, Lesson 4 · A small engineering dataset, reading errors, checking units, setup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02 · LESSON 4 OF 4 · ≈ 10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 small engineering dataset, reading errors, checking units, setup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2: Python and Jupyter foundations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Reading Python errors calmly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Setting up JupyterLab locally (optional for reading)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2.4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4 · A small engineering dataset, reading errors, checking units, setup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Reading Python errors calmly</a:t>
            </a:r>
            <a:endParaRPr lang="en-US" sz="3200" dirty="0"/>
          </a:p>
        </p:txBody>
      </p:sp>
      <p:sp>
        <p:nvSpPr>
          <p:cNvPr id="5" name="icon-bg-intu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1188720" y="1572768"/>
            <a:ext cx="10408615" cy="1143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An error message (traceback) is a report, not a failure of you. Read the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last line first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: it names the error type and a message. Then find the arrow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----&gt;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showing which line failed. Common types: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NameError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(unknown name — typo or cell not run),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(wrong kind of object),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(right type, bad value — often a shape mismatch),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ModuleNotFoundError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(package not installed).</a:t>
            </a:r>
            <a:endParaRPr lang="en-US" sz="1500" dirty="0"/>
          </a:p>
        </p:txBody>
      </p:sp>
      <p:pic>
        <p:nvPicPr>
          <p:cNvPr id="8" name="figure" descr="A dark code box shows a NameError traceback with an arrow on line 2 “R = heat_sink(s, thickness)” and the final line “NameError: name thickness is not defined”. Annotations: read the last line first; the arrow shows the failing line; fix then re-run cells in order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71" y="2880360"/>
            <a:ext cx="8520354" cy="27432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66928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How to read a traceback: last line first, then the arrow.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4 · A small engineering dataset, reading errors, checking units, setup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Reading Python errors calmly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1203960"/>
          </a:xfrm>
          <a:prstGeom prst="roundRect">
            <a:avLst>
              <a:gd name="adj" fmla="val 9114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11125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Unit checks are dimensional analysis in code. In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heat_sink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= dp*s**2/(12*mu*L)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has units Pa·m²/(Pa·s·m) = m/s ✓. If 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were left in mm,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u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would be 10⁶ times too large — no error message, just wrong numbers.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4 · A small engineering dataset, reading errors, checking units, setup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Reading Python errors calmly</a:t>
            </a:r>
            <a:endParaRPr lang="en-US" sz="32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quick sanity check after building a dataset: print min and max of each column and compare with the physical ranges (e.g., 0.8 ≤ s ≤ 3.0 mm; R of order 0.5–5 K/W for this sink). Out-of-range values reveal unit or sign mistakes.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Test your function on one design you can verify by hand or from a reference value (e.g., the course gives R(2.0, 0.8) = 0.5874 K/W).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4 · A small engineering dataset, reading errors, checking units, setup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Your code runs without error but predicts a heat-sink thermal resistance of 0.0004 K/W. What should you suspect?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4 · A small engineering dataset, reading errors, checking units, setup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Your code runs without error but predicts a heat-sink thermal resistance of 0.0004 K/W. What should you suspect?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A unit error (e.g., mm used where m was required), not a brilliant design. Silent unit errors are more dangerous than crashes.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4 · A small engineering dataset, reading errors, checking units, setup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Reading Python errors calmly</a:t>
            </a:r>
            <a:endParaRPr lang="en-US" sz="32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If the code runs without errors, the results are right.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Most damaging mistakes (units, wrong column, data leakage) produce no error message. Check ranges, units and simple known cases.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Read tracebacks from the bottom; check units and ranges even when nothing crashes.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4 · A small engineering dataset, reading errors, checking units, setup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Setting up JupyterLab locally (optional for reading)</a:t>
            </a:r>
            <a:endParaRPr lang="en-US" sz="26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11094415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600200" y="1874520"/>
            <a:ext cx="9722815" cy="4114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You can study the whole course without installing anything. To run the labs, install a Python distribution once (e.g., Miniforge), create an environment with the required packages, and start JupyterLab. Full commands are on the Labs page.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4 · A small engineering dataset, reading errors, checking units, setup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Setting up JupyterLab locally (optional for reading)</a:t>
            </a:r>
            <a:endParaRPr lang="en-US" sz="26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1265936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1174496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create -n mlso python=3.13 numpy pandas matplotlib "scipy&gt;=1.8" scikit-learn jupyterlab -c conda-forge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conda activate mlso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jupyter lab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4 · A small engineering dataset, reading errors, checking units, setup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Setting up JupyterLab locally (optional for reading)</a:t>
            </a:r>
            <a:endParaRPr lang="en-US" sz="26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An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environment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isolates package versions for this course from other projects — the software equivalent of calibrated, dedicated lab equipment.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If your institution provides JupyterHub or a lab computer, use that — no installation needed.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4 · A small engineering dataset, reading errors, checking units, setup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You get 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ModuleNotFoundError: No module named 'sklearn'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. What is the likely cause?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4 · A small engineering dataset, reading errors, checking units, setup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You get ModuleNotFoundError: No module named 'sklearn'. What is the likely cause?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scikit-learn is not installed in the environment the notebook kernel is using (or the wrong kernel/environment is selected). Install it there or switch kernels.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4 · A small engineering dataset, reading errors, checking units, setup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Setting up JupyterLab locally (optional for reading)</a:t>
            </a:r>
            <a:endParaRPr lang="en-US" sz="26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You must install Python before you can learn from this course.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The browser course is complete for reading and graded activities; Python is only needed to run the labs.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One environment, one command to start JupyterLab; the labs are self-contained notebooks.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Reading Python errors calmly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Read tracebacks from the bottom; check units and ranges even when nothing crashes.</a:t>
            </a:r>
            <a:endParaRPr lang="en-US" sz="2200" dirty="0"/>
          </a:p>
        </p:txBody>
      </p:sp>
      <p:sp>
        <p:nvSpPr>
          <p:cNvPr id="8" name="takeaway-2"/>
          <p:cNvSpPr/>
          <p:nvPr/>
        </p:nvSpPr>
        <p:spPr>
          <a:xfrm>
            <a:off x="6255868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20460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941668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Setting up JupyterLab locally (optional for reading)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One environment, one command to start JupyterLab; the labs are self-contained notebooks.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3.1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Functions, vectors, matrices and gradients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That completes Module 2. Before moving on, review the Module 2 flashcards and take its quiz in the course (pass mark 70%). Next: Module 3, Mathematics and data intuition.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2, Lesson 4: A small engineering dataset, reading errors, checking units, setup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2026-10-07T01:12:30Z</dcterms:created>
  <dcterms:modified xsi:type="dcterms:W3CDTF">2026-10-07T01:12:30Z</dcterms:modified>
</cp:coreProperties>
</file>