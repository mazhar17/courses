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52191ca-9688-bf13-6af4-eb4a789e2416}">
          <p14:sldIdLst>
            <p14:sldId id="256"/>
          </p14:sldIdLst>
        </p14:section>
        <p14:section name="Lesson 2: Reporting template and self-check list" id="{183b6913-cc9e-aef5-1c0c-6b169cf73405}">
          <p14:sldIdLst>
            <p14:sldId id="257"/>
            <p14:sldId id="258"/>
            <p14:sldId id="259"/>
            <p14:sldId id="260"/>
            <p14:sldId id="261"/>
            <p14:sldId id="262"/>
          </p14:sldIdLst>
        </p14:section>
        <p14:section name="Summary" id="{6ea22ee4-cd19-b73d-14b9-a152fff393b1}">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14, Lesson 2 of the self-paced course Machine Learning Fundamentals for Surrogate-Based Engineering Optimization: Reporting template and self-check list. This lesson belongs to the module Guided capstone and final assessment and takes about 12 minutes. In this lesson: What your capstone notebook must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your capstone notebook must show. This web page cannot run or check your notebook, so you assess it yourself: it must be runnable from top to bottom, documented, and honest about limitations. Use the self-check list (also downloadable) and the rubric, then compare with the reference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Suggested report sections: 1 Problem definition; 2 Plan and budget; 3 Initial design (plot); 4 Surrogate comparison table (RMSE, MAE, max error, cost) with baseline; 5 Validation and error map; 6 Optimization method; 7 Verification table (predicted vs verified for each candidate); 8 Sequential improvement plot (best verified vs evaluations); 9 Repeats over seeds; 10 Final design with constraint margins; 11 Limitations; 12 Reproducibility record and AI-use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Checklist highlights: units everywhere; separate validation or CV without leakage; predicted vs verified; feasibility verified; evaluation count; seeds; no global-optimality claims; package versions printed. Full self-check list and rubric. A practical tip: Export your notebook as HTML too (File → Save and Export Notebook As → HTML): it makes a readable record of your work, e.g., for a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Your best verified design is infeasible by 0.0003 kg on mass. Can you report it as the result?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No — it violates a constraint. Report the best feasible verified design, and optionally discuss the near-feasible one as a trade-off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A notebook that produced the right numbers once is complete. In fact: It must run cleanly from a restarted kernel and explain decisions and limitations. The takeaway: Follow the section template and checklist; feasibility and honesty are non-negotiable.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What your capstone notebook must show: Follow the section template and checklist; feasibility and honesty are non-negotiable.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2 of Module 14: Reporting template and self-check list. Next comes Lesson 3: Preparing for the final assessment and interactive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14, Lesson 2 · Reporting template and self-check list</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14, Lesson 2 · Reporting template and self-check list</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14 · LESSON 2 OF 3 · ≈ 12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Reporting template and self-check list</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14: Guided capstone and final assessment</a:t>
            </a:r>
            <a:endParaRPr lang="en-US" sz="1800" dirty="0"/>
          </a:p>
          <a:p>
            <a:pPr marL="342900" indent="-342900">
              <a:buSzPct val="100000"/>
              <a:buChar char="•"/>
            </a:pPr>
            <a:r>
              <a:rPr lang="en-US" sz="1800" dirty="0">
                <a:solidFill>
                  <a:srgbClr val="D6E2F0"/>
                </a:solidFill>
              </a:rPr>
              <a:t>What your capstone notebook must show</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14.2</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Reporting template and self-check list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your capstone notebook must show</a:t>
            </a:r>
            <a:endParaRPr lang="en-US" sz="3200" dirty="0"/>
          </a:p>
        </p:txBody>
      </p:sp>
      <p:sp>
        <p:nvSpPr>
          <p:cNvPr id="5" name="intuition-card"/>
          <p:cNvSpPr/>
          <p:nvPr/>
        </p:nvSpPr>
        <p:spPr>
          <a:xfrm>
            <a:off x="548640" y="1691640"/>
            <a:ext cx="11094415" cy="4480560"/>
          </a:xfrm>
          <a:prstGeom prst="roundRect">
            <a:avLst>
              <a:gd name="adj" fmla="val 2449"/>
            </a:avLst>
          </a:prstGeom>
          <a:solidFill>
            <a:schemeClr val="accent1">
              <a:alpha val="7000"/>
            </a:schemeClr>
          </a:solidFill>
          <a:ln w="12700">
            <a:solidFill>
              <a:schemeClr val="accent1">
                <a:alpha val="30000"/>
              </a:schemeClr>
            </a:solidFill>
            <a:prstDash val="solid"/>
          </a:ln>
        </p:spPr>
      </p:sp>
      <p:sp>
        <p:nvSpPr>
          <p:cNvPr id="6" name="icon-bg-intu"/>
          <p:cNvSpPr/>
          <p:nvPr/>
        </p:nvSpPr>
        <p:spPr>
          <a:xfrm>
            <a:off x="822960" y="1920240"/>
            <a:ext cx="566928" cy="566928"/>
          </a:xfrm>
          <a:prstGeom prst="ellipse">
            <a:avLst/>
          </a:prstGeom>
          <a:solidFill>
            <a:schemeClr val="accent1"/>
          </a:solidFill>
          <a:ln w="12700">
            <a:solidFill>
              <a:schemeClr val="accent1"/>
            </a:solidFill>
            <a:prstDash val="solid"/>
          </a:ln>
        </p:spPr>
      </p:sp>
      <p:pic>
        <p:nvPicPr>
          <p:cNvPr id="7" name="icon-intu"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p:cNvSpPr txBox="1"/>
          <p:nvPr/>
        </p:nvSpPr>
        <p:spPr>
          <a:xfrm>
            <a:off x="1600200" y="1874520"/>
            <a:ext cx="9722815" cy="4114800"/>
          </a:xfrm>
          <a:prstGeom prst="rect">
            <a:avLst/>
          </a:prstGeom>
          <a:noFill/>
          <a:ln/>
        </p:spPr>
        <p:txBody>
          <a:bodyPr wrap="square" lIns="1270" tIns="1270" rIns="1270" bIns="1270" rtlCol="0" anchor="t"/>
          <a:lstStyle/>
          <a:p>
            <a:pPr indent="0" marL="0">
              <a:spcAft>
                <a:spcPts val="600"/>
              </a:spcAft>
              <a:buNone/>
            </a:pPr>
            <a:r>
              <a:rPr lang="en-US" sz="2400" dirty="0">
                <a:solidFill>
                  <a:schemeClr val="tx1"/>
                </a:solidFill>
              </a:rPr>
              <a:t>This web page cannot run or check your notebook, so you assess it yourself: it must be runnable from top to bottom, documented, and honest about limitations. Use the self-check list (also downloadable) and the rubric, then compare with the reference notebook.</a:t>
            </a:r>
            <a:endParaRPr lang="en-US" sz="2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Reporting template and self-check list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your capstone notebook must show</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2443480"/>
          </a:xfrm>
          <a:prstGeom prst="roundRect">
            <a:avLst>
              <a:gd name="adj" fmla="val 4491"/>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2352040"/>
          </a:xfrm>
          <a:prstGeom prst="rect">
            <a:avLst/>
          </a:prstGeom>
          <a:noFill/>
          <a:ln/>
        </p:spPr>
        <p:txBody>
          <a:bodyPr wrap="square" lIns="1270" tIns="1270" rIns="1270" bIns="1270" rtlCol="0" anchor="ctr"/>
          <a:lstStyle/>
          <a:p>
            <a:pPr indent="0" marL="0">
              <a:buNone/>
            </a:pPr>
            <a:r>
              <a:rPr lang="en-US" sz="2000" b="1" dirty="0">
                <a:solidFill>
                  <a:schemeClr val="tx1"/>
                </a:solidFill>
              </a:rPr>
              <a:t>Suggested report sections:</a:t>
            </a:r>
            <a:pPr indent="0" marL="0">
              <a:buNone/>
            </a:pPr>
            <a:r>
              <a:rPr lang="en-US" sz="2000" dirty="0">
                <a:solidFill>
                  <a:schemeClr val="tx1"/>
                </a:solidFill>
              </a:rPr>
              <a:t> 1 Problem definition; 2 Plan and budget; 3 Initial design (plot); 4 Surrogate comparison table (RMSE, MAE, max error, cost) with baseline; 5 Validation and error map; 6 Optimization method; 7 Verification table (predicted vs verified for each candidate); 8 Sequential improvement plot (best verified vs evaluations); 9 Repeats over seeds; 10 Final design with constraint margins; 11 Limitations; 12 Reproducibility record and AI-use statement.</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Reporting template and self-check list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your capstone notebook must show</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Checklist highlights: units everywhere; separate validation or CV without leakage; predicted vs verified; feasibility verified; evaluation count; seeds; no global-optimality claims; package versions printed. Full self-check list and rubric.</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Export your notebook as HTML too (File → Save and Export Notebook As → HTML): it makes a readable record of your work, e.g., for a portfolio.</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Reporting template and self-check list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Your best verified design is infeasible by 0.0003 kg on mass. Can you report it as the result?</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Reporting template and self-check list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Your best verified design is infeasible by 0.0003 kg on mass. Can you report it as the result?</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No — it violates a constraint. Report the best feasible verified design, and optionally discuss the near-feasible one as a trade-off insight.</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Reporting template and self-check list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your capstone notebook must show</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A notebook that produced the right numbers once is complete.</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It must run cleanly from a restarted kernel and explain decisions and limitations.</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Follow the section template and checklist; feasibility and honesty are non-negotiable.</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2100" b="1" dirty="0">
                <a:solidFill>
                  <a:schemeClr val="tx2"/>
                </a:solidFill>
              </a:rPr>
              <a:t>What your capstone notebook must show</a:t>
            </a:r>
            <a:endParaRPr lang="en-US" sz="2100" dirty="0"/>
          </a:p>
          <a:p>
            <a:pPr indent="0" marL="0">
              <a:buNone/>
            </a:pPr>
            <a:r>
              <a:rPr lang="en-US" sz="2100" dirty="0">
                <a:solidFill>
                  <a:schemeClr val="tx1"/>
                </a:solidFill>
              </a:rPr>
              <a:t>Follow the section template and checklist; feasibility and honesty are non-negotiable.</a:t>
            </a:r>
            <a:endParaRPr lang="en-US" sz="2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14.3</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Preparing for the final assessment and interactive capstone</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Next in Module 14: Lesson 3. Mark this lesson complete in the course before continuing.</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14, Lesson 2: Reporting template and self-check list</dc:title>
  <dc:subject>Machine Learning Fundamentals for Surrogate-Based Engineering Optimization</dc:subject>
  <dc:creator>Prof. Mazharul Islam</dc:creator>
  <cp:lastModifiedBy>Prof. Mazharul Islam</cp:lastModifiedBy>
  <cp:revision>1</cp:revision>
  <dcterms:created xsi:type="dcterms:W3CDTF">2026-10-07T01:12:32Z</dcterms:created>
  <dcterms:modified xsi:type="dcterms:W3CDTF">2026-10-07T01:12:32Z</dcterms:modified>
</cp:coreProperties>
</file>