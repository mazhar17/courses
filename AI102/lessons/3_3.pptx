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401225c3-cb6f-f5c6-dde5-524053b999fd}">
          <p14:sldIdLst>
            <p14:sldId id="256"/>
          </p14:sldIdLst>
        </p14:section>
        <p14:section name="Lesson 3: Correlation versus causation" id="{980bc149-81ee-2cb3-260b-afa511d08aa2}">
          <p14:sldIdLst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Summary" id="{1e1f04ba-be6e-cc4b-50ac-3f8bf03ecf7f}">
          <p14:sldIdLst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Module 3, Lesson 3 of the self-paced course Machine Learning Fundamentals for Surrogate-Based Engineering Optimization: Correlation versus causation. This lesson belongs to the module Mathematics and data intuition and takes about 7 minutes. In this lesson: Variables can move together without one causing the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Variables can move together without one causing the other. Correlation measures how strongly two variables move together in data. Causation means changing one would change the other. A hidden common cause (a confounder) can produce correlation without causation. Look at the figure. Cutting speed raises both coolant temperature and roughness; the two are correlated in data although neither causes the other. Left: a causal diagram with cutting speed pointing to coolant temperature and to surface roughness. Right: a scatter plot of roughness versus coolant temperature showing positive correlation, with the Pearson coefficient printed.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the mathematics. r = (Σ(x_i − x̄)(y_i − ȳ))/(√[Σ(x_i − x̄)^2 Σ(y_i − ȳ)^2]) The Pearson coefficient r ∈ [−1, 1] is dimensionless and measures only linear association.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does this matter in engineering? In historical shop-floor data, high coolant temperature correlates with poor roughness. Cooling the coolant would not fix roughness if cutting speed drives both. In simulation-based surrogates, inputs are set by the designer and independently varied, so correlation in a well-designed sample does reflect the simulator’s cause–effect structure — one advantage of designed experiments (Module 7) over observational data. A practical tip: Prefer designed experiments, where you set inputs independently, over mining historical data, whenever the goal is design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to predict. A dataset shows r = 0.0 between fin gap and R across the full range. Does that mean fin gap does not affect R? Pause here and commit to an answer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the answer. No. R first falls and then rises with s (a U-shape); a strong nonlinear dependence can have near-zero linear correlation.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common misconception is this: High correlation proves that one variable controls the other. In fact: Correlation can come from confounders, coincidence or reverse causation. Controlled variation (experiments) is needed to establish cause. The takeaway: Correlation ≠ causation; designed sampling lets data reflect causal effects of the inputs.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 up this lesson. Variables can move together without one causing the other: Correlation ≠ causation; designed sampling lets data reflect causal effects of the inputs.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 completes Lesson 3 of Module 3: Correlation versus causation. Next comes Lesson 4: Scaling, normalization and sensitivity.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spc="200" kern="0" dirty="0">
                <a:solidFill>
                  <a:srgbClr val="F2C14E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D6E2F0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58064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6"/>
                </a:solidFill>
              </a:rPr>
              <a:t>Machine Learning Fundamentals for Surrogate-Based Engineering Optimization · course version 3.0.0</a:t>
            </a:r>
            <a:endParaRPr lang="en-US" sz="1200" dirty="0"/>
          </a:p>
        </p:txBody>
      </p:sp>
      <p:sp>
        <p:nvSpPr>
          <p:cNvPr id="6" name="Text 1"/>
          <p:cNvSpPr/>
          <p:nvPr/>
        </p:nvSpPr>
        <p:spPr>
          <a:xfrm>
            <a:off x="548640" y="61264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6"/>
                </a:solidFill>
              </a:rPr>
              <a:t>© 2026 Prof. Mazharul Islam · CC BY 4.0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10058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dirty="0">
                <a:solidFill>
                  <a:srgbClr val="F2C14E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33172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931920"/>
            <a:ext cx="105156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E3ECF7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2F0"/>
                </a:solidFill>
              </a:rPr>
              <a:t>Module 3, Lesson 3 · Correlation versus causation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2"/>
                </a:solidFill>
              </a:rPr>
              <a:t>Module 3, Lesson 3 · Correlation versus causation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7223760" y="6400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2"/>
                </a:solidFill>
              </a:rPr>
              <a:t>© 2026 Prof. Mazharul Islam · CC BY 4.0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2C14E"/>
                </a:solidFill>
              </a:rPr>
              <a:t>MODULE 03 · LESSON 3 OF 4 · ≈ 7 MIN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Correlation versus causation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D6E2F0"/>
                </a:solidFill>
              </a:rPr>
              <a:t>Module 3: Mathematics and data intuition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D6E2F0"/>
                </a:solidFill>
              </a:rPr>
              <a:t>Variables can move together without one causing the other</a:t>
            </a:r>
            <a:endParaRPr lang="en-US" sz="1800" dirty="0"/>
          </a:p>
        </p:txBody>
      </p:sp>
      <p:sp>
        <p:nvSpPr>
          <p:cNvPr id="5" name="lesson-number-ring"/>
          <p:cNvSpPr/>
          <p:nvPr/>
        </p:nvSpPr>
        <p:spPr>
          <a:xfrm>
            <a:off x="8732520" y="1417320"/>
            <a:ext cx="2926080" cy="2926080"/>
          </a:xfrm>
          <a:prstGeom prst="ellipse">
            <a:avLst/>
          </a:prstGeom>
          <a:solidFill>
            <a:schemeClr val="bg1">
              <a:alpha val="12000"/>
            </a:schemeClr>
          </a:solidFill>
          <a:ln w="38100">
            <a:solidFill>
              <a:srgbClr val="F2C14E"/>
            </a:solidFill>
            <a:prstDash val="solid"/>
          </a:ln>
        </p:spPr>
      </p:sp>
      <p:sp>
        <p:nvSpPr>
          <p:cNvPr id="6" name="lesson-number"/>
          <p:cNvSpPr txBox="1"/>
          <p:nvPr/>
        </p:nvSpPr>
        <p:spPr>
          <a:xfrm>
            <a:off x="8732520" y="141732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bg1"/>
                </a:solidFill>
              </a:rPr>
              <a:t>3.3</a:t>
            </a:r>
            <a:endParaRPr lang="en-US" sz="8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3 · Correlation versus causation · Intuition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chemeClr val="tx2"/>
                </a:solidFill>
              </a:rPr>
              <a:t>Variables can move together without one causing the other</a:t>
            </a:r>
            <a:endParaRPr lang="en-US" sz="2300" dirty="0"/>
          </a:p>
        </p:txBody>
      </p:sp>
      <p:sp>
        <p:nvSpPr>
          <p:cNvPr id="5" name="icon-bg-intu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-intu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766621"/>
            <a:ext cx="261518" cy="261518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1188720" y="1572768"/>
            <a:ext cx="10408615" cy="10058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Correlation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 measures how strongly two variables move together in data. </a:t>
            </a:r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Causation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 means changing one would change the other. A hidden common cause (a </a:t>
            </a:r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confounder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) can produce correlation without causation.</a:t>
            </a:r>
            <a:endParaRPr lang="en-US" sz="1700" dirty="0"/>
          </a:p>
        </p:txBody>
      </p:sp>
      <p:pic>
        <p:nvPicPr>
          <p:cNvPr id="8" name="figure" descr="Left: a causal diagram with cutting speed pointing to coolant temperature and to surface roughness. Right: a scatter plot of roughness versus coolant temperature showing positive correlation, with the Pearson coefficient printed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591" y="2743200"/>
            <a:ext cx="7734513" cy="288036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48640" y="566928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6525F"/>
                </a:solidFill>
              </a:rPr>
              <a:t>Cutting speed raises both coolant temperature and roughness; the two are correlated in data although neither causes the other.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3 · Correlation versus causation · The mathematics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chemeClr val="tx2"/>
                </a:solidFill>
              </a:rPr>
              <a:t>Variables can move together without one causing the other</a:t>
            </a:r>
            <a:endParaRPr lang="en-US" sz="2300" dirty="0"/>
          </a:p>
        </p:txBody>
      </p:sp>
      <p:sp>
        <p:nvSpPr>
          <p:cNvPr id="5" name="icon-bg-math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-mat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766621"/>
            <a:ext cx="261518" cy="261518"/>
          </a:xfrm>
          <a:prstGeom prst="rect">
            <a:avLst/>
          </a:prstGeom>
        </p:spPr>
      </p:pic>
      <p:sp>
        <p:nvSpPr>
          <p:cNvPr id="7" name="math-card"/>
          <p:cNvSpPr/>
          <p:nvPr/>
        </p:nvSpPr>
        <p:spPr>
          <a:xfrm>
            <a:off x="1143000" y="1600200"/>
            <a:ext cx="10500055" cy="1305560"/>
          </a:xfrm>
          <a:prstGeom prst="roundRect">
            <a:avLst>
              <a:gd name="adj" fmla="val 8405"/>
            </a:avLst>
          </a:prstGeom>
          <a:solidFill>
            <a:schemeClr val="bg2"/>
          </a:solidFill>
          <a:ln w="12700">
            <a:solidFill>
              <a:schemeClr val="bg2">
                <a:alpha val="30000"/>
              </a:schemeClr>
            </a:solidFill>
            <a:prstDash val="solid"/>
          </a:ln>
        </p:spPr>
      </p:sp>
      <p:sp>
        <p:nvSpPr>
          <p:cNvPr id="8" name="math-text"/>
          <p:cNvSpPr txBox="1"/>
          <p:nvPr/>
        </p:nvSpPr>
        <p:spPr>
          <a:xfrm>
            <a:off x="1234440" y="1645920"/>
            <a:ext cx="10408615" cy="12141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000" i="1" dirty="0">
                <a:solidFill>
                  <a:schemeClr val="tx1"/>
                </a:solidFill>
              </a:rPr>
              <a:t>r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= (Σ(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x</a:t>
            </a:r>
            <a:pPr algn="ctr" indent="0" marL="0">
              <a:buNone/>
            </a:pPr>
            <a:r>
              <a:rPr lang="en-US" sz="2000" i="1" baseline="-40000" dirty="0">
                <a:solidFill>
                  <a:schemeClr val="tx1"/>
                </a:solidFill>
              </a:rPr>
              <a:t>i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−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x̄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)(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y</a:t>
            </a:r>
            <a:pPr algn="ctr" indent="0" marL="0">
              <a:buNone/>
            </a:pPr>
            <a:r>
              <a:rPr lang="en-US" sz="2000" i="1" baseline="-40000" dirty="0">
                <a:solidFill>
                  <a:schemeClr val="tx1"/>
                </a:solidFill>
              </a:rPr>
              <a:t>i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−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ȳ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))/(√[Σ(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x</a:t>
            </a:r>
            <a:pPr algn="ctr" indent="0" marL="0">
              <a:buNone/>
            </a:pPr>
            <a:r>
              <a:rPr lang="en-US" sz="2000" i="1" baseline="-40000" dirty="0">
                <a:solidFill>
                  <a:schemeClr val="tx1"/>
                </a:solidFill>
              </a:rPr>
              <a:t>i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−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x̄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</a:t>
            </a:r>
            <a:pPr algn="ctr" indent="0" marL="0">
              <a:buNone/>
            </a:pPr>
            <a:r>
              <a:rPr lang="en-US" sz="2000" baseline="30000" dirty="0">
                <a:solidFill>
                  <a:schemeClr val="tx1"/>
                </a:solidFill>
              </a:rPr>
              <a:t>2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Σ(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y</a:t>
            </a:r>
            <a:pPr algn="ctr" indent="0" marL="0">
              <a:buNone/>
            </a:pPr>
            <a:r>
              <a:rPr lang="en-US" sz="2000" i="1" baseline="-40000" dirty="0">
                <a:solidFill>
                  <a:schemeClr val="tx1"/>
                </a:solidFill>
              </a:rPr>
              <a:t>i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−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ȳ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</a:t>
            </a:r>
            <a:pPr algn="ctr" indent="0" marL="0">
              <a:buNone/>
            </a:pPr>
            <a:r>
              <a:rPr lang="en-US" sz="2000" baseline="30000" dirty="0">
                <a:solidFill>
                  <a:schemeClr val="tx1"/>
                </a:solidFill>
              </a:rPr>
              <a:t>2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])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The Pearson coefficient 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r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∈ [−1, 1] is dimensionless and measures only 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linear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association.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3 · Correlation versus causation · In engineering practice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chemeClr val="tx2"/>
                </a:solidFill>
              </a:rPr>
              <a:t>Variables can move together without one causing the other</a:t>
            </a:r>
            <a:endParaRPr lang="en-US" sz="2300" dirty="0"/>
          </a:p>
        </p:txBody>
      </p:sp>
      <p:sp>
        <p:nvSpPr>
          <p:cNvPr id="5" name="Engineering application"/>
          <p:cNvSpPr/>
          <p:nvPr/>
        </p:nvSpPr>
        <p:spPr>
          <a:xfrm>
            <a:off x="548640" y="1691640"/>
            <a:ext cx="5364328" cy="4480560"/>
          </a:xfrm>
          <a:prstGeom prst="roundRect">
            <a:avLst>
              <a:gd name="adj" fmla="val 2449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6" name="icon-bg-app"/>
          <p:cNvSpPr/>
          <p:nvPr/>
        </p:nvSpPr>
        <p:spPr>
          <a:xfrm>
            <a:off x="822960" y="1920240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7" name="icon-app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023" y="2056303"/>
            <a:ext cx="294803" cy="29480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965960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Engineering application</a:t>
            </a:r>
            <a:endParaRPr lang="en-US" sz="2000" dirty="0"/>
          </a:p>
        </p:txBody>
      </p:sp>
      <p:sp>
        <p:nvSpPr>
          <p:cNvPr id="9" name="text"/>
          <p:cNvSpPr txBox="1"/>
          <p:nvPr/>
        </p:nvSpPr>
        <p:spPr>
          <a:xfrm>
            <a:off x="777240" y="2697480"/>
            <a:ext cx="4907128" cy="3337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In historical shop-floor data, high coolant temperature correlates with poor roughness. Cooling the coolant would not fix roughness if cutting speed drives both. In simulation-based surrogates, inputs are set by the designer and independently varied, so correlation in a well-designed sample does reflect the simulator’s cause–effect structure — one advantage of designed experiments (Module 7) over observational data.</a:t>
            </a:r>
            <a:endParaRPr lang="en-US" sz="1800" dirty="0"/>
          </a:p>
        </p:txBody>
      </p:sp>
      <p:sp>
        <p:nvSpPr>
          <p:cNvPr id="10" name="Practical tip"/>
          <p:cNvSpPr/>
          <p:nvPr/>
        </p:nvSpPr>
        <p:spPr>
          <a:xfrm>
            <a:off x="6278728" y="1691640"/>
            <a:ext cx="5364328" cy="4480560"/>
          </a:xfrm>
          <a:prstGeom prst="roundRect">
            <a:avLst>
              <a:gd name="adj" fmla="val 2449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>
                <a:alpha val="30000"/>
              </a:schemeClr>
            </a:solidFill>
            <a:prstDash val="solid"/>
          </a:ln>
        </p:spPr>
      </p:sp>
      <p:sp>
        <p:nvSpPr>
          <p:cNvPr id="11" name="icon-bg-tip"/>
          <p:cNvSpPr/>
          <p:nvPr/>
        </p:nvSpPr>
        <p:spPr>
          <a:xfrm>
            <a:off x="6553048" y="192024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icon-tip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9110" y="2056303"/>
            <a:ext cx="294803" cy="29480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38848" y="1965960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Practical tip</a:t>
            </a:r>
            <a:endParaRPr lang="en-US" sz="2000" dirty="0"/>
          </a:p>
        </p:txBody>
      </p:sp>
      <p:sp>
        <p:nvSpPr>
          <p:cNvPr id="14" name="text"/>
          <p:cNvSpPr txBox="1"/>
          <p:nvPr/>
        </p:nvSpPr>
        <p:spPr>
          <a:xfrm>
            <a:off x="6507328" y="2697480"/>
            <a:ext cx="4907128" cy="3337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Prefer designed experiments, where you set inputs independently, over mining historical data, whenever the goal is design decisions.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3 · Correlation versus causation · Predict before you look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Pause and predict</a:t>
            </a:r>
            <a:endParaRPr lang="en-US" sz="3200" dirty="0"/>
          </a:p>
        </p:txBody>
      </p:sp>
      <p:sp>
        <p:nvSpPr>
          <p:cNvPr id="5" name="question-card"/>
          <p:cNvSpPr/>
          <p:nvPr/>
        </p:nvSpPr>
        <p:spPr>
          <a:xfrm>
            <a:off x="548640" y="1737360"/>
            <a:ext cx="11094415" cy="3291840"/>
          </a:xfrm>
          <a:prstGeom prst="roundRect">
            <a:avLst>
              <a:gd name="adj" fmla="val 3333"/>
            </a:avLst>
          </a:prstGeom>
          <a:solidFill>
            <a:schemeClr val="accent2">
              <a:alpha val="9000"/>
            </a:schemeClr>
          </a:solidFill>
          <a:ln w="12700">
            <a:solidFill>
              <a:schemeClr val="accent2">
                <a:alpha val="30000"/>
              </a:schemeClr>
            </a:solidFill>
            <a:prstDash val="solid"/>
          </a:ln>
        </p:spPr>
      </p:sp>
      <p:sp>
        <p:nvSpPr>
          <p:cNvPr id="6" name="icon-bg-predict"/>
          <p:cNvSpPr/>
          <p:nvPr/>
        </p:nvSpPr>
        <p:spPr>
          <a:xfrm>
            <a:off x="868680" y="201168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con-predic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2187245"/>
            <a:ext cx="380390" cy="380390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1874520" y="1965960"/>
            <a:ext cx="9448495" cy="28346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A dataset shows r = 0.0 between fin gap and R across the full range. Does that mean fin gap does not affect R?</a:t>
            </a:r>
            <a:endParaRPr lang="en-US" sz="28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3035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6525F"/>
                </a:solidFill>
              </a:rPr>
              <a:t>Write down your answer, then continue to the next slide.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3 · Correlation versus causation · Answer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happens, and why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002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6525F"/>
                </a:solidFill>
              </a:rPr>
              <a:t>Question: </a:t>
            </a:r>
            <a:pPr indent="0" marL="0">
              <a:buNone/>
            </a:pPr>
            <a:r>
              <a:rPr lang="en-US" sz="1400" dirty="0">
                <a:solidFill>
                  <a:srgbClr val="46525F"/>
                </a:solidFill>
              </a:rPr>
              <a:t>A dataset shows r = 0.0 between fin gap and R across the full range. Does that mean fin gap does not affect R?</a:t>
            </a:r>
            <a:endParaRPr lang="en-US" sz="1400" dirty="0"/>
          </a:p>
        </p:txBody>
      </p:sp>
      <p:sp>
        <p:nvSpPr>
          <p:cNvPr id="6" name="answer-card"/>
          <p:cNvSpPr/>
          <p:nvPr/>
        </p:nvSpPr>
        <p:spPr>
          <a:xfrm>
            <a:off x="548640" y="2606040"/>
            <a:ext cx="11094415" cy="3566160"/>
          </a:xfrm>
          <a:prstGeom prst="roundRect">
            <a:avLst>
              <a:gd name="adj" fmla="val 3077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7" name="icon-bg-answer"/>
          <p:cNvSpPr/>
          <p:nvPr/>
        </p:nvSpPr>
        <p:spPr>
          <a:xfrm>
            <a:off x="868680" y="288036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8" name="icon-answe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3055925"/>
            <a:ext cx="380390" cy="380390"/>
          </a:xfrm>
          <a:prstGeom prst="rect">
            <a:avLst/>
          </a:prstGeom>
        </p:spPr>
      </p:pic>
      <p:sp>
        <p:nvSpPr>
          <p:cNvPr id="9" name="text"/>
          <p:cNvSpPr txBox="1"/>
          <p:nvPr/>
        </p:nvSpPr>
        <p:spPr>
          <a:xfrm>
            <a:off x="1874520" y="2788920"/>
            <a:ext cx="9448495" cy="3200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No. R first falls and then rises with s (a U-shape); a strong nonlinear dependence can have near-zero linear correlation.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3 · Correlation versus causation · Common misconception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chemeClr val="tx2"/>
                </a:solidFill>
              </a:rPr>
              <a:t>Variables can move together without one causing the other</a:t>
            </a:r>
            <a:endParaRPr lang="en-US" sz="2300" dirty="0"/>
          </a:p>
        </p:txBody>
      </p:sp>
      <p:sp>
        <p:nvSpPr>
          <p:cNvPr id="5" name="Misconception"/>
          <p:cNvSpPr/>
          <p:nvPr/>
        </p:nvSpPr>
        <p:spPr>
          <a:xfrm>
            <a:off x="548640" y="1691640"/>
            <a:ext cx="5364328" cy="2971800"/>
          </a:xfrm>
          <a:prstGeom prst="roundRect">
            <a:avLst>
              <a:gd name="adj" fmla="val 3692"/>
            </a:avLst>
          </a:prstGeom>
          <a:solidFill>
            <a:schemeClr val="accent6">
              <a:alpha val="9000"/>
            </a:schemeClr>
          </a:solidFill>
          <a:ln w="12700">
            <a:solidFill>
              <a:schemeClr val="accent6">
                <a:alpha val="30000"/>
              </a:schemeClr>
            </a:solidFill>
            <a:prstDash val="solid"/>
          </a:ln>
        </p:spPr>
      </p:sp>
      <p:sp>
        <p:nvSpPr>
          <p:cNvPr id="6" name="icon-bg-mis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7" name="icon-mi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006194"/>
            <a:ext cx="285293" cy="28529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901952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Misconception</a:t>
            </a:r>
            <a:endParaRPr lang="en-US" sz="2000" dirty="0"/>
          </a:p>
        </p:txBody>
      </p:sp>
      <p:sp>
        <p:nvSpPr>
          <p:cNvPr id="9" name="text"/>
          <p:cNvSpPr txBox="1"/>
          <p:nvPr/>
        </p:nvSpPr>
        <p:spPr>
          <a:xfrm>
            <a:off x="777240" y="2560320"/>
            <a:ext cx="4907128" cy="2011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High correlation proves that one variable controls the other.</a:t>
            </a:r>
            <a:endParaRPr lang="en-US" sz="2000" dirty="0"/>
          </a:p>
        </p:txBody>
      </p:sp>
      <p:sp>
        <p:nvSpPr>
          <p:cNvPr id="10" name="What is actually true"/>
          <p:cNvSpPr/>
          <p:nvPr/>
        </p:nvSpPr>
        <p:spPr>
          <a:xfrm>
            <a:off x="6278728" y="1691640"/>
            <a:ext cx="5364328" cy="2971800"/>
          </a:xfrm>
          <a:prstGeom prst="roundRect">
            <a:avLst>
              <a:gd name="adj" fmla="val 3692"/>
            </a:avLst>
          </a:prstGeom>
          <a:solidFill>
            <a:schemeClr val="accent3">
              <a:alpha val="9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11" name="icon-bg-cor"/>
          <p:cNvSpPr/>
          <p:nvPr/>
        </p:nvSpPr>
        <p:spPr>
          <a:xfrm>
            <a:off x="6553048" y="187452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2" name="icon-co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721" y="2006194"/>
            <a:ext cx="285293" cy="28529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38848" y="1901952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What is actually true</a:t>
            </a:r>
            <a:endParaRPr lang="en-US" sz="2000" dirty="0"/>
          </a:p>
        </p:txBody>
      </p:sp>
      <p:sp>
        <p:nvSpPr>
          <p:cNvPr id="14" name="text"/>
          <p:cNvSpPr txBox="1"/>
          <p:nvPr/>
        </p:nvSpPr>
        <p:spPr>
          <a:xfrm>
            <a:off x="6507328" y="2560320"/>
            <a:ext cx="4907128" cy="2011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Correlation can come from confounders, coincidence or reverse causation. Controlled variation (experiments) is needed to establish cause.</a:t>
            </a:r>
            <a:endParaRPr lang="en-US" sz="2000" dirty="0"/>
          </a:p>
        </p:txBody>
      </p:sp>
      <p:sp>
        <p:nvSpPr>
          <p:cNvPr id="15" name="takeaway"/>
          <p:cNvSpPr/>
          <p:nvPr/>
        </p:nvSpPr>
        <p:spPr>
          <a:xfrm>
            <a:off x="548640" y="4892040"/>
            <a:ext cx="11094415" cy="128016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icon-bg-take"/>
          <p:cNvSpPr/>
          <p:nvPr/>
        </p:nvSpPr>
        <p:spPr>
          <a:xfrm>
            <a:off x="822960" y="525780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7" name="icon-tak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5389474"/>
            <a:ext cx="285293" cy="28529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54480" y="4983480"/>
            <a:ext cx="9859975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C14E"/>
                </a:solidFill>
              </a:rPr>
              <a:t>Takeaway  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Correlation ≠ causation; designed sampling lets data reflect causal effects of the inputs.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Summary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Key takeaways from this lesson</a:t>
            </a:r>
            <a:endParaRPr lang="en-US" sz="3200" dirty="0"/>
          </a:p>
        </p:txBody>
      </p:sp>
      <p:sp>
        <p:nvSpPr>
          <p:cNvPr id="5" name="takeaway-1"/>
          <p:cNvSpPr/>
          <p:nvPr/>
        </p:nvSpPr>
        <p:spPr>
          <a:xfrm>
            <a:off x="548640" y="1645920"/>
            <a:ext cx="5387188" cy="2103120"/>
          </a:xfrm>
          <a:prstGeom prst="roundRect">
            <a:avLst>
              <a:gd name="adj" fmla="val 5217"/>
            </a:avLst>
          </a:prstGeom>
          <a:solidFill>
            <a:schemeClr val="accent1">
              <a:alpha val="7000"/>
            </a:schemeClr>
          </a:solidFill>
          <a:ln w="12700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" y="181051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719072"/>
            <a:ext cx="4564228" cy="1956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Variables can move together without one causing the other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Correlation ≠ causation; designed sampling lets data reflect causal effects of the inputs.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2C14E"/>
                </a:solidFill>
              </a:rPr>
              <a:t>UP NEXT · LESSON 3.4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Scaling, normalization and sensitivity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E2F0"/>
                </a:solidFill>
              </a:rPr>
              <a:t>Next in Module 3: Lesson 4. Mark this lesson complete in the course before continuing.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732520" y="1417320"/>
            <a:ext cx="2926080" cy="2926080"/>
          </a:xfrm>
          <a:prstGeom prst="ellipse">
            <a:avLst/>
          </a:prstGeom>
          <a:solidFill>
            <a:schemeClr val="bg1">
              <a:alpha val="12000"/>
            </a:schemeClr>
          </a:solidFill>
          <a:ln w="38100">
            <a:solidFill>
              <a:srgbClr val="F2C14E"/>
            </a:solidFill>
            <a:prstDash val="solid"/>
          </a:ln>
        </p:spPr>
      </p:sp>
      <p:pic>
        <p:nvPicPr>
          <p:cNvPr id="6" name="icon-nex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33172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LSO Course">
  <a:themeElements>
    <a:clrScheme name="MLSO Course">
      <a:dk1>
        <a:srgbClr val="18212B"/>
      </a:dk1>
      <a:lt1>
        <a:srgbClr val="FFFFFF"/>
      </a:lt1>
      <a:dk2>
        <a:srgbClr val="123B6B"/>
      </a:dk2>
      <a:lt2>
        <a:srgbClr val="EEF2F7"/>
      </a:lt2>
      <a:accent1>
        <a:srgbClr val="1F5FA8"/>
      </a:accent1>
      <a:accent2>
        <a:srgbClr val="C2500A"/>
      </a:accent2>
      <a:accent3>
        <a:srgbClr val="1A6E3D"/>
      </a:accent3>
      <a:accent4>
        <a:srgbClr val="B98500"/>
      </a:accent4>
      <a:accent5>
        <a:srgbClr val="7A3FB0"/>
      </a:accent5>
      <a:accent6>
        <a:srgbClr val="B3261E"/>
      </a:accent6>
      <a:hlink>
        <a:srgbClr val="1F5FA8"/>
      </a:hlink>
      <a:folHlink>
        <a:srgbClr val="7A3FB0"/>
      </a:folHlink>
    </a:clrScheme>
    <a:fontScheme name="MLSO Cours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Self-paced course (CC BY 4.0)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3, Lesson 3: Correlation versus causation</dc:title>
  <dc:subject>Machine Learning Fundamentals for Surrogate-Based Engineering Optimization</dc:subject>
  <dc:creator>Prof. Mazharul Islam</dc:creator>
  <cp:lastModifiedBy>Prof. Mazharul Islam</cp:lastModifiedBy>
  <cp:revision>1</cp:revision>
  <dcterms:created xsi:type="dcterms:W3CDTF">2026-10-07T01:12:30Z</dcterms:created>
  <dcterms:modified xsi:type="dcterms:W3CDTF">2026-10-07T01:12:30Z</dcterms:modified>
</cp:coreProperties>
</file>