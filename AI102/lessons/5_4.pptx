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9301364-c362-914d-94a2-9a9525a69123}">
          <p14:sldIdLst>
            <p14:sldId id="256"/>
          </p14:sldIdLst>
        </p14:section>
        <p14:section name="Lesson 4: Data leakage, pipelines and group-aware splits" id="{f485e8da-adce-506c-b8eb-2d5a686c03ae}">
          <p14:sldIdLst>
            <p14:sldId id="257"/>
            <p14:sldId id="258"/>
            <p14:sldId id="259"/>
            <p14:sldId id="260"/>
            <p14:sldId id="261"/>
            <p14:sldId id="262"/>
            <p14:sldId id="263"/>
            <p14:sldId id="264"/>
            <p14:sldId id="265"/>
            <p14:sldId id="266"/>
            <p14:sldId id="267"/>
            <p14:sldId id="268"/>
          </p14:sldIdLst>
        </p14:section>
        <p14:section name="Summary" id="{de12c03f-c084-a442-d99f-7fe59c98211e}">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5, Lesson 4 of the self-paced course Machine Learning Fundamentals for Surrogate-Based Engineering Optimization: Data leakage, pipelines and group-aware splits. This lesson belongs to the module Generalization and trustworthy validation and takes about 12 minutes. In this lesson: Leakage: when the test answer sneaks into training; Splitting related observations by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when the test answer sneaks into training. Data leakage means information from validation or test data influences training, making errors look smaller than they really are. Classic examples: scaling with statistics computed on all data before splitting; selecting features using all data; near-duplicate samples in both sets; using future measurements to predict the past. Look at the figure. Leaky preprocessing (left) versus a pipeline (right). Left column in red: compute mean and standard deviation on all data, scale everything, then split — test score looks better than reality. Right column in green: split first, fit scaler on training data only, apply the same scaler to test data, then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A pipeline bundles preprocessing and model so that, inside each CV fold, every fitted quantity (means, standard deviations, polynomial feature scalings) is computed from that fold’s training part only: (The code listing is shown on the slide: from sklearn.pipeline import make_pipeline; from sklearn.preprocessing import StandardScaler, PolynomialFeatures; from sklearn.linear_model import LinearRegression; from sklearn.model_selection import cross_val_score; model = make_pipeline(StandardScaler(), PolynomialFeatures(3), LinearRegression()); scores = cross_val_score(model, X, y, cv=5, scoring="neg_root_mean_squared_error"))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Scaling by fixed design-variable bounds (known before any data) cannot leak; scaling by data statistics can. With small datasets (20–40 runs), leakage effects are larger than many students expect. A practical tip: Rule: anything “fitted” — scalers, feature selection, hyperparameter tuning — must be inside the cross-validation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You standardize all 40 runs, then do 5-fold CV. Is this leakage?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Yes — mild but real: each fold’s validation data influenced the mean and standard deviation used in training. Put the scaler inside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Leakage only matters for big-data applications. In fact: It matters most for small datasets, where each point strongly affects fitted statistics and scores. The takeaway: Fit every preprocessing step on training data only; pipelines enforce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related observations by group. Rows are often not independent: repeated tests on the same specimen, several time steps from one simulation run, measurements from one machine, or data ordered in time. Random row splitting puts near-identical rows in both training and test, so the model appears to generalize when it is really recognizing the group. Look at the figure. Random row split versus group split. Left: coloured dots for four specimens, with test points (dark outline) scattered among all specimens. Right: one entire specimen held out as the test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Group k-fold: partition the set of groups (not rows) into folds. In scikit-learn: GroupKFold(n_splits=5) with a groups array (specimen ID, run ID, machine ID). For time-ordered data, train on the past and test on the future (TimeSeriesSplit).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Fatigue tests: several strain-gauge readings per specimen → split by specimen. Transient CFD: 200 time steps per run → split by run. Machining: data from three lathes → hold out a whole lathe to check transfer to an unseen machine. A practical tip: Ask: “What will be new when the model is used?” — a new design, specimen, machine, or time period — and split by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A random split of 1 000 rows from 10 specimens gives test RMSE 2 MPa; a split by specimen gives 9 MPa. Which reflects performance on a new specimen?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The group split (9 MPa). The random split was inflated by within-specimen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Random splitting is always the fair default. In fact: It is fair only if rows are independent. Otherwise split by the unit you want to generalize to. The takeaway: Split by specimen/run/machine/time when rows are related; random row splits can be badly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Leakage: when the test answer sneaks into training: Fit every preprocessing step on training data only; pipelines enforce this. Splitting related observations by group: Split by specimen/run/machine/time when rows are related; random row splits can be badly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4 of Module 5: Data leakage, pipelines and group-aware splits. Next comes Lesson 5: Why good average accuracy may be insufficient near an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5, Lesson 4 · Data leakage, pipelines and group-aware splits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5, Lesson 4 · Data leakage, pipelines and group-aware splits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05 · LESSON 4 OF 5 · ≈ 12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Data leakage, pipelines and group-aware splits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5: Generalization and trustworthy validation</a:t>
            </a:r>
            <a:endParaRPr lang="en-US" sz="1800" dirty="0"/>
          </a:p>
          <a:p>
            <a:pPr marL="342900" indent="-342900">
              <a:buSzPct val="100000"/>
              <a:buChar char="•"/>
            </a:pPr>
            <a:r>
              <a:rPr lang="en-US" sz="1800" dirty="0">
                <a:solidFill>
                  <a:srgbClr val="D6E2F0"/>
                </a:solidFill>
              </a:rPr>
              <a:t>Leakage: when the test answer sneaks into training</a:t>
            </a:r>
            <a:endParaRPr lang="en-US" sz="1800" dirty="0"/>
          </a:p>
          <a:p>
            <a:pPr marL="342900" indent="-342900">
              <a:buSzPct val="100000"/>
              <a:buChar char="•"/>
            </a:pPr>
            <a:r>
              <a:rPr lang="en-US" sz="1800" dirty="0">
                <a:solidFill>
                  <a:srgbClr val="D6E2F0"/>
                </a:solidFill>
              </a:rPr>
              <a:t>Splitting related observations by group</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5.4</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Leakage: when the test answer sneaks into training</a:t>
            </a:r>
            <a:endParaRPr lang="en-US" sz="27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400" b="1" dirty="0">
                <a:solidFill>
                  <a:schemeClr val="tx1"/>
                </a:solidFill>
              </a:rPr>
              <a:t>Data leakage</a:t>
            </a:r>
            <a:pPr indent="0" marL="0">
              <a:spcAft>
                <a:spcPts val="600"/>
              </a:spcAft>
              <a:buNone/>
            </a:pPr>
            <a:r>
              <a:rPr lang="en-US" sz="1400" dirty="0">
                <a:solidFill>
                  <a:schemeClr val="tx1"/>
                </a:solidFill>
              </a:rPr>
              <a:t> means information from validation or test data influences training, making errors look smaller than they really are. Classic examples: scaling with statistics computed on all data before splitting; selecting features using all data; near-duplicate samples in both sets; using future measurements to predict the past.</a:t>
            </a:r>
            <a:endParaRPr lang="en-US" sz="1400" dirty="0"/>
          </a:p>
        </p:txBody>
      </p:sp>
      <p:pic>
        <p:nvPicPr>
          <p:cNvPr id="8" name="figure" descr="Left column in red: compute mean and standard deviation on all data, scale everything, then split — test score looks better than reality. Right column in green: split first, fit scaler on training data only, apply the same scaler to test data, then score.">    </p:cNvPr>
          <p:cNvPicPr>
            <a:picLocks noChangeAspect="1"/>
          </p:cNvPicPr>
          <p:nvPr/>
        </p:nvPicPr>
        <p:blipFill>
          <a:blip r:embed="rId2"/>
          <a:stretch>
            <a:fillRect/>
          </a:stretch>
        </p:blipFill>
        <p:spPr>
          <a:xfrm>
            <a:off x="2133883" y="2743200"/>
            <a:ext cx="7923929"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Leaky preprocessing (left) versus a pipeline (right).</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Leakage: when the test answer sneaks into training</a:t>
            </a:r>
            <a:endParaRPr lang="en-US" sz="27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3102864"/>
          </a:xfrm>
          <a:prstGeom prst="roundRect">
            <a:avLst>
              <a:gd name="adj" fmla="val 3536"/>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3011424"/>
          </a:xfrm>
          <a:prstGeom prst="rect">
            <a:avLst/>
          </a:prstGeom>
          <a:noFill/>
          <a:ln/>
        </p:spPr>
        <p:txBody>
          <a:bodyPr wrap="square" lIns="1270" tIns="1270" rIns="1270" bIns="1270" rtlCol="0" anchor="ctr"/>
          <a:lstStyle/>
          <a:p>
            <a:pPr indent="0" marL="0">
              <a:spcAft>
                <a:spcPts val="800"/>
              </a:spcAft>
              <a:buNone/>
            </a:pPr>
            <a:r>
              <a:rPr lang="en-US" sz="1600" dirty="0">
                <a:solidFill>
                  <a:schemeClr val="tx1"/>
                </a:solidFill>
              </a:rPr>
              <a:t>A </a:t>
            </a:r>
            <a:pPr indent="0" marL="0">
              <a:buNone/>
            </a:pPr>
            <a:r>
              <a:rPr lang="en-US" sz="1600" b="1" dirty="0">
                <a:solidFill>
                  <a:schemeClr val="tx1"/>
                </a:solidFill>
              </a:rPr>
              <a:t>pipeline</a:t>
            </a:r>
            <a:pPr indent="0" marL="0">
              <a:buNone/>
            </a:pPr>
            <a:r>
              <a:rPr lang="en-US" sz="1600" dirty="0">
                <a:solidFill>
                  <a:schemeClr val="tx1"/>
                </a:solidFill>
              </a:rPr>
              <a:t> bundles preprocessing and model so that, inside each CV fold, every fitted quantity (means, standard deviations, polynomial feature scalings) is computed from that fold’s training part only:</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from sklearn.pipeline import make_pipeline</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from sklearn.preprocessing import StandardScaler, PolynomialFeatures</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from sklearn.linear_model import LinearRegression</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from sklearn.model_selection import cross_val_score</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model = make_pipeline(StandardScaler(), PolynomialFeatures(3), LinearRegression())</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scores = cross_val_score(model, X, y, cv=5, scoring="neg_root_mean_squared_error")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Leakage: when the test answer sneaks into training</a:t>
            </a:r>
            <a:endParaRPr lang="en-US" sz="27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Scaling by fixed design-variable </a:t>
            </a:r>
            <a:pPr indent="0" marL="0">
              <a:spcAft>
                <a:spcPts val="600"/>
              </a:spcAft>
              <a:buNone/>
            </a:pPr>
            <a:r>
              <a:rPr lang="en-US" sz="2000" b="1" dirty="0">
                <a:solidFill>
                  <a:schemeClr val="tx1"/>
                </a:solidFill>
              </a:rPr>
              <a:t>bounds</a:t>
            </a:r>
            <a:pPr indent="0" marL="0">
              <a:spcAft>
                <a:spcPts val="600"/>
              </a:spcAft>
              <a:buNone/>
            </a:pPr>
            <a:r>
              <a:rPr lang="en-US" sz="2000" dirty="0">
                <a:solidFill>
                  <a:schemeClr val="tx1"/>
                </a:solidFill>
              </a:rPr>
              <a:t> (known before any data) cannot leak; scaling by data statistics can. With small datasets (20–40 runs), leakage effects are larger than many students expect.</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Rule: anything “fitted” — scalers, feature selection, hyperparameter tuning — must be inside the cross-validation loop.</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You standardize all 40 runs, then do 5-fold CV. Is this leakage?</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You standardize all 40 runs, then do 5-fold CV. Is this leakage?</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Yes — mild but real: each fold’s validation data influenced the mean and standard deviation used in training. Put the scaler inside a pipeline.</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Leakage: when the test answer sneaks into training</a:t>
            </a:r>
            <a:endParaRPr lang="en-US" sz="27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Leakage only matters for big-data applications.</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matters most for small datasets, where each point strongly affects fitted statistics and scores.</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Fit every preprocessing step on training data only; pipelines enforce this.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Splitting related observations by group</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400" dirty="0">
                <a:solidFill>
                  <a:schemeClr val="tx1"/>
                </a:solidFill>
              </a:rPr>
              <a:t>Rows are often not independent: repeated tests on the same specimen, several time steps from one simulation run, measurements from one machine, or data ordered in time. Random row splitting puts near-identical rows in both training and test, so the model appears to generalize when it is really recognizing the group.</a:t>
            </a:r>
            <a:endParaRPr lang="en-US" sz="1400" dirty="0"/>
          </a:p>
        </p:txBody>
      </p:sp>
      <p:pic>
        <p:nvPicPr>
          <p:cNvPr id="8" name="figure" descr="Left: coloured dots for four specimens, with test points (dark outline) scattered among all specimens. Right: one entire specimen held out as the test group.">    </p:cNvPr>
          <p:cNvPicPr>
            <a:picLocks noChangeAspect="1"/>
          </p:cNvPicPr>
          <p:nvPr/>
        </p:nvPicPr>
        <p:blipFill>
          <a:blip r:embed="rId2"/>
          <a:stretch>
            <a:fillRect/>
          </a:stretch>
        </p:blipFill>
        <p:spPr>
          <a:xfrm>
            <a:off x="1517162" y="2743200"/>
            <a:ext cx="9157371"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Random row split versus group split.</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Splitting related observations by group</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513840"/>
          </a:xfrm>
          <a:prstGeom prst="roundRect">
            <a:avLst>
              <a:gd name="adj" fmla="val 7248"/>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422400"/>
          </a:xfrm>
          <a:prstGeom prst="rect">
            <a:avLst/>
          </a:prstGeom>
          <a:noFill/>
          <a:ln/>
        </p:spPr>
        <p:txBody>
          <a:bodyPr wrap="square" lIns="1270" tIns="1270" rIns="1270" bIns="1270" rtlCol="0" anchor="ctr"/>
          <a:lstStyle/>
          <a:p>
            <a:pPr indent="0" marL="0">
              <a:buNone/>
            </a:pPr>
            <a:r>
              <a:rPr lang="en-US" sz="2000" dirty="0">
                <a:solidFill>
                  <a:schemeClr val="tx1"/>
                </a:solidFill>
              </a:rPr>
              <a:t>Group </a:t>
            </a:r>
            <a:pPr indent="0" marL="0">
              <a:buNone/>
            </a:pPr>
            <a:r>
              <a:rPr lang="en-US" sz="2000" i="1" dirty="0">
                <a:solidFill>
                  <a:schemeClr val="tx1"/>
                </a:solidFill>
              </a:rPr>
              <a:t>k</a:t>
            </a:r>
            <a:pPr indent="0" marL="0">
              <a:buNone/>
            </a:pPr>
            <a:r>
              <a:rPr lang="en-US" sz="2000" dirty="0">
                <a:solidFill>
                  <a:schemeClr val="tx1"/>
                </a:solidFill>
              </a:rPr>
              <a:t>-fold: partition the set of </a:t>
            </a:r>
            <a:pPr indent="0" marL="0">
              <a:buNone/>
            </a:pPr>
            <a:r>
              <a:rPr lang="en-US" sz="2000" b="1" dirty="0">
                <a:solidFill>
                  <a:schemeClr val="tx1"/>
                </a:solidFill>
              </a:rPr>
              <a:t>groups</a:t>
            </a:r>
            <a:pPr indent="0" marL="0">
              <a:buNone/>
            </a:pPr>
            <a:r>
              <a:rPr lang="en-US" sz="2000" dirty="0">
                <a:solidFill>
                  <a:schemeClr val="tx1"/>
                </a:solidFill>
              </a:rPr>
              <a:t> (not rows) into folds. In scikit-learn: </a:t>
            </a:r>
            <a:pPr indent="0" marL="0">
              <a:buNone/>
            </a:pPr>
            <a:r>
              <a:rPr lang="en-US" sz="2000" dirty="0">
                <a:solidFill>
                  <a:schemeClr val="tx1"/>
                </a:solidFill>
                <a:latin typeface="Courier New" pitchFamily="34" charset="0"/>
                <a:ea typeface="Courier New" pitchFamily="34" charset="-122"/>
                <a:cs typeface="Courier New" pitchFamily="34" charset="-120"/>
              </a:rPr>
              <a:t>GroupKFold(n_splits=5)</a:t>
            </a:r>
            <a:pPr indent="0" marL="0">
              <a:buNone/>
            </a:pPr>
            <a:r>
              <a:rPr lang="en-US" sz="2000" dirty="0">
                <a:solidFill>
                  <a:schemeClr val="tx1"/>
                </a:solidFill>
              </a:rPr>
              <a:t> with a </a:t>
            </a:r>
            <a:pPr indent="0" marL="0">
              <a:buNone/>
            </a:pPr>
            <a:r>
              <a:rPr lang="en-US" sz="2000" dirty="0">
                <a:solidFill>
                  <a:schemeClr val="tx1"/>
                </a:solidFill>
                <a:latin typeface="Courier New" pitchFamily="34" charset="0"/>
                <a:ea typeface="Courier New" pitchFamily="34" charset="-122"/>
                <a:cs typeface="Courier New" pitchFamily="34" charset="-120"/>
              </a:rPr>
              <a:t>groups</a:t>
            </a:r>
            <a:pPr indent="0" marL="0">
              <a:buNone/>
            </a:pPr>
            <a:r>
              <a:rPr lang="en-US" sz="2000" dirty="0">
                <a:solidFill>
                  <a:schemeClr val="tx1"/>
                </a:solidFill>
              </a:rPr>
              <a:t> array (specimen ID, run ID, machine ID). For time-ordered data, train on the past and test on the future (</a:t>
            </a:r>
            <a:pPr indent="0" marL="0">
              <a:buNone/>
            </a:pPr>
            <a:r>
              <a:rPr lang="en-US" sz="2000" dirty="0">
                <a:solidFill>
                  <a:schemeClr val="tx1"/>
                </a:solidFill>
                <a:latin typeface="Courier New" pitchFamily="34" charset="0"/>
                <a:ea typeface="Courier New" pitchFamily="34" charset="-122"/>
                <a:cs typeface="Courier New" pitchFamily="34" charset="-120"/>
              </a:rPr>
              <a:t>TimeSeriesSplit</a:t>
            </a:r>
            <a:pPr indent="0" marL="0">
              <a:buNone/>
            </a:pPr>
            <a:r>
              <a:rPr lang="en-US" sz="2000" dirty="0">
                <a:solidFill>
                  <a:schemeClr val="tx1"/>
                </a:solidFill>
              </a:rPr>
              <a: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Splitting related observations by group</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b="1" dirty="0">
                <a:solidFill>
                  <a:schemeClr val="tx1"/>
                </a:solidFill>
              </a:rPr>
              <a:t>Fatigue tests:</a:t>
            </a:r>
            <a:pPr indent="0" marL="0">
              <a:spcAft>
                <a:spcPts val="600"/>
              </a:spcAft>
              <a:buNone/>
            </a:pPr>
            <a:r>
              <a:rPr lang="en-US" sz="2000" dirty="0">
                <a:solidFill>
                  <a:schemeClr val="tx1"/>
                </a:solidFill>
              </a:rPr>
              <a:t> several strain-gauge readings per specimen → split by specimen. </a:t>
            </a:r>
            <a:pPr indent="0" marL="0">
              <a:spcAft>
                <a:spcPts val="600"/>
              </a:spcAft>
              <a:buNone/>
            </a:pPr>
            <a:r>
              <a:rPr lang="en-US" sz="2000" b="1" dirty="0">
                <a:solidFill>
                  <a:schemeClr val="tx1"/>
                </a:solidFill>
              </a:rPr>
              <a:t>Transient CFD:</a:t>
            </a:r>
            <a:pPr indent="0" marL="0">
              <a:spcAft>
                <a:spcPts val="600"/>
              </a:spcAft>
              <a:buNone/>
            </a:pPr>
            <a:r>
              <a:rPr lang="en-US" sz="2000" dirty="0">
                <a:solidFill>
                  <a:schemeClr val="tx1"/>
                </a:solidFill>
              </a:rPr>
              <a:t> 200 time steps per run → split by run. </a:t>
            </a:r>
            <a:pPr indent="0" marL="0">
              <a:spcAft>
                <a:spcPts val="600"/>
              </a:spcAft>
              <a:buNone/>
            </a:pPr>
            <a:r>
              <a:rPr lang="en-US" sz="2000" b="1" dirty="0">
                <a:solidFill>
                  <a:schemeClr val="tx1"/>
                </a:solidFill>
              </a:rPr>
              <a:t>Machining:</a:t>
            </a:r>
            <a:pPr indent="0" marL="0">
              <a:spcAft>
                <a:spcPts val="600"/>
              </a:spcAft>
              <a:buNone/>
            </a:pPr>
            <a:r>
              <a:rPr lang="en-US" sz="2000" dirty="0">
                <a:solidFill>
                  <a:schemeClr val="tx1"/>
                </a:solidFill>
              </a:rPr>
              <a:t> data from three lathes → hold out a whole lathe to check transfer to an unseen machine.</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Ask: “What will be new when the model is used?” — a new design, specimen, machine, or time period — and split by that.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A random split of 1 000 rows from 10 specimens gives test RMSE 2 MPa; a split by specimen gives 9 MPa. Which reflects performance on a new specimen?</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A random split of 1 000 rows from 10 specimens gives test RMSE 2 MPa; a split by specimen gives 9 MPa. Which reflects performance on a new specimen?</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The group split (9 MPa). The random split was inflated by within-specimen similarity.</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Data leakage, pipelines and group-aware splits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Splitting related observations by group</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Random splitting is always the fair default.</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is fair only if rows are independent. Otherwise split by the unit you want to generalize to.</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Split by specimen/run/machine/time when rows are related; random row splits can be badly optimistic.</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Leakage: when the test answer sneaks into training</a:t>
            </a:r>
            <a:endParaRPr lang="en-US" sz="2100" dirty="0"/>
          </a:p>
          <a:p>
            <a:pPr indent="0" marL="0">
              <a:buNone/>
            </a:pPr>
            <a:r>
              <a:rPr lang="en-US" sz="2100" dirty="0">
                <a:solidFill>
                  <a:schemeClr val="tx1"/>
                </a:solidFill>
              </a:rPr>
              <a:t>Fit every preprocessing step on training data only; pipelines enforce this.</a:t>
            </a:r>
            <a:endParaRPr lang="en-US" sz="2100" dirty="0"/>
          </a:p>
        </p:txBody>
      </p:sp>
      <p:sp>
        <p:nvSpPr>
          <p:cNvPr id="8" name="takeaway-2"/>
          <p:cNvSpPr/>
          <p:nvPr/>
        </p:nvSpPr>
        <p:spPr>
          <a:xfrm>
            <a:off x="6255868"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9" name="Text 6"/>
          <p:cNvSpPr txBox="1"/>
          <p:nvPr/>
        </p:nvSpPr>
        <p:spPr>
          <a:xfrm>
            <a:off x="6420460"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6941668" y="1719072"/>
            <a:ext cx="4564228" cy="1956816"/>
          </a:xfrm>
          <a:prstGeom prst="rect">
            <a:avLst/>
          </a:prstGeom>
          <a:noFill/>
          <a:ln/>
        </p:spPr>
        <p:txBody>
          <a:bodyPr wrap="square" lIns="254" tIns="254" rIns="254" bIns="254" rtlCol="0" anchor="ctr"/>
          <a:lstStyle/>
          <a:p>
            <a:pPr indent="0" marL="0">
              <a:buNone/>
            </a:pPr>
            <a:r>
              <a:rPr lang="en-US" sz="1900" b="1" dirty="0">
                <a:solidFill>
                  <a:schemeClr val="tx2"/>
                </a:solidFill>
              </a:rPr>
              <a:t>Splitting related observations by group</a:t>
            </a:r>
            <a:endParaRPr lang="en-US" sz="1900" dirty="0"/>
          </a:p>
          <a:p>
            <a:pPr indent="0" marL="0">
              <a:buNone/>
            </a:pPr>
            <a:r>
              <a:rPr lang="en-US" sz="1900" dirty="0">
                <a:solidFill>
                  <a:schemeClr val="tx1"/>
                </a:solidFill>
              </a:rPr>
              <a:t>Split by specimen/run/machine/time when rows are related; random row splits can be badly optimistic.</a:t>
            </a:r>
            <a:endParaRPr lang="en-US" sz="19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5.5</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Why good average accuracy may be insufficient near an optimum</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5: Lesson 5.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Lesson 4: Data leakage, pipelines and group-aware splits</dc:title>
  <dc:subject>Machine Learning Fundamentals for Surrogate-Based Engineering Optimization</dc:subject>
  <dc:creator>Prof. Mazharul Islam</dc:creator>
  <cp:lastModifiedBy>Prof. Mazharul Islam</cp:lastModifiedBy>
  <cp:revision>1</cp:revision>
  <dcterms:created xsi:type="dcterms:W3CDTF">2026-10-07T01:12:31Z</dcterms:created>
  <dcterms:modified xsi:type="dcterms:W3CDTF">2026-10-07T01:12:31Z</dcterms:modified>
</cp:coreProperties>
</file>