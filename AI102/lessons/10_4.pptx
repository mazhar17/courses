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ed35c13-7e74-a17c-b255-37167e656bc2}">
          <p14:sldIdLst>
            <p14:sldId id="256"/>
          </p14:sldIdLst>
        </p14:section>
        <p14:section name="Lesson 4: Optimizing a surrogate is not finding the true optimum" id="{c28c8b1c-e5f6-d75e-f2f2-3f0c6df70875}">
          <p14:sldIdLst>
            <p14:sldId id="257"/>
            <p14:sldId id="258"/>
            <p14:sldId id="259"/>
            <p14:sldId id="260"/>
            <p14:sldId id="261"/>
            <p14:sldId id="262"/>
          </p14:sldIdLst>
        </p14:section>
        <p14:section name="Summary" id="{5ce528c9-2872-914c-b064-8bd57fd24edb}">
          <p14:sldIdLst>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10, Lesson 4 of the self-paced course Machine Learning Fundamentals for Surrogate-Based Engineering Optimization: Optimizing a surrogate is not finding the true optimum. This lesson belongs to the module Optimization foundations and takes about 8 minutes. In this lesson: Two different minima.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different minima. An optimizer applied to a surrogate finds the minimum of the surrogate. If the surrogate is wrong near that point, the true performance there can be worse than predicted, and the true optimum may lie elsewhere. Only original-model evaluation tells you which. Look at the figure. A quadratic surrogate’s optimum (hollow) versus its verified value (red ×) and the true optimum (star) on a heat-sink slice. Plot of true R versus fin gap at t = 0.35 mm and a quadratic surrogate from a few samples. The surrogate minimum is marked; a vertical red segment connects its predicted value to the verified true value at the same design; a star marks the true minimum. Increasing samples moves the surrogate minimum closer.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mathematics. x̂* = arg min f̂(x), prediction error at candidate: f̂(x̂*) − f(x̂*), optimality gap: f(x̂*) − f(x*) Because the optimizer specifically seeks low predictions, f̂(x̂*) tends to be optimistic (biased low for minimization) — a selection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this matter in engineering? In the heat sink the true constrained optimum is known only because the model is cheap — in practice you never know f(x*); you know only verified values at the designs you evaluated. A practical tip: Report predicted and verified objective and constraint values side by side for every candidate.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predict. Why is the predicted value at the surrogate optimum more likely to be too low than too high? Pause here and commit to an answer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answer. The optimizer searches for the lowest prediction; points where the surrogate happens to under-predict are favoured, so errors at the chosen point skew optimistic.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misconception is this: If the surrogate optimum is feasible according to the surrogate, it is feasible. In fact: Constraint surrogates have errors too; verify feasibility with the original model. The takeaway: Surrogate optimum ≠ true optimum; predictions at the optimum are optimistic;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this lesson. Two different minima: Surrogate optimum ≠ true optimum; predictions at the optimum are optimistic;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completes Lesson 4 of Module 10: Optimizing a surrogate is not finding the true optimum. This was the last lesson of the module, so review the flashcards and take the Module 10 quiz in the course. Next comes Module 11, Surrogate-based optimization, starting with The loop: fit, optimize, verify, 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rtlCol="0"/>
          <a:lstStyle>
            <a:lvl1pPr indent="0" marL="0">
              <a:buNone/>
              <a:defRPr lang="en-US" sz="1800" b="1" spc="200" kern="0" dirty="0">
                <a:solidFill>
                  <a:srgbClr val="F2C14E"/>
                </a:solidFill>
              </a:defRPr>
            </a:lvl1pPr>
          </a:lstStyle>
          <a:p>
            <a:pPr indent="0" marL="0">
              <a:buNone/>
            </a:pP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rtlCol="0"/>
          <a:lstStyle>
            <a:lvl1pPr indent="0" marL="0">
              <a:buNone/>
              <a:defRPr lang="en-US" sz="1800" dirty="0">
                <a:solidFill>
                  <a:srgbClr val="D6E2F0"/>
                </a:solidFill>
              </a:defRPr>
            </a:lvl1pPr>
          </a:lstStyle>
          <a:p>
            <a:pPr indent="0" marL="0">
              <a:buNone/>
            </a:pPr>
            <a:endParaRPr lang="en-US" sz="1800" dirty="0"/>
          </a:p>
        </p:txBody>
      </p:sp>
      <p:sp>
        <p:nvSpPr>
          <p:cNvPr id="5" name="Text 0"/>
          <p:cNvSpPr/>
          <p:nvPr/>
        </p:nvSpPr>
        <p:spPr>
          <a:xfrm>
            <a:off x="548640" y="5806440"/>
            <a:ext cx="8686800" cy="320040"/>
          </a:xfrm>
          <a:prstGeom prst="rect">
            <a:avLst/>
          </a:prstGeom>
          <a:noFill/>
          <a:ln/>
        </p:spPr>
        <p:txBody>
          <a:bodyPr wrap="square" lIns="0" tIns="0" rIns="0" bIns="0" rtlCol="0" anchor="ctr"/>
          <a:lstStyle/>
          <a:p>
            <a:pPr indent="0" marL="0">
              <a:buNone/>
            </a:pPr>
            <a:r>
              <a:rPr lang="en-US" sz="1200" dirty="0">
                <a:solidFill>
                  <a:srgbClr val="C9D6E6"/>
                </a:solidFill>
              </a:rPr>
              <a:t>Machine Learning Fundamentals for Surrogate-Based Engineering Optimization · course version 3.0.0</a:t>
            </a:r>
            <a:endParaRPr lang="en-US" sz="1200" dirty="0"/>
          </a:p>
        </p:txBody>
      </p:sp>
      <p:sp>
        <p:nvSpPr>
          <p:cNvPr id="6" name="Text 1"/>
          <p:cNvSpPr/>
          <p:nvPr/>
        </p:nvSpPr>
        <p:spPr>
          <a:xfrm>
            <a:off x="548640" y="6126480"/>
            <a:ext cx="8686800" cy="320040"/>
          </a:xfrm>
          <a:prstGeom prst="rect">
            <a:avLst/>
          </a:prstGeom>
          <a:noFill/>
          <a:ln/>
        </p:spPr>
        <p:txBody>
          <a:bodyPr wrap="square" lIns="0" tIns="0" rIns="0" bIns="0" rtlCol="0" anchor="ctr"/>
          <a:lstStyle/>
          <a:p>
            <a:pPr indent="0" marL="0">
              <a:buNone/>
            </a:pPr>
            <a:r>
              <a:rPr lang="en-US" sz="1200" dirty="0">
                <a:solidFill>
                  <a:srgbClr val="C9D6E6"/>
                </a:solidFill>
              </a:rPr>
              <a:t>© 2026 Prof. Mazharul Islam · CC BY 4.0</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10058400" cy="457200"/>
          </a:xfrm>
          <a:prstGeom prst="rect">
            <a:avLst/>
          </a:prstGeom>
          <a:noFill/>
          <a:ln/>
        </p:spPr>
        <p:txBody>
          <a:bodyPr wrap="square" rtlCol="0"/>
          <a:lstStyle>
            <a:lvl1pPr indent="0" marL="0">
              <a:buNone/>
              <a:defRPr lang="en-US" sz="1800" b="1" dirty="0">
                <a:solidFill>
                  <a:srgbClr val="F2C14E"/>
                </a:solidFill>
              </a:defRPr>
            </a:lvl1pPr>
          </a:lstStyle>
          <a:p>
            <a:pPr indent="0" marL="0">
              <a:buNone/>
            </a:pPr>
            <a:endParaRPr lang="en-US" sz="1800" dirty="0"/>
          </a:p>
        </p:txBody>
      </p:sp>
      <p:sp>
        <p:nvSpPr>
          <p:cNvPr id="3" name="Text 0"/>
          <p:cNvSpPr/>
          <p:nvPr>
            <p:ph idx="101" type="title" hasCustomPrompt="1"/>
          </p:nvPr>
        </p:nvSpPr>
        <p:spPr>
          <a:xfrm>
            <a:off x="548640" y="2331720"/>
            <a:ext cx="1051560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3931920"/>
            <a:ext cx="10515600" cy="2011680"/>
          </a:xfrm>
          <a:prstGeom prst="rect">
            <a:avLst/>
          </a:prstGeom>
          <a:noFill/>
          <a:ln/>
        </p:spPr>
        <p:txBody>
          <a:bodyPr wrap="square" rtlCol="0"/>
          <a:lstStyle>
            <a:lvl1pPr indent="0" marL="0">
              <a:buNone/>
              <a:defRPr lang="en-US" sz="1800" dirty="0">
                <a:solidFill>
                  <a:srgbClr val="E3ECF7"/>
                </a:solidFill>
              </a:defRPr>
            </a:lvl1pPr>
          </a:lstStyle>
          <a:p>
            <a:pPr indent="0" marL="0">
              <a:buNone/>
            </a:pPr>
            <a:endParaRPr lang="en-US" sz="1800" dirty="0"/>
          </a:p>
        </p:txBody>
      </p:sp>
      <p:sp>
        <p:nvSpPr>
          <p:cNvPr id="5"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rgbClr val="D6E2F0"/>
                </a:solidFill>
              </a:rPr>
              <a:t>Module 10, Lesson 4 · Optimizing a surrogate is not finding the true optimum</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rtlCol="0"/>
          <a:lstStyle>
            <a:lvl1pPr indent="0" marL="0">
              <a:buNone/>
              <a:defRPr lang="en-US" sz="1400" b="1"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rtlCol="0"/>
          <a:lstStyle>
            <a:lvl1pPr algn="l" indent="0" marL="0">
              <a:buNone/>
              <a:defRPr lang="en-US" b="1" dirty="0">
                <a:solidFill>
                  <a:schemeClr val="tx2"/>
                </a:solidFill>
              </a:defRPr>
            </a:lvl1pPr>
          </a:lstStyle>
          <a:p>
            <a:pPr algn="l" indent="0" marL="0">
              <a:buNone/>
            </a:pPr>
            <a:endParaRPr lang="en-US" dirty="0"/>
          </a:p>
        </p:txBody>
      </p:sp>
      <p:sp>
        <p:nvSpPr>
          <p:cNvPr id="4" name="Text 0"/>
          <p:cNvSpPr/>
          <p:nvPr/>
        </p:nvSpPr>
        <p:spPr>
          <a:xfrm>
            <a:off x="548640" y="6400800"/>
            <a:ext cx="6583680" cy="274320"/>
          </a:xfrm>
          <a:prstGeom prst="rect">
            <a:avLst/>
          </a:prstGeom>
          <a:noFill/>
          <a:ln/>
        </p:spPr>
        <p:txBody>
          <a:bodyPr wrap="square" lIns="0" tIns="0" rIns="0" bIns="0" rtlCol="0" anchor="ctr"/>
          <a:lstStyle/>
          <a:p>
            <a:pPr indent="0" marL="0">
              <a:buNone/>
            </a:pPr>
            <a:r>
              <a:rPr lang="en-US" sz="1000" dirty="0">
                <a:solidFill>
                  <a:srgbClr val="5A6672"/>
                </a:solidFill>
              </a:rPr>
              <a:t>Module 10, Lesson 4 · Optimizing a surrogate is not finding the true optimum</a:t>
            </a:r>
            <a:endParaRPr lang="en-US" sz="1000" dirty="0"/>
          </a:p>
        </p:txBody>
      </p:sp>
      <p:sp>
        <p:nvSpPr>
          <p:cNvPr id="5" name="Text 1"/>
          <p:cNvSpPr/>
          <p:nvPr/>
        </p:nvSpPr>
        <p:spPr>
          <a:xfrm>
            <a:off x="7223760" y="6400800"/>
            <a:ext cx="3840480" cy="274320"/>
          </a:xfrm>
          <a:prstGeom prst="rect">
            <a:avLst/>
          </a:prstGeom>
          <a:noFill/>
          <a:ln/>
        </p:spPr>
        <p:txBody>
          <a:bodyPr wrap="square" lIns="0" tIns="0" rIns="0" bIns="0" rtlCol="0" anchor="ctr"/>
          <a:lstStyle/>
          <a:p>
            <a:pPr algn="r" indent="0" marL="0">
              <a:buNone/>
            </a:pPr>
            <a:r>
              <a:rPr lang="en-US" sz="1000" dirty="0">
                <a:solidFill>
                  <a:srgbClr val="5A6672"/>
                </a:solidFill>
              </a:rPr>
              <a:t>© 2026 Prof. Mazharul Islam · CC BY 4.0</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lIns="0" tIns="0" rIns="0" bIns="0" rtlCol="0"/>
          <a:lstStyle/>
          <a:p>
            <a:pPr indent="0" marL="0">
              <a:buNone/>
            </a:pPr>
            <a:r>
              <a:rPr lang="en-US" sz="1800" b="1" spc="200" kern="0" dirty="0">
                <a:solidFill>
                  <a:srgbClr val="F2C14E"/>
                </a:solidFill>
              </a:rPr>
              <a:t>MODULE 10 · LESSON 4 OF 4 · ≈ 8 MIN</a:t>
            </a: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rPr>
              <a:t>Optimizing a surrogate is not finding the true optimum</a:t>
            </a: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lIns="0" tIns="0" rIns="0" bIns="0" rtlCol="0" anchor="t"/>
          <a:lstStyle/>
          <a:p>
            <a:pPr indent="0" marL="0">
              <a:spcAft>
                <a:spcPts val="800"/>
              </a:spcAft>
              <a:buNone/>
            </a:pPr>
            <a:r>
              <a:rPr lang="en-US" sz="1800" b="1" dirty="0">
                <a:solidFill>
                  <a:srgbClr val="D6E2F0"/>
                </a:solidFill>
              </a:rPr>
              <a:t>Module 10: Optimization foundations</a:t>
            </a:r>
            <a:endParaRPr lang="en-US" sz="1800" dirty="0"/>
          </a:p>
          <a:p>
            <a:pPr marL="342900" indent="-342900">
              <a:buSzPct val="100000"/>
              <a:buChar char="•"/>
            </a:pPr>
            <a:r>
              <a:rPr lang="en-US" sz="1800" dirty="0">
                <a:solidFill>
                  <a:srgbClr val="D6E2F0"/>
                </a:solidFill>
              </a:rPr>
              <a:t>Two different minima</a:t>
            </a:r>
            <a:endParaRPr lang="en-US" sz="1800" dirty="0"/>
          </a:p>
        </p:txBody>
      </p:sp>
      <p:sp>
        <p:nvSpPr>
          <p:cNvPr id="5" name="lesson-number-ring"/>
          <p:cNvSpPr/>
          <p:nvPr/>
        </p:nvSpPr>
        <p:spPr>
          <a:xfrm>
            <a:off x="8732520" y="1417320"/>
            <a:ext cx="2926080" cy="2926080"/>
          </a:xfrm>
          <a:prstGeom prst="ellipse">
            <a:avLst/>
          </a:prstGeom>
          <a:solidFill>
            <a:schemeClr val="bg1">
              <a:alpha val="12000"/>
            </a:schemeClr>
          </a:solidFill>
          <a:ln w="38100">
            <a:solidFill>
              <a:srgbClr val="F2C14E"/>
            </a:solidFill>
            <a:prstDash val="solid"/>
          </a:ln>
        </p:spPr>
      </p:sp>
      <p:sp>
        <p:nvSpPr>
          <p:cNvPr id="6" name="lesson-number"/>
          <p:cNvSpPr txBox="1"/>
          <p:nvPr/>
        </p:nvSpPr>
        <p:spPr>
          <a:xfrm>
            <a:off x="8732520" y="1417320"/>
            <a:ext cx="2926080" cy="2926080"/>
          </a:xfrm>
          <a:prstGeom prst="rect">
            <a:avLst/>
          </a:prstGeom>
          <a:noFill/>
          <a:ln/>
        </p:spPr>
        <p:txBody>
          <a:bodyPr wrap="square" rtlCol="0" anchor="ctr"/>
          <a:lstStyle/>
          <a:p>
            <a:pPr algn="ctr" indent="0" marL="0">
              <a:buNone/>
            </a:pPr>
            <a:r>
              <a:rPr lang="en-US" sz="8000" b="1" dirty="0">
                <a:solidFill>
                  <a:schemeClr val="bg1"/>
                </a:solidFill>
              </a:rPr>
              <a:t>10.4</a:t>
            </a:r>
            <a:endParaRPr lang="en-US" sz="8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Optimizing a surrogate is not finding the true optimum · Intuition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Two different minima</a:t>
            </a:r>
            <a:endParaRPr lang="en-US" sz="3200" dirty="0"/>
          </a:p>
        </p:txBody>
      </p:sp>
      <p:sp>
        <p:nvSpPr>
          <p:cNvPr id="5" name="intuition-card"/>
          <p:cNvSpPr/>
          <p:nvPr/>
        </p:nvSpPr>
        <p:spPr>
          <a:xfrm>
            <a:off x="548640" y="1691640"/>
            <a:ext cx="5120640" cy="4480560"/>
          </a:xfrm>
          <a:prstGeom prst="roundRect">
            <a:avLst>
              <a:gd name="adj" fmla="val 2449"/>
            </a:avLst>
          </a:prstGeom>
          <a:solidFill>
            <a:schemeClr val="accent1">
              <a:alpha val="7000"/>
            </a:schemeClr>
          </a:solidFill>
          <a:ln w="12700">
            <a:solidFill>
              <a:schemeClr val="accent1">
                <a:alpha val="30000"/>
              </a:schemeClr>
            </a:solidFill>
            <a:prstDash val="solid"/>
          </a:ln>
        </p:spPr>
      </p:sp>
      <p:sp>
        <p:nvSpPr>
          <p:cNvPr id="6" name="icon-bg-intu"/>
          <p:cNvSpPr/>
          <p:nvPr/>
        </p:nvSpPr>
        <p:spPr>
          <a:xfrm>
            <a:off x="777240" y="1874520"/>
            <a:ext cx="502920" cy="502920"/>
          </a:xfrm>
          <a:prstGeom prst="ellipse">
            <a:avLst/>
          </a:prstGeom>
          <a:solidFill>
            <a:schemeClr val="accent1"/>
          </a:solidFill>
          <a:ln w="12700">
            <a:solidFill>
              <a:schemeClr val="accent1"/>
            </a:solidFill>
            <a:prstDash val="solid"/>
          </a:ln>
        </p:spPr>
      </p:sp>
      <p:pic>
        <p:nvPicPr>
          <p:cNvPr id="7" name="icon-intu" descr="preencoded.png">    </p:cNvPr>
          <p:cNvPicPr>
            <a:picLocks noChangeAspect="1"/>
          </p:cNvPicPr>
          <p:nvPr/>
        </p:nvPicPr>
        <p:blipFill>
          <a:blip r:embed="rId1"/>
          <a:stretch>
            <a:fillRect/>
          </a:stretch>
        </p:blipFill>
        <p:spPr>
          <a:xfrm>
            <a:off x="897941" y="1995221"/>
            <a:ext cx="261518" cy="261518"/>
          </a:xfrm>
          <a:prstGeom prst="rect">
            <a:avLst/>
          </a:prstGeom>
        </p:spPr>
      </p:pic>
      <p:sp>
        <p:nvSpPr>
          <p:cNvPr id="8" name="text"/>
          <p:cNvSpPr txBox="1"/>
          <p:nvPr/>
        </p:nvSpPr>
        <p:spPr>
          <a:xfrm>
            <a:off x="685800" y="2468880"/>
            <a:ext cx="4846320" cy="36118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An optimizer applied to a surrogate finds the minimum of the </a:t>
            </a:r>
            <a:pPr indent="0" marL="0">
              <a:spcAft>
                <a:spcPts val="600"/>
              </a:spcAft>
              <a:buNone/>
            </a:pPr>
            <a:r>
              <a:rPr lang="en-US" sz="2000" b="1" dirty="0">
                <a:solidFill>
                  <a:schemeClr val="tx1"/>
                </a:solidFill>
              </a:rPr>
              <a:t>surrogate</a:t>
            </a:r>
            <a:pPr indent="0" marL="0">
              <a:spcAft>
                <a:spcPts val="600"/>
              </a:spcAft>
              <a:buNone/>
            </a:pPr>
            <a:r>
              <a:rPr lang="en-US" sz="2000" dirty="0">
                <a:solidFill>
                  <a:schemeClr val="tx1"/>
                </a:solidFill>
              </a:rPr>
              <a:t>. If the surrogate is wrong near that point, the true performance there can be worse than predicted, and the true optimum may lie elsewhere. Only original-model evaluation tells you which.</a:t>
            </a:r>
            <a:endParaRPr lang="en-US" sz="2000" dirty="0"/>
          </a:p>
        </p:txBody>
      </p:sp>
      <p:pic>
        <p:nvPicPr>
          <p:cNvPr id="9" name="figure" descr="Plot of true R versus fin gap at t = 0.35 mm and a quadratic surrogate from a few samples. The surrogate minimum is marked; a vertical red segment connects its predicted value to the verified true value at the same design; a star marks the true minimum. Increasing samples moves the surrogate minimum closer.">    </p:cNvPr>
          <p:cNvPicPr>
            <a:picLocks noChangeAspect="1"/>
          </p:cNvPicPr>
          <p:nvPr/>
        </p:nvPicPr>
        <p:blipFill>
          <a:blip r:embed="rId2"/>
          <a:stretch>
            <a:fillRect/>
          </a:stretch>
        </p:blipFill>
        <p:spPr>
          <a:xfrm>
            <a:off x="5989320" y="1691640"/>
            <a:ext cx="5653735" cy="3011411"/>
          </a:xfrm>
          <a:prstGeom prst="rect">
            <a:avLst/>
          </a:prstGeom>
        </p:spPr>
      </p:pic>
      <p:sp>
        <p:nvSpPr>
          <p:cNvPr id="10" name="Text 5"/>
          <p:cNvSpPr txBox="1"/>
          <p:nvPr/>
        </p:nvSpPr>
        <p:spPr>
          <a:xfrm>
            <a:off x="5989320" y="4748771"/>
            <a:ext cx="5653735" cy="1469149"/>
          </a:xfrm>
          <a:prstGeom prst="rect">
            <a:avLst/>
          </a:prstGeom>
          <a:noFill/>
          <a:ln/>
        </p:spPr>
        <p:txBody>
          <a:bodyPr wrap="square" lIns="0" tIns="0" rIns="0" bIns="0" rtlCol="0" anchor="t"/>
          <a:lstStyle/>
          <a:p>
            <a:pPr indent="0" marL="0">
              <a:buNone/>
            </a:pPr>
            <a:r>
              <a:rPr lang="en-US" sz="1200" i="1" dirty="0">
                <a:solidFill>
                  <a:srgbClr val="46525F"/>
                </a:solidFill>
              </a:rPr>
              <a:t>A quadratic surrogate’s optimum (hollow) versus its verified value (red ×) and the true optimum (star) on a heat-sink slice. (Interactive in the online course.)</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Optimizing a surrogate is not finding the true optimum · The mathematics</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Two different minima</a:t>
            </a:r>
            <a:endParaRPr lang="en-US" sz="3200" dirty="0"/>
          </a:p>
        </p:txBody>
      </p:sp>
      <p:sp>
        <p:nvSpPr>
          <p:cNvPr id="5" name="icon-bg-math"/>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math"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math-card"/>
          <p:cNvSpPr/>
          <p:nvPr/>
        </p:nvSpPr>
        <p:spPr>
          <a:xfrm>
            <a:off x="1143000" y="1600200"/>
            <a:ext cx="10500055" cy="1615440"/>
          </a:xfrm>
          <a:prstGeom prst="roundRect">
            <a:avLst>
              <a:gd name="adj" fmla="val 6792"/>
            </a:avLst>
          </a:prstGeom>
          <a:solidFill>
            <a:schemeClr val="bg2"/>
          </a:solidFill>
          <a:ln w="12700">
            <a:solidFill>
              <a:schemeClr val="bg2">
                <a:alpha val="30000"/>
              </a:schemeClr>
            </a:solidFill>
            <a:prstDash val="solid"/>
          </a:ln>
        </p:spPr>
      </p:sp>
      <p:sp>
        <p:nvSpPr>
          <p:cNvPr id="8" name="math-text"/>
          <p:cNvSpPr txBox="1"/>
          <p:nvPr/>
        </p:nvSpPr>
        <p:spPr>
          <a:xfrm>
            <a:off x="1234440" y="1645920"/>
            <a:ext cx="10408615" cy="1524000"/>
          </a:xfrm>
          <a:prstGeom prst="rect">
            <a:avLst/>
          </a:prstGeom>
          <a:noFill/>
          <a:ln/>
        </p:spPr>
        <p:txBody>
          <a:bodyPr wrap="square" lIns="1270" tIns="1270" rIns="1270" bIns="1270" rtlCol="0" anchor="ctr"/>
          <a:lstStyle/>
          <a:p>
            <a:pPr algn="ctr" indent="0" marL="0">
              <a:spcAft>
                <a:spcPts val="800"/>
              </a:spcAft>
              <a:buNone/>
            </a:pPr>
            <a:r>
              <a:rPr lang="en-US" sz="2000" b="1" dirty="0">
                <a:solidFill>
                  <a:schemeClr val="tx1"/>
                </a:solidFill>
              </a:rPr>
              <a:t>x̂</a:t>
            </a:r>
            <a:pPr algn="ctr" indent="0" marL="0">
              <a:buNone/>
            </a:pPr>
            <a:r>
              <a:rPr lang="en-US" sz="2000" dirty="0">
                <a:solidFill>
                  <a:schemeClr val="tx1"/>
                </a:solidFill>
              </a:rPr>
              <a:t>* = arg min </a:t>
            </a:r>
            <a:pPr algn="ctr" indent="0" marL="0">
              <a:buNone/>
            </a:pPr>
            <a:r>
              <a:rPr lang="en-US" sz="2000" i="1" dirty="0">
                <a:solidFill>
                  <a:schemeClr val="tx1"/>
                </a:solidFill>
              </a:rPr>
              <a:t>f̂</a:t>
            </a:r>
            <a:pPr algn="ctr" indent="0" marL="0">
              <a:buNone/>
            </a:pPr>
            <a:r>
              <a:rPr lang="en-US" sz="2000" dirty="0">
                <a:solidFill>
                  <a:schemeClr val="tx1"/>
                </a:solidFill>
              </a:rPr>
              <a:t>(</a:t>
            </a:r>
            <a:pPr algn="ctr" indent="0" marL="0">
              <a:buNone/>
            </a:pPr>
            <a:r>
              <a:rPr lang="en-US" sz="2000" b="1" dirty="0">
                <a:solidFill>
                  <a:schemeClr val="tx1"/>
                </a:solidFill>
              </a:rPr>
              <a:t>x</a:t>
            </a:r>
            <a:pPr algn="ctr" indent="0" marL="0">
              <a:buNone/>
            </a:pPr>
            <a:r>
              <a:rPr lang="en-US" sz="2000" dirty="0">
                <a:solidFill>
                  <a:schemeClr val="tx1"/>
                </a:solidFill>
              </a:rPr>
              <a:t>), prediction error at candidate: </a:t>
            </a:r>
            <a:pPr algn="ctr" indent="0" marL="0">
              <a:buNone/>
            </a:pPr>
            <a:r>
              <a:rPr lang="en-US" sz="2000" i="1" dirty="0">
                <a:solidFill>
                  <a:schemeClr val="tx1"/>
                </a:solidFill>
              </a:rPr>
              <a:t>f̂</a:t>
            </a:r>
            <a:pPr algn="ctr" indent="0" marL="0">
              <a:buNone/>
            </a:pPr>
            <a:r>
              <a:rPr lang="en-US" sz="2000" dirty="0">
                <a:solidFill>
                  <a:schemeClr val="tx1"/>
                </a:solidFill>
              </a:rPr>
              <a:t>(</a:t>
            </a:r>
            <a:pPr algn="ctr" indent="0" marL="0">
              <a:buNone/>
            </a:pPr>
            <a:r>
              <a:rPr lang="en-US" sz="2000" b="1" dirty="0">
                <a:solidFill>
                  <a:schemeClr val="tx1"/>
                </a:solidFill>
              </a:rPr>
              <a:t>x̂</a:t>
            </a:r>
            <a:pPr algn="ctr" indent="0" marL="0">
              <a:buNone/>
            </a:pPr>
            <a:r>
              <a:rPr lang="en-US" sz="2000" dirty="0">
                <a:solidFill>
                  <a:schemeClr val="tx1"/>
                </a:solidFill>
              </a:rPr>
              <a:t>*) − </a:t>
            </a:r>
            <a:pPr algn="ctr" indent="0" marL="0">
              <a:buNone/>
            </a:pPr>
            <a:r>
              <a:rPr lang="en-US" sz="2000" i="1" dirty="0">
                <a:solidFill>
                  <a:schemeClr val="tx1"/>
                </a:solidFill>
              </a:rPr>
              <a:t>f</a:t>
            </a:r>
            <a:pPr algn="ctr" indent="0" marL="0">
              <a:buNone/>
            </a:pPr>
            <a:r>
              <a:rPr lang="en-US" sz="2000" dirty="0">
                <a:solidFill>
                  <a:schemeClr val="tx1"/>
                </a:solidFill>
              </a:rPr>
              <a:t>(</a:t>
            </a:r>
            <a:pPr algn="ctr" indent="0" marL="0">
              <a:buNone/>
            </a:pPr>
            <a:r>
              <a:rPr lang="en-US" sz="2000" b="1" dirty="0">
                <a:solidFill>
                  <a:schemeClr val="tx1"/>
                </a:solidFill>
              </a:rPr>
              <a:t>x̂</a:t>
            </a:r>
            <a:pPr algn="ctr" indent="0" marL="0">
              <a:buNone/>
            </a:pPr>
            <a:r>
              <a:rPr lang="en-US" sz="2000" dirty="0">
                <a:solidFill>
                  <a:schemeClr val="tx1"/>
                </a:solidFill>
              </a:rPr>
              <a:t>*), optimality gap: </a:t>
            </a:r>
            <a:pPr algn="ctr" indent="0" marL="0">
              <a:buNone/>
            </a:pPr>
            <a:r>
              <a:rPr lang="en-US" sz="2000" i="1" dirty="0">
                <a:solidFill>
                  <a:schemeClr val="tx1"/>
                </a:solidFill>
              </a:rPr>
              <a:t>f</a:t>
            </a:r>
            <a:pPr algn="ctr" indent="0" marL="0">
              <a:buNone/>
            </a:pPr>
            <a:r>
              <a:rPr lang="en-US" sz="2000" dirty="0">
                <a:solidFill>
                  <a:schemeClr val="tx1"/>
                </a:solidFill>
              </a:rPr>
              <a:t>(</a:t>
            </a:r>
            <a:pPr algn="ctr" indent="0" marL="0">
              <a:buNone/>
            </a:pPr>
            <a:r>
              <a:rPr lang="en-US" sz="2000" b="1" dirty="0">
                <a:solidFill>
                  <a:schemeClr val="tx1"/>
                </a:solidFill>
              </a:rPr>
              <a:t>x̂</a:t>
            </a:r>
            <a:pPr algn="ctr" indent="0" marL="0">
              <a:buNone/>
            </a:pPr>
            <a:r>
              <a:rPr lang="en-US" sz="2000" dirty="0">
                <a:solidFill>
                  <a:schemeClr val="tx1"/>
                </a:solidFill>
              </a:rPr>
              <a:t>*) − </a:t>
            </a:r>
            <a:pPr algn="ctr" indent="0" marL="0">
              <a:buNone/>
            </a:pPr>
            <a:r>
              <a:rPr lang="en-US" sz="2000" i="1" dirty="0">
                <a:solidFill>
                  <a:schemeClr val="tx1"/>
                </a:solidFill>
              </a:rPr>
              <a:t>f</a:t>
            </a:r>
            <a:pPr algn="ctr" indent="0" marL="0">
              <a:buNone/>
            </a:pPr>
            <a:r>
              <a:rPr lang="en-US" sz="2000" dirty="0">
                <a:solidFill>
                  <a:schemeClr val="tx1"/>
                </a:solidFill>
              </a:rPr>
              <a:t>(</a:t>
            </a:r>
            <a:pPr algn="ctr" indent="0" marL="0">
              <a:buNone/>
            </a:pPr>
            <a:r>
              <a:rPr lang="en-US" sz="2000" b="1" dirty="0">
                <a:solidFill>
                  <a:schemeClr val="tx1"/>
                </a:solidFill>
              </a:rPr>
              <a:t>x</a:t>
            </a:r>
            <a:pPr algn="ctr" indent="0" marL="0">
              <a:buNone/>
            </a:pPr>
            <a:r>
              <a:rPr lang="en-US" sz="2000" dirty="0">
                <a:solidFill>
                  <a:schemeClr val="tx1"/>
                </a:solidFill>
              </a:rPr>
              <a:t>*)</a:t>
            </a:r>
            <a:endParaRPr lang="en-US" sz="2000" dirty="0"/>
          </a:p>
          <a:p>
            <a:pPr indent="0" marL="0">
              <a:buNone/>
            </a:pPr>
            <a:r>
              <a:rPr lang="en-US" sz="2000" dirty="0">
                <a:solidFill>
                  <a:schemeClr val="tx1"/>
                </a:solidFill>
              </a:rPr>
              <a:t>Because the optimizer specifically seeks low predictions, </a:t>
            </a:r>
            <a:pPr indent="0" marL="0">
              <a:buNone/>
            </a:pPr>
            <a:r>
              <a:rPr lang="en-US" sz="2000" i="1" dirty="0">
                <a:solidFill>
                  <a:schemeClr val="tx1"/>
                </a:solidFill>
              </a:rPr>
              <a:t>f̂</a:t>
            </a:r>
            <a:pPr indent="0" marL="0">
              <a:buNone/>
            </a:pPr>
            <a:r>
              <a:rPr lang="en-US" sz="2000" dirty="0">
                <a:solidFill>
                  <a:schemeClr val="tx1"/>
                </a:solidFill>
              </a:rPr>
              <a:t>(</a:t>
            </a:r>
            <a:pPr indent="0" marL="0">
              <a:buNone/>
            </a:pPr>
            <a:r>
              <a:rPr lang="en-US" sz="2000" b="1" dirty="0">
                <a:solidFill>
                  <a:schemeClr val="tx1"/>
                </a:solidFill>
              </a:rPr>
              <a:t>x̂</a:t>
            </a:r>
            <a:pPr indent="0" marL="0">
              <a:buNone/>
            </a:pPr>
            <a:r>
              <a:rPr lang="en-US" sz="2000" dirty="0">
                <a:solidFill>
                  <a:schemeClr val="tx1"/>
                </a:solidFill>
              </a:rPr>
              <a:t>*) tends to be </a:t>
            </a:r>
            <a:pPr indent="0" marL="0">
              <a:buNone/>
            </a:pPr>
            <a:r>
              <a:rPr lang="en-US" sz="2000" b="1" dirty="0">
                <a:solidFill>
                  <a:schemeClr val="tx1"/>
                </a:solidFill>
              </a:rPr>
              <a:t>optimistic</a:t>
            </a:r>
            <a:pPr indent="0" marL="0">
              <a:buNone/>
            </a:pPr>
            <a:r>
              <a:rPr lang="en-US" sz="2000" dirty="0">
                <a:solidFill>
                  <a:schemeClr val="tx1"/>
                </a:solidFill>
              </a:rPr>
              <a:t> (biased low for minimization) — a selection effect.</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Optimizing a surrogate is not finding the true optimum · In engineering practice</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Two different minima</a:t>
            </a:r>
            <a:endParaRPr lang="en-US" sz="3200" dirty="0"/>
          </a:p>
        </p:txBody>
      </p:sp>
      <p:sp>
        <p:nvSpPr>
          <p:cNvPr id="5" name="Engineering application"/>
          <p:cNvSpPr/>
          <p:nvPr/>
        </p:nvSpPr>
        <p:spPr>
          <a:xfrm>
            <a:off x="548640" y="1691640"/>
            <a:ext cx="5364328" cy="4480560"/>
          </a:xfrm>
          <a:prstGeom prst="roundRect">
            <a:avLst>
              <a:gd name="adj" fmla="val 2449"/>
            </a:avLst>
          </a:prstGeom>
          <a:solidFill>
            <a:schemeClr val="accent3">
              <a:alpha val="10000"/>
            </a:schemeClr>
          </a:solidFill>
          <a:ln w="12700">
            <a:solidFill>
              <a:schemeClr val="accent3">
                <a:alpha val="30000"/>
              </a:schemeClr>
            </a:solidFill>
            <a:prstDash val="solid"/>
          </a:ln>
        </p:spPr>
      </p:sp>
      <p:sp>
        <p:nvSpPr>
          <p:cNvPr id="6" name="icon-bg-app"/>
          <p:cNvSpPr/>
          <p:nvPr/>
        </p:nvSpPr>
        <p:spPr>
          <a:xfrm>
            <a:off x="822960" y="1920240"/>
            <a:ext cx="566928" cy="566928"/>
          </a:xfrm>
          <a:prstGeom prst="ellipse">
            <a:avLst/>
          </a:prstGeom>
          <a:solidFill>
            <a:schemeClr val="accent3"/>
          </a:solidFill>
          <a:ln w="12700">
            <a:solidFill>
              <a:schemeClr val="accent3"/>
            </a:solidFill>
            <a:prstDash val="solid"/>
          </a:ln>
        </p:spPr>
      </p:sp>
      <p:pic>
        <p:nvPicPr>
          <p:cNvPr id="7" name="icon-app" descr="preencoded.png">    </p:cNvPr>
          <p:cNvPicPr>
            <a:picLocks noChangeAspect="1"/>
          </p:cNvPicPr>
          <p:nvPr/>
        </p:nvPicPr>
        <p:blipFill>
          <a:blip r:embed="rId1"/>
          <a:stretch>
            <a:fillRect/>
          </a:stretch>
        </p:blipFill>
        <p:spPr>
          <a:xfrm>
            <a:off x="959023" y="2056303"/>
            <a:ext cx="294803" cy="294803"/>
          </a:xfrm>
          <a:prstGeom prst="rect">
            <a:avLst/>
          </a:prstGeom>
        </p:spPr>
      </p:pic>
      <p:sp>
        <p:nvSpPr>
          <p:cNvPr id="8" name="Text 4"/>
          <p:cNvSpPr txBox="1"/>
          <p:nvPr/>
        </p:nvSpPr>
        <p:spPr>
          <a:xfrm>
            <a:off x="1508760"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Engineering application</a:t>
            </a:r>
            <a:endParaRPr lang="en-US" sz="2000" dirty="0"/>
          </a:p>
        </p:txBody>
      </p:sp>
      <p:sp>
        <p:nvSpPr>
          <p:cNvPr id="9" name="text"/>
          <p:cNvSpPr txBox="1"/>
          <p:nvPr/>
        </p:nvSpPr>
        <p:spPr>
          <a:xfrm>
            <a:off x="777240"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In the heat sink the true constrained optimum is known only because the model is cheap — in practice you never know </a:t>
            </a:r>
            <a:pPr indent="0" marL="0">
              <a:spcAft>
                <a:spcPts val="600"/>
              </a:spcAft>
              <a:buNone/>
            </a:pPr>
            <a:r>
              <a:rPr lang="en-US" sz="2000" i="1" dirty="0">
                <a:solidFill>
                  <a:schemeClr val="tx1"/>
                </a:solidFill>
              </a:rPr>
              <a:t>f</a:t>
            </a:r>
            <a:pPr indent="0" marL="0">
              <a:spcAft>
                <a:spcPts val="600"/>
              </a:spcAft>
              <a:buNone/>
            </a:pPr>
            <a:r>
              <a:rPr lang="en-US" sz="2000" dirty="0">
                <a:solidFill>
                  <a:schemeClr val="tx1"/>
                </a:solidFill>
              </a:rPr>
              <a:t>(</a:t>
            </a:r>
            <a:pPr indent="0" marL="0">
              <a:spcAft>
                <a:spcPts val="600"/>
              </a:spcAft>
              <a:buNone/>
            </a:pPr>
            <a:r>
              <a:rPr lang="en-US" sz="2000" b="1" dirty="0">
                <a:solidFill>
                  <a:schemeClr val="tx1"/>
                </a:solidFill>
              </a:rPr>
              <a:t>x</a:t>
            </a:r>
            <a:pPr indent="0" marL="0">
              <a:spcAft>
                <a:spcPts val="600"/>
              </a:spcAft>
              <a:buNone/>
            </a:pPr>
            <a:r>
              <a:rPr lang="en-US" sz="2000" dirty="0">
                <a:solidFill>
                  <a:schemeClr val="tx1"/>
                </a:solidFill>
              </a:rPr>
              <a:t>*); you know only verified values at the designs you evaluated.</a:t>
            </a:r>
            <a:endParaRPr lang="en-US" sz="2000" dirty="0"/>
          </a:p>
        </p:txBody>
      </p:sp>
      <p:sp>
        <p:nvSpPr>
          <p:cNvPr id="10" name="Practical tip"/>
          <p:cNvSpPr/>
          <p:nvPr/>
        </p:nvSpPr>
        <p:spPr>
          <a:xfrm>
            <a:off x="6278728" y="1691640"/>
            <a:ext cx="5364328" cy="4480560"/>
          </a:xfrm>
          <a:prstGeom prst="roundRect">
            <a:avLst>
              <a:gd name="adj" fmla="val 2449"/>
            </a:avLst>
          </a:prstGeom>
          <a:solidFill>
            <a:schemeClr val="accent4">
              <a:alpha val="10000"/>
            </a:schemeClr>
          </a:solidFill>
          <a:ln w="12700">
            <a:solidFill>
              <a:schemeClr val="accent4">
                <a:alpha val="30000"/>
              </a:schemeClr>
            </a:solidFill>
            <a:prstDash val="solid"/>
          </a:ln>
        </p:spPr>
      </p:sp>
      <p:sp>
        <p:nvSpPr>
          <p:cNvPr id="11" name="icon-bg-tip"/>
          <p:cNvSpPr/>
          <p:nvPr/>
        </p:nvSpPr>
        <p:spPr>
          <a:xfrm>
            <a:off x="6553048" y="1920240"/>
            <a:ext cx="566928" cy="566928"/>
          </a:xfrm>
          <a:prstGeom prst="ellipse">
            <a:avLst/>
          </a:prstGeom>
          <a:solidFill>
            <a:schemeClr val="accent4"/>
          </a:solidFill>
          <a:ln w="12700">
            <a:solidFill>
              <a:schemeClr val="accent4"/>
            </a:solidFill>
            <a:prstDash val="solid"/>
          </a:ln>
        </p:spPr>
      </p:sp>
      <p:pic>
        <p:nvPicPr>
          <p:cNvPr id="12" name="icon-tip" descr="preencoded.png">    </p:cNvPr>
          <p:cNvPicPr>
            <a:picLocks noChangeAspect="1"/>
          </p:cNvPicPr>
          <p:nvPr/>
        </p:nvPicPr>
        <p:blipFill>
          <a:blip r:embed="rId2"/>
          <a:stretch>
            <a:fillRect/>
          </a:stretch>
        </p:blipFill>
        <p:spPr>
          <a:xfrm>
            <a:off x="6689110" y="2056303"/>
            <a:ext cx="294803" cy="294803"/>
          </a:xfrm>
          <a:prstGeom prst="rect">
            <a:avLst/>
          </a:prstGeom>
        </p:spPr>
      </p:pic>
      <p:sp>
        <p:nvSpPr>
          <p:cNvPr id="13" name="Text 8"/>
          <p:cNvSpPr txBox="1"/>
          <p:nvPr/>
        </p:nvSpPr>
        <p:spPr>
          <a:xfrm>
            <a:off x="7238848"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Practical tip</a:t>
            </a:r>
            <a:endParaRPr lang="en-US" sz="2000" dirty="0"/>
          </a:p>
        </p:txBody>
      </p:sp>
      <p:sp>
        <p:nvSpPr>
          <p:cNvPr id="14" name="text"/>
          <p:cNvSpPr txBox="1"/>
          <p:nvPr/>
        </p:nvSpPr>
        <p:spPr>
          <a:xfrm>
            <a:off x="6507328"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Report predicted and verified objective and constraint values side by side for every candidate.</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Optimizing a surrogate is not finding the true optimum · Predict before you look</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Pause and predict</a:t>
            </a:r>
            <a:endParaRPr lang="en-US" sz="3200" dirty="0"/>
          </a:p>
        </p:txBody>
      </p:sp>
      <p:sp>
        <p:nvSpPr>
          <p:cNvPr id="5" name="question-card"/>
          <p:cNvSpPr/>
          <p:nvPr/>
        </p:nvSpPr>
        <p:spPr>
          <a:xfrm>
            <a:off x="548640" y="1737360"/>
            <a:ext cx="11094415" cy="3291840"/>
          </a:xfrm>
          <a:prstGeom prst="roundRect">
            <a:avLst>
              <a:gd name="adj" fmla="val 3333"/>
            </a:avLst>
          </a:prstGeom>
          <a:solidFill>
            <a:schemeClr val="accent2">
              <a:alpha val="9000"/>
            </a:schemeClr>
          </a:solidFill>
          <a:ln w="12700">
            <a:solidFill>
              <a:schemeClr val="accent2">
                <a:alpha val="30000"/>
              </a:schemeClr>
            </a:solidFill>
            <a:prstDash val="solid"/>
          </a:ln>
        </p:spPr>
      </p:sp>
      <p:sp>
        <p:nvSpPr>
          <p:cNvPr id="6" name="icon-bg-predict"/>
          <p:cNvSpPr/>
          <p:nvPr/>
        </p:nvSpPr>
        <p:spPr>
          <a:xfrm>
            <a:off x="868680" y="2011680"/>
            <a:ext cx="731520" cy="731520"/>
          </a:xfrm>
          <a:prstGeom prst="ellipse">
            <a:avLst/>
          </a:prstGeom>
          <a:solidFill>
            <a:schemeClr val="accent2"/>
          </a:solidFill>
          <a:ln w="12700">
            <a:solidFill>
              <a:schemeClr val="accent2"/>
            </a:solidFill>
            <a:prstDash val="solid"/>
          </a:ln>
        </p:spPr>
      </p:sp>
      <p:pic>
        <p:nvPicPr>
          <p:cNvPr id="7" name="icon-predict" descr="preencoded.png">    </p:cNvPr>
          <p:cNvPicPr>
            <a:picLocks noChangeAspect="1"/>
          </p:cNvPicPr>
          <p:nvPr/>
        </p:nvPicPr>
        <p:blipFill>
          <a:blip r:embed="rId1"/>
          <a:stretch>
            <a:fillRect/>
          </a:stretch>
        </p:blipFill>
        <p:spPr>
          <a:xfrm>
            <a:off x="1044245" y="2187245"/>
            <a:ext cx="380390" cy="380390"/>
          </a:xfrm>
          <a:prstGeom prst="rect">
            <a:avLst/>
          </a:prstGeom>
        </p:spPr>
      </p:pic>
      <p:sp>
        <p:nvSpPr>
          <p:cNvPr id="8" name="text"/>
          <p:cNvSpPr txBox="1"/>
          <p:nvPr/>
        </p:nvSpPr>
        <p:spPr>
          <a:xfrm>
            <a:off x="1874520" y="1965960"/>
            <a:ext cx="9448495" cy="2834640"/>
          </a:xfrm>
          <a:prstGeom prst="rect">
            <a:avLst/>
          </a:prstGeom>
          <a:noFill/>
          <a:ln/>
        </p:spPr>
        <p:txBody>
          <a:bodyPr wrap="square" lIns="1270" tIns="1270" rIns="1270" bIns="1270" rtlCol="0" anchor="ctr"/>
          <a:lstStyle/>
          <a:p>
            <a:pPr indent="0" marL="0">
              <a:spcAft>
                <a:spcPts val="600"/>
              </a:spcAft>
              <a:buNone/>
            </a:pPr>
            <a:r>
              <a:rPr lang="en-US" sz="2800" dirty="0">
                <a:solidFill>
                  <a:schemeClr val="tx1"/>
                </a:solidFill>
              </a:rPr>
              <a:t>Why is the predicted value at the surrogate optimum more likely to be too low than too high?</a:t>
            </a:r>
            <a:endParaRPr lang="en-US" sz="2800" dirty="0"/>
          </a:p>
        </p:txBody>
      </p:sp>
      <p:sp>
        <p:nvSpPr>
          <p:cNvPr id="9" name="Text 5"/>
          <p:cNvSpPr txBox="1"/>
          <p:nvPr/>
        </p:nvSpPr>
        <p:spPr>
          <a:xfrm>
            <a:off x="548640" y="5303520"/>
            <a:ext cx="11094415" cy="457200"/>
          </a:xfrm>
          <a:prstGeom prst="rect">
            <a:avLst/>
          </a:prstGeom>
          <a:noFill/>
          <a:ln/>
        </p:spPr>
        <p:txBody>
          <a:bodyPr wrap="square" lIns="0" tIns="0" rIns="0" bIns="0" rtlCol="0" anchor="ctr"/>
          <a:lstStyle/>
          <a:p>
            <a:pPr indent="0" marL="0">
              <a:buNone/>
            </a:pPr>
            <a:r>
              <a:rPr lang="en-US" sz="1600" i="1" dirty="0">
                <a:solidFill>
                  <a:srgbClr val="46525F"/>
                </a:solidFill>
              </a:rPr>
              <a:t>Write down your answer, then continue to the next slide.</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Optimizing a surrogate is not finding the true optimum · Answer</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What happens, and why</a:t>
            </a:r>
            <a:endParaRPr lang="en-US" sz="3200" dirty="0"/>
          </a:p>
        </p:txBody>
      </p:sp>
      <p:sp>
        <p:nvSpPr>
          <p:cNvPr id="5" name="Text 2"/>
          <p:cNvSpPr txBox="1"/>
          <p:nvPr/>
        </p:nvSpPr>
        <p:spPr>
          <a:xfrm>
            <a:off x="548640" y="1600200"/>
            <a:ext cx="11094415" cy="868680"/>
          </a:xfrm>
          <a:prstGeom prst="rect">
            <a:avLst/>
          </a:prstGeom>
          <a:noFill/>
          <a:ln/>
        </p:spPr>
        <p:txBody>
          <a:bodyPr wrap="square" lIns="0" tIns="0" rIns="0" bIns="0" rtlCol="0" anchor="t"/>
          <a:lstStyle/>
          <a:p>
            <a:pPr indent="0" marL="0">
              <a:buNone/>
            </a:pPr>
            <a:r>
              <a:rPr lang="en-US" sz="1400" b="1" dirty="0">
                <a:solidFill>
                  <a:srgbClr val="46525F"/>
                </a:solidFill>
              </a:rPr>
              <a:t>Question: </a:t>
            </a:r>
            <a:pPr indent="0" marL="0">
              <a:buNone/>
            </a:pPr>
            <a:r>
              <a:rPr lang="en-US" sz="1400" dirty="0">
                <a:solidFill>
                  <a:srgbClr val="46525F"/>
                </a:solidFill>
              </a:rPr>
              <a:t>Why is the predicted value at the surrogate optimum more likely to be too low than too high?</a:t>
            </a:r>
            <a:endParaRPr lang="en-US" sz="1400" dirty="0"/>
          </a:p>
        </p:txBody>
      </p:sp>
      <p:sp>
        <p:nvSpPr>
          <p:cNvPr id="6" name="answer-card"/>
          <p:cNvSpPr/>
          <p:nvPr/>
        </p:nvSpPr>
        <p:spPr>
          <a:xfrm>
            <a:off x="548640" y="2606040"/>
            <a:ext cx="11094415" cy="3566160"/>
          </a:xfrm>
          <a:prstGeom prst="roundRect">
            <a:avLst>
              <a:gd name="adj" fmla="val 3077"/>
            </a:avLst>
          </a:prstGeom>
          <a:solidFill>
            <a:schemeClr val="accent3">
              <a:alpha val="10000"/>
            </a:schemeClr>
          </a:solidFill>
          <a:ln w="12700">
            <a:solidFill>
              <a:schemeClr val="accent3">
                <a:alpha val="30000"/>
              </a:schemeClr>
            </a:solidFill>
            <a:prstDash val="solid"/>
          </a:ln>
        </p:spPr>
      </p:sp>
      <p:sp>
        <p:nvSpPr>
          <p:cNvPr id="7" name="icon-bg-answer"/>
          <p:cNvSpPr/>
          <p:nvPr/>
        </p:nvSpPr>
        <p:spPr>
          <a:xfrm>
            <a:off x="868680" y="2880360"/>
            <a:ext cx="731520" cy="731520"/>
          </a:xfrm>
          <a:prstGeom prst="ellipse">
            <a:avLst/>
          </a:prstGeom>
          <a:solidFill>
            <a:schemeClr val="accent3"/>
          </a:solidFill>
          <a:ln w="12700">
            <a:solidFill>
              <a:schemeClr val="accent3"/>
            </a:solidFill>
            <a:prstDash val="solid"/>
          </a:ln>
        </p:spPr>
      </p:sp>
      <p:pic>
        <p:nvPicPr>
          <p:cNvPr id="8" name="icon-answer" descr="preencoded.png">    </p:cNvPr>
          <p:cNvPicPr>
            <a:picLocks noChangeAspect="1"/>
          </p:cNvPicPr>
          <p:nvPr/>
        </p:nvPicPr>
        <p:blipFill>
          <a:blip r:embed="rId1"/>
          <a:stretch>
            <a:fillRect/>
          </a:stretch>
        </p:blipFill>
        <p:spPr>
          <a:xfrm>
            <a:off x="1044245" y="3055925"/>
            <a:ext cx="380390" cy="380390"/>
          </a:xfrm>
          <a:prstGeom prst="rect">
            <a:avLst/>
          </a:prstGeom>
        </p:spPr>
      </p:pic>
      <p:sp>
        <p:nvSpPr>
          <p:cNvPr id="9" name="text"/>
          <p:cNvSpPr txBox="1"/>
          <p:nvPr/>
        </p:nvSpPr>
        <p:spPr>
          <a:xfrm>
            <a:off x="1874520" y="2788920"/>
            <a:ext cx="9448495" cy="3200400"/>
          </a:xfrm>
          <a:prstGeom prst="rect">
            <a:avLst/>
          </a:prstGeom>
          <a:noFill/>
          <a:ln/>
        </p:spPr>
        <p:txBody>
          <a:bodyPr wrap="square" lIns="1270" tIns="1270" rIns="1270" bIns="1270" rtlCol="0" anchor="ctr"/>
          <a:lstStyle/>
          <a:p>
            <a:pPr indent="0" marL="0">
              <a:spcAft>
                <a:spcPts val="600"/>
              </a:spcAft>
              <a:buNone/>
            </a:pPr>
            <a:r>
              <a:rPr lang="en-US" sz="2600" dirty="0">
                <a:solidFill>
                  <a:schemeClr val="tx1"/>
                </a:solidFill>
              </a:rPr>
              <a:t>The optimizer searches for the lowest prediction; points where the surrogate happens to under-predict are favoured, so errors at the chosen point skew optimistic.</a:t>
            </a:r>
            <a:endParaRPr lang="en-US" sz="2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Optimizing a surrogate is not finding the true optimum · Common misconception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Two different minima</a:t>
            </a:r>
            <a:endParaRPr lang="en-US" sz="3200" dirty="0"/>
          </a:p>
        </p:txBody>
      </p:sp>
      <p:sp>
        <p:nvSpPr>
          <p:cNvPr id="5" name="Misconception"/>
          <p:cNvSpPr/>
          <p:nvPr/>
        </p:nvSpPr>
        <p:spPr>
          <a:xfrm>
            <a:off x="548640" y="1691640"/>
            <a:ext cx="5364328" cy="2971800"/>
          </a:xfrm>
          <a:prstGeom prst="roundRect">
            <a:avLst>
              <a:gd name="adj" fmla="val 3692"/>
            </a:avLst>
          </a:prstGeom>
          <a:solidFill>
            <a:schemeClr val="accent6">
              <a:alpha val="9000"/>
            </a:schemeClr>
          </a:solidFill>
          <a:ln w="12700">
            <a:solidFill>
              <a:schemeClr val="accent6">
                <a:alpha val="30000"/>
              </a:schemeClr>
            </a:solidFill>
            <a:prstDash val="solid"/>
          </a:ln>
        </p:spPr>
      </p:sp>
      <p:sp>
        <p:nvSpPr>
          <p:cNvPr id="6" name="icon-bg-mis"/>
          <p:cNvSpPr/>
          <p:nvPr/>
        </p:nvSpPr>
        <p:spPr>
          <a:xfrm>
            <a:off x="822960" y="1874520"/>
            <a:ext cx="548640" cy="548640"/>
          </a:xfrm>
          <a:prstGeom prst="ellipse">
            <a:avLst/>
          </a:prstGeom>
          <a:solidFill>
            <a:schemeClr val="accent6"/>
          </a:solidFill>
          <a:ln w="12700">
            <a:solidFill>
              <a:schemeClr val="accent6"/>
            </a:solidFill>
            <a:prstDash val="solid"/>
          </a:ln>
        </p:spPr>
      </p:sp>
      <p:pic>
        <p:nvPicPr>
          <p:cNvPr id="7" name="icon-mis" descr="preencoded.png">    </p:cNvPr>
          <p:cNvPicPr>
            <a:picLocks noChangeAspect="1"/>
          </p:cNvPicPr>
          <p:nvPr/>
        </p:nvPicPr>
        <p:blipFill>
          <a:blip r:embed="rId1"/>
          <a:stretch>
            <a:fillRect/>
          </a:stretch>
        </p:blipFill>
        <p:spPr>
          <a:xfrm>
            <a:off x="954634" y="2006194"/>
            <a:ext cx="285293" cy="285293"/>
          </a:xfrm>
          <a:prstGeom prst="rect">
            <a:avLst/>
          </a:prstGeom>
        </p:spPr>
      </p:pic>
      <p:sp>
        <p:nvSpPr>
          <p:cNvPr id="8" name="Text 4"/>
          <p:cNvSpPr txBox="1"/>
          <p:nvPr/>
        </p:nvSpPr>
        <p:spPr>
          <a:xfrm>
            <a:off x="1508760"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Misconception</a:t>
            </a:r>
            <a:endParaRPr lang="en-US" sz="2000" dirty="0"/>
          </a:p>
        </p:txBody>
      </p:sp>
      <p:sp>
        <p:nvSpPr>
          <p:cNvPr id="9" name="text"/>
          <p:cNvSpPr txBox="1"/>
          <p:nvPr/>
        </p:nvSpPr>
        <p:spPr>
          <a:xfrm>
            <a:off x="777240"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If the surrogate optimum is feasible according to the surrogate, it is feasible.</a:t>
            </a:r>
            <a:endParaRPr lang="en-US" sz="2000" dirty="0"/>
          </a:p>
        </p:txBody>
      </p:sp>
      <p:sp>
        <p:nvSpPr>
          <p:cNvPr id="10" name="What is actually true"/>
          <p:cNvSpPr/>
          <p:nvPr/>
        </p:nvSpPr>
        <p:spPr>
          <a:xfrm>
            <a:off x="6278728" y="1691640"/>
            <a:ext cx="5364328" cy="2971800"/>
          </a:xfrm>
          <a:prstGeom prst="roundRect">
            <a:avLst>
              <a:gd name="adj" fmla="val 3692"/>
            </a:avLst>
          </a:prstGeom>
          <a:solidFill>
            <a:schemeClr val="accent3">
              <a:alpha val="9000"/>
            </a:schemeClr>
          </a:solidFill>
          <a:ln w="12700">
            <a:solidFill>
              <a:schemeClr val="accent3">
                <a:alpha val="30000"/>
              </a:schemeClr>
            </a:solidFill>
            <a:prstDash val="solid"/>
          </a:ln>
        </p:spPr>
      </p:sp>
      <p:sp>
        <p:nvSpPr>
          <p:cNvPr id="11" name="icon-bg-cor"/>
          <p:cNvSpPr/>
          <p:nvPr/>
        </p:nvSpPr>
        <p:spPr>
          <a:xfrm>
            <a:off x="6553048" y="1874520"/>
            <a:ext cx="548640" cy="548640"/>
          </a:xfrm>
          <a:prstGeom prst="ellipse">
            <a:avLst/>
          </a:prstGeom>
          <a:solidFill>
            <a:schemeClr val="accent3"/>
          </a:solidFill>
          <a:ln w="12700">
            <a:solidFill>
              <a:schemeClr val="accent3"/>
            </a:solidFill>
            <a:prstDash val="solid"/>
          </a:ln>
        </p:spPr>
      </p:sp>
      <p:pic>
        <p:nvPicPr>
          <p:cNvPr id="12" name="icon-cor" descr="preencoded.png">    </p:cNvPr>
          <p:cNvPicPr>
            <a:picLocks noChangeAspect="1"/>
          </p:cNvPicPr>
          <p:nvPr/>
        </p:nvPicPr>
        <p:blipFill>
          <a:blip r:embed="rId2"/>
          <a:stretch>
            <a:fillRect/>
          </a:stretch>
        </p:blipFill>
        <p:spPr>
          <a:xfrm>
            <a:off x="6684721" y="2006194"/>
            <a:ext cx="285293" cy="285293"/>
          </a:xfrm>
          <a:prstGeom prst="rect">
            <a:avLst/>
          </a:prstGeom>
        </p:spPr>
      </p:pic>
      <p:sp>
        <p:nvSpPr>
          <p:cNvPr id="13" name="Text 8"/>
          <p:cNvSpPr txBox="1"/>
          <p:nvPr/>
        </p:nvSpPr>
        <p:spPr>
          <a:xfrm>
            <a:off x="7238848"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What is actually true</a:t>
            </a:r>
            <a:endParaRPr lang="en-US" sz="2000" dirty="0"/>
          </a:p>
        </p:txBody>
      </p:sp>
      <p:sp>
        <p:nvSpPr>
          <p:cNvPr id="14" name="text"/>
          <p:cNvSpPr txBox="1"/>
          <p:nvPr/>
        </p:nvSpPr>
        <p:spPr>
          <a:xfrm>
            <a:off x="6507328"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Constraint surrogates have errors too; verify feasibility with the original model.</a:t>
            </a:r>
            <a:endParaRPr lang="en-US" sz="2000" dirty="0"/>
          </a:p>
        </p:txBody>
      </p:sp>
      <p:sp>
        <p:nvSpPr>
          <p:cNvPr id="15" name="takeaway"/>
          <p:cNvSpPr/>
          <p:nvPr/>
        </p:nvSpPr>
        <p:spPr>
          <a:xfrm>
            <a:off x="548640" y="4892040"/>
            <a:ext cx="11094415" cy="1280160"/>
          </a:xfrm>
          <a:prstGeom prst="roundRect">
            <a:avLst>
              <a:gd name="adj" fmla="val 8571"/>
            </a:avLst>
          </a:prstGeom>
          <a:solidFill>
            <a:schemeClr val="accent1"/>
          </a:solidFill>
          <a:ln w="12700">
            <a:solidFill>
              <a:schemeClr val="accent1"/>
            </a:solidFill>
            <a:prstDash val="solid"/>
          </a:ln>
        </p:spPr>
      </p:sp>
      <p:sp>
        <p:nvSpPr>
          <p:cNvPr id="16" name="icon-bg-take"/>
          <p:cNvSpPr/>
          <p:nvPr/>
        </p:nvSpPr>
        <p:spPr>
          <a:xfrm>
            <a:off x="822960" y="5257800"/>
            <a:ext cx="548640" cy="548640"/>
          </a:xfrm>
          <a:prstGeom prst="ellipse">
            <a:avLst/>
          </a:prstGeom>
          <a:solidFill>
            <a:schemeClr val="tx2"/>
          </a:solidFill>
          <a:ln w="12700">
            <a:solidFill>
              <a:schemeClr val="tx2"/>
            </a:solidFill>
            <a:prstDash val="solid"/>
          </a:ln>
        </p:spPr>
      </p:sp>
      <p:pic>
        <p:nvPicPr>
          <p:cNvPr id="17" name="icon-take" descr="preencoded.png">    </p:cNvPr>
          <p:cNvPicPr>
            <a:picLocks noChangeAspect="1"/>
          </p:cNvPicPr>
          <p:nvPr/>
        </p:nvPicPr>
        <p:blipFill>
          <a:blip r:embed="rId3"/>
          <a:stretch>
            <a:fillRect/>
          </a:stretch>
        </p:blipFill>
        <p:spPr>
          <a:xfrm>
            <a:off x="954634" y="5389474"/>
            <a:ext cx="285293" cy="285293"/>
          </a:xfrm>
          <a:prstGeom prst="rect">
            <a:avLst/>
          </a:prstGeom>
        </p:spPr>
      </p:pic>
      <p:sp>
        <p:nvSpPr>
          <p:cNvPr id="18" name="Text 12"/>
          <p:cNvSpPr txBox="1"/>
          <p:nvPr/>
        </p:nvSpPr>
        <p:spPr>
          <a:xfrm>
            <a:off x="1554480" y="4983480"/>
            <a:ext cx="9859975" cy="1097280"/>
          </a:xfrm>
          <a:prstGeom prst="rect">
            <a:avLst/>
          </a:prstGeom>
          <a:noFill/>
          <a:ln/>
        </p:spPr>
        <p:txBody>
          <a:bodyPr wrap="square" lIns="635" tIns="635" rIns="635" bIns="635" rtlCol="0" anchor="ctr"/>
          <a:lstStyle/>
          <a:p>
            <a:pPr indent="0" marL="0">
              <a:buNone/>
            </a:pPr>
            <a:r>
              <a:rPr lang="en-US" sz="2200" b="1" dirty="0">
                <a:solidFill>
                  <a:srgbClr val="F2C14E"/>
                </a:solidFill>
              </a:rPr>
              <a:t>Takeaway  </a:t>
            </a:r>
            <a:pPr indent="0" marL="0">
              <a:buNone/>
            </a:pPr>
            <a:r>
              <a:rPr lang="en-US" sz="2200" dirty="0">
                <a:solidFill>
                  <a:srgbClr val="FFFFFF"/>
                </a:solidFill>
              </a:rPr>
              <a:t>Surrogate optimum ≠ true optimum; predictions at the optimum are optimistic; verify.</a:t>
            </a:r>
            <a:endParaRPr lang="en-US" sz="2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Summary</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Key takeaways from this lesson</a:t>
            </a:r>
            <a:endParaRPr lang="en-US" sz="3200" dirty="0"/>
          </a:p>
        </p:txBody>
      </p:sp>
      <p:sp>
        <p:nvSpPr>
          <p:cNvPr id="5" name="takeaway-1"/>
          <p:cNvSpPr/>
          <p:nvPr/>
        </p:nvSpPr>
        <p:spPr>
          <a:xfrm>
            <a:off x="548640" y="1645920"/>
            <a:ext cx="5387188" cy="2103120"/>
          </a:xfrm>
          <a:prstGeom prst="roundRect">
            <a:avLst>
              <a:gd name="adj" fmla="val 5217"/>
            </a:avLst>
          </a:prstGeom>
          <a:solidFill>
            <a:schemeClr val="accent1">
              <a:alpha val="7000"/>
            </a:schemeClr>
          </a:solidFill>
          <a:ln w="12700">
            <a:solidFill>
              <a:schemeClr val="accent1">
                <a:alpha val="30000"/>
              </a:schemeClr>
            </a:solidFill>
            <a:prstDash val="solid"/>
          </a:ln>
        </p:spPr>
      </p:sp>
      <p:sp>
        <p:nvSpPr>
          <p:cNvPr id="6" name="Text 3"/>
          <p:cNvSpPr txBox="1"/>
          <p:nvPr/>
        </p:nvSpPr>
        <p:spPr>
          <a:xfrm>
            <a:off x="713232" y="1810512"/>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234440" y="1719072"/>
            <a:ext cx="4564228" cy="1956816"/>
          </a:xfrm>
          <a:prstGeom prst="rect">
            <a:avLst/>
          </a:prstGeom>
          <a:noFill/>
          <a:ln/>
        </p:spPr>
        <p:txBody>
          <a:bodyPr wrap="square" lIns="254" tIns="254" rIns="254" bIns="254" rtlCol="0" anchor="ctr"/>
          <a:lstStyle/>
          <a:p>
            <a:pPr indent="0" marL="0">
              <a:buNone/>
            </a:pPr>
            <a:r>
              <a:rPr lang="en-US" sz="2200" b="1" dirty="0">
                <a:solidFill>
                  <a:schemeClr val="tx2"/>
                </a:solidFill>
              </a:rPr>
              <a:t>Two different minima</a:t>
            </a:r>
            <a:endParaRPr lang="en-US" sz="2200" dirty="0"/>
          </a:p>
          <a:p>
            <a:pPr indent="0" marL="0">
              <a:buNone/>
            </a:pPr>
            <a:r>
              <a:rPr lang="en-US" sz="2200" dirty="0">
                <a:solidFill>
                  <a:schemeClr val="tx1"/>
                </a:solidFill>
              </a:rPr>
              <a:t>Surrogate optimum ≠ true optimum; predictions at the optimum are optimistic; verify.</a:t>
            </a:r>
            <a:endParaRPr lang="en-US" sz="2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lIns="0" tIns="0" rIns="0" bIns="0" rtlCol="0"/>
          <a:lstStyle/>
          <a:p>
            <a:pPr indent="0" marL="0">
              <a:buNone/>
            </a:pPr>
            <a:r>
              <a:rPr lang="en-US" sz="1800" b="1" spc="200" kern="0" dirty="0">
                <a:solidFill>
                  <a:srgbClr val="F2C14E"/>
                </a:solidFill>
              </a:rPr>
              <a:t>UP NEXT · LESSON 11.1</a:t>
            </a: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rPr>
              <a:t>The loop: fit, optimize, verify, update</a:t>
            </a: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lIns="0" tIns="0" rIns="0" bIns="0" rtlCol="0" anchor="t"/>
          <a:lstStyle/>
          <a:p>
            <a:pPr indent="0" marL="0">
              <a:buNone/>
            </a:pPr>
            <a:r>
              <a:rPr lang="en-US" sz="1800" dirty="0">
                <a:solidFill>
                  <a:srgbClr val="D6E2F0"/>
                </a:solidFill>
              </a:rPr>
              <a:t>That completes Module 10. Before moving on, review the Module 10 flashcards and take its quiz in the course (pass mark 70%). Next: Module 11, Surrogate-based optimization.</a:t>
            </a:r>
            <a:endParaRPr lang="en-US" sz="1800" dirty="0"/>
          </a:p>
        </p:txBody>
      </p:sp>
      <p:sp>
        <p:nvSpPr>
          <p:cNvPr id="5" name="Shape 3"/>
          <p:cNvSpPr/>
          <p:nvPr/>
        </p:nvSpPr>
        <p:spPr>
          <a:xfrm>
            <a:off x="8732520" y="1417320"/>
            <a:ext cx="2926080" cy="2926080"/>
          </a:xfrm>
          <a:prstGeom prst="ellipse">
            <a:avLst/>
          </a:prstGeom>
          <a:solidFill>
            <a:schemeClr val="bg1">
              <a:alpha val="12000"/>
            </a:schemeClr>
          </a:solidFill>
          <a:ln w="38100">
            <a:solidFill>
              <a:srgbClr val="F2C14E"/>
            </a:solidFill>
            <a:prstDash val="solid"/>
          </a:ln>
        </p:spPr>
      </p:sp>
      <p:pic>
        <p:nvPicPr>
          <p:cNvPr id="6" name="icon-next" descr="preencoded.png">    </p:cNvPr>
          <p:cNvPicPr>
            <a:picLocks noChangeAspect="1"/>
          </p:cNvPicPr>
          <p:nvPr/>
        </p:nvPicPr>
        <p:blipFill>
          <a:blip r:embed="rId1"/>
          <a:stretch>
            <a:fillRect/>
          </a:stretch>
        </p:blipFill>
        <p:spPr>
          <a:xfrm>
            <a:off x="9646920" y="2331720"/>
            <a:ext cx="1097280" cy="1097280"/>
          </a:xfrm>
          <a:prstGeom prst="rect">
            <a:avLst/>
          </a:prstGeom>
        </p:spPr>
      </p:pic>
    </p:spTree>
  </p:cSld>
  <p:clrMapOvr>
    <a:masterClrMapping/>
  </p:clrMapOvr>
</p:sld>
</file>

<file path=ppt/theme/theme1.xml><?xml version="1.0" encoding="utf-8"?>
<a:theme xmlns:a="http://schemas.openxmlformats.org/drawingml/2006/main" name="MLSO Course">
  <a:themeElements>
    <a:clrScheme name="MLSO Course">
      <a:dk1>
        <a:srgbClr val="18212B"/>
      </a:dk1>
      <a:lt1>
        <a:srgbClr val="FFFFFF"/>
      </a:lt1>
      <a:dk2>
        <a:srgbClr val="123B6B"/>
      </a:dk2>
      <a:lt2>
        <a:srgbClr val="EEF2F7"/>
      </a:lt2>
      <a:accent1>
        <a:srgbClr val="1F5FA8"/>
      </a:accent1>
      <a:accent2>
        <a:srgbClr val="C2500A"/>
      </a:accent2>
      <a:accent3>
        <a:srgbClr val="1A6E3D"/>
      </a:accent3>
      <a:accent4>
        <a:srgbClr val="B98500"/>
      </a:accent4>
      <a:accent5>
        <a:srgbClr val="7A3FB0"/>
      </a:accent5>
      <a:accent6>
        <a:srgbClr val="B3261E"/>
      </a:accent6>
      <a:hlink>
        <a:srgbClr val="1F5FA8"/>
      </a:hlink>
      <a:folHlink>
        <a:srgbClr val="7A3FB0"/>
      </a:folHlink>
    </a:clrScheme>
    <a:fontScheme name="MLSO Cours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Self-paced course (CC BY 4.0)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10, Lesson 4: Optimizing a surrogate is not finding the true optimum</dc:title>
  <dc:subject>Machine Learning Fundamentals for Surrogate-Based Engineering Optimization</dc:subject>
  <dc:creator>Prof. Mazharul Islam</dc:creator>
  <cp:lastModifiedBy>Prof. Mazharul Islam</cp:lastModifiedBy>
  <cp:revision>1</cp:revision>
  <dcterms:created xsi:type="dcterms:W3CDTF">2026-10-07T01:12:31Z</dcterms:created>
  <dcterms:modified xsi:type="dcterms:W3CDTF">2026-10-07T01:12:31Z</dcterms:modified>
</cp:coreProperties>
</file>