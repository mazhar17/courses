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fd408e8-6489-7624-3aed-4e6dcf176333}">
          <p14:sldIdLst>
            <p14:sldId id="256"/>
          </p14:sldIdLst>
        </p14:section>
        <p14:section name="Lesson 1: What AI, ML, deep learning and generative AI mean" id="{61d828e7-e06a-966f-79f3-d2eb54a8e3ef}">
          <p14:sldIdLst>
            <p14:sldId id="257"/>
            <p14:sldId id="258"/>
            <p14:sldId id="259"/>
            <p14:sldId id="260"/>
            <p14:sldId id="261"/>
            <p14:sldId id="262"/>
            <p14:sldId id="263"/>
            <p14:sldId id="264"/>
            <p14:sldId id="265"/>
            <p14:sldId id="266"/>
            <p14:sldId id="267"/>
            <p14:sldId id="268"/>
            <p14:sldId id="269"/>
          </p14:sldIdLst>
        </p14:section>
        <p14:section name="Summary" id="{1098091d-8082-8647-cb30-e4581ec2905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Lesson 1 of the self-paced course Machine Learning Fundamentals for Surrogate-Based Engineering Optimization: What AI, ML, deep learning and generative AI mean. This lesson belongs to the module AI and ML from the beginning and takes about 9 minutes. In this lesson: A family of ideas, not one technology; When a physics model or simple numerical method is preferable.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family of ideas, not one technology. Artificial intelligence (AI) is the broad goal of getting computers to perform tasks we associate with intelligence: reasoning, planning, recognizing, predicting. Machine learning (ML) is the part of AI in which the computer learns a rule from data rather than having every rule written by a programmer. Deep learning is ML that uses neural networks with many layers. Generative AI refers to (mostly deep-learning) models that produce new content — text, images, code — such as large language models. Conventional numerical methods — finite-element analysis (FEA), computational fluid dynamics (CFD), finite differences, ODE solvers — are not AI. They solve known governing equations (equilibrium, Navier–Stokes, energy conservation). In this course they are the expensive simulators whose results we want to approximate. Look at the figure. AI contains ML, which contains deep learning; generative AI is one family within deep learning. Numerical methods sit outside AI and supply training data for surrogates. Nested boxes: AI ⊃ ML ⊃ deep learning ⊃ generative AI. A separate box “Conventional numerical methods: FEA, CFD, finite differences, ODE solvers” is linked by an arrow labelled “generate training data” to a box “Surrogate modelling (this course)”, which points into the ML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Most of this course uses statistical ML: we assume an unknown relationship y = f(x) and fit a model ŷ = f̂(x; θ) x is the input vector (e.g., fin gap and thickness), in mixed (here mm). y is the true output (e.g., thermal resistance), in K/W. ŷ is the model prediction of y, in K/W. θ is the model parameters learned from data, in depends 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A CFD study of a heat sink might take an hour per design. A regression model fitted to 30 such runs predicts R for a new design in microseconds. That fitted model is a surrogate. A large language model, by contrast, could help you write code or a report, but it is not a surrogate of your heat sink and its text can be wrong. A practical tip: When someone says “we used AI”, ask: which model, trained on what data, validated how? Those three answers matter more than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Is a CFD solver that computes the airflow through a heat sink an example of machine learning?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CFD solves known conservation equations numerically; it does not learn its rules from data. It can, however, generate data from which an ML surrogate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“AI” and “ML” mean the same thing, and both mean neural networks. In fact: ML is one approach within AI, and neural networks (deep learning) are one family within ML. Linear regression and Gaussian processes are ML too, and are often the best choice for small engineering datasets. The takeaway: AI ⊃ ML ⊃ deep learning ⊃ generative AI. Numerical solvers are not AI; they are the expensive models that surrogates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physics model or simple numerical method is preferable. ML is not automatically an upgrade. If a trusted physics model is already fast enough, an ML model adds cost (data generation), risk (errors, extrapolation) and opacity. ML earns its place when the trusted model is too slow to call the hundreds or thousands of times that design exploration needs, or when no adequate physics model exists but good data do. Look at the figure. Strengths and weaknesses of analytical physics models, numerical methods and ML surrogates. Three boxes compare analytical physics models (fast, interpretable, limited by assumptions), numerical methods such as CFD/FEA (general and physics-based but slow), and ML surrogates (very fast once trained but without physics guarantees and unreliable outside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A rough cost comparison for a study needing M model calls: cost_{direct} = M · c_{sim} vs. cost_{surrogate} ≈ n · c_{sim} + c_{fit} + M · c_{pred} + k · c_{sim}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M is the number of evaluations the study needs (e.g., by an optimizer), in count. c_{sim} is the cost of one original simulation, in s. n is the training simulations, in count. c_{fit}, c_{pred} is the cost to fit the surrogate, cost per prediction, in s. k is the verification runs of the original model, in count. A surrogate pays off when n + k ≪ M and c_{pred} ≪ c_{sim}.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Sizing a shaft for torsion uses τ = T r/J — instant and exact enough; ML would be pointless. Optimizing the 3-D shape of a turbine blade with CFD costing hours per run is a classic surrogate application. A practical tip: Before proposing ML, write down the time per evaluation of your trusted model and how many evaluations your study needs. If the product is small, skip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An optimizer needs M = 2 000 evaluations. Each CFD run costs 1 h. A surrogate needs n = 40 training runs and k = 5 verification runs. Roughly how many CFD hours does the surrogate route need?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About 45 h (40 + 5), versus 2 000 h directly — if the surrogate is accurate enough. The fitting and prediction cost is negligible by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If ML is faster, it is always better. In fact: Speed is useless without adequate accuracy where it matters. If the physics model is already fast and validated, use it. The takeaway: Use ML surrogates when trusted evaluations are expensive and many are needed; otherwise prefer the physics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A family of ideas, not one technology: AI ⊃ ML ⊃ deep learning ⊃ generative AI. Numerical solvers are not AI; they are the expensive models that surrogates approximate. When a physics model or simple numerical method is preferable: Use ML surrogates when trusted evaluations are expensive and many are needed; otherwise prefer the physics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1 of Module 1: What AI, ML, deep learning and generative AI mean. Next comes Lesson 2: Learning from examples, and three kinds of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 Lesson 1 · What AI, ML, deep learning and generative AI mean</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 Lesson 1 · What AI, ML, deep learning and generative AI mean</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01 · LESSON 1 OF 4 · ≈ 9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What AI, ML, deep learning and generative AI mean</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 AI and ML from the beginning</a:t>
            </a:r>
            <a:endParaRPr lang="en-US" sz="1800" dirty="0"/>
          </a:p>
          <a:p>
            <a:pPr marL="342900" indent="-342900">
              <a:buSzPct val="100000"/>
              <a:buChar char="•"/>
            </a:pPr>
            <a:r>
              <a:rPr lang="en-US" sz="1800" dirty="0">
                <a:solidFill>
                  <a:srgbClr val="D6E2F0"/>
                </a:solidFill>
              </a:rPr>
              <a:t>A family of ideas, not one technology</a:t>
            </a:r>
            <a:endParaRPr lang="en-US" sz="1800" dirty="0"/>
          </a:p>
          <a:p>
            <a:pPr marL="342900" indent="-342900">
              <a:buSzPct val="100000"/>
              <a:buChar char="•"/>
            </a:pPr>
            <a:r>
              <a:rPr lang="en-US" sz="1800" dirty="0">
                <a:solidFill>
                  <a:srgbClr val="D6E2F0"/>
                </a:solidFill>
              </a:rPr>
              <a:t>When a physics model or simple numerical method is preferable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1.1</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family of ideas, not one technology</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1325880" y="1783080"/>
            <a:ext cx="4251960" cy="4343400"/>
          </a:xfrm>
          <a:prstGeom prst="rect">
            <a:avLst/>
          </a:prstGeom>
          <a:noFill/>
          <a:ln/>
        </p:spPr>
        <p:txBody>
          <a:bodyPr wrap="square" lIns="1270" tIns="1270" rIns="1270" bIns="1270" rtlCol="0" anchor="t"/>
          <a:lstStyle/>
          <a:p>
            <a:pPr indent="0" marL="0">
              <a:spcAft>
                <a:spcPts val="800"/>
              </a:spcAft>
              <a:buNone/>
            </a:pPr>
            <a:r>
              <a:rPr lang="en-US" sz="1300" b="1" dirty="0">
                <a:solidFill>
                  <a:schemeClr val="tx1"/>
                </a:solidFill>
              </a:rPr>
              <a:t>Artificial intelligence (AI)</a:t>
            </a:r>
            <a:pPr indent="0" marL="0">
              <a:spcAft>
                <a:spcPts val="600"/>
              </a:spcAft>
              <a:buNone/>
            </a:pPr>
            <a:r>
              <a:rPr lang="en-US" sz="1300" dirty="0">
                <a:solidFill>
                  <a:schemeClr val="tx1"/>
                </a:solidFill>
              </a:rPr>
              <a:t> is the broad goal of getting computers to perform tasks we associate with intelligence: reasoning, planning, recognizing, predicting. </a:t>
            </a:r>
            <a:pPr indent="0" marL="0">
              <a:spcAft>
                <a:spcPts val="600"/>
              </a:spcAft>
              <a:buNone/>
            </a:pPr>
            <a:r>
              <a:rPr lang="en-US" sz="1300" b="1" dirty="0">
                <a:solidFill>
                  <a:schemeClr val="tx1"/>
                </a:solidFill>
              </a:rPr>
              <a:t>Machine learning (ML)</a:t>
            </a:r>
            <a:pPr indent="0" marL="0">
              <a:spcAft>
                <a:spcPts val="600"/>
              </a:spcAft>
              <a:buNone/>
            </a:pPr>
            <a:r>
              <a:rPr lang="en-US" sz="1300" dirty="0">
                <a:solidFill>
                  <a:schemeClr val="tx1"/>
                </a:solidFill>
              </a:rPr>
              <a:t> is the part of AI in which the computer </a:t>
            </a:r>
            <a:pPr indent="0" marL="0">
              <a:spcAft>
                <a:spcPts val="600"/>
              </a:spcAft>
              <a:buNone/>
            </a:pPr>
            <a:r>
              <a:rPr lang="en-US" sz="1300" i="1" dirty="0">
                <a:solidFill>
                  <a:schemeClr val="tx1"/>
                </a:solidFill>
              </a:rPr>
              <a:t>learns</a:t>
            </a:r>
            <a:pPr indent="0" marL="0">
              <a:spcAft>
                <a:spcPts val="600"/>
              </a:spcAft>
              <a:buNone/>
            </a:pPr>
            <a:r>
              <a:rPr lang="en-US" sz="1300" dirty="0">
                <a:solidFill>
                  <a:schemeClr val="tx1"/>
                </a:solidFill>
              </a:rPr>
              <a:t> a rule from data rather than having every rule written by a programmer. </a:t>
            </a:r>
            <a:pPr indent="0" marL="0">
              <a:spcAft>
                <a:spcPts val="600"/>
              </a:spcAft>
              <a:buNone/>
            </a:pPr>
            <a:r>
              <a:rPr lang="en-US" sz="1300" b="1" dirty="0">
                <a:solidFill>
                  <a:schemeClr val="tx1"/>
                </a:solidFill>
              </a:rPr>
              <a:t>Deep learning</a:t>
            </a:r>
            <a:pPr indent="0" marL="0">
              <a:spcAft>
                <a:spcPts val="600"/>
              </a:spcAft>
              <a:buNone/>
            </a:pPr>
            <a:r>
              <a:rPr lang="en-US" sz="1300" dirty="0">
                <a:solidFill>
                  <a:schemeClr val="tx1"/>
                </a:solidFill>
              </a:rPr>
              <a:t> is ML that uses neural networks with many layers. </a:t>
            </a:r>
            <a:pPr indent="0" marL="0">
              <a:spcAft>
                <a:spcPts val="600"/>
              </a:spcAft>
              <a:buNone/>
            </a:pPr>
            <a:r>
              <a:rPr lang="en-US" sz="1300" b="1" dirty="0">
                <a:solidFill>
                  <a:schemeClr val="tx1"/>
                </a:solidFill>
              </a:rPr>
              <a:t>Generative AI</a:t>
            </a:r>
            <a:pPr indent="0" marL="0">
              <a:spcAft>
                <a:spcPts val="600"/>
              </a:spcAft>
              <a:buNone/>
            </a:pPr>
            <a:r>
              <a:rPr lang="en-US" sz="1300" dirty="0">
                <a:solidFill>
                  <a:schemeClr val="tx1"/>
                </a:solidFill>
              </a:rPr>
              <a:t> refers to (mostly deep-learning) models that produce new content — text, images, code — such as large language models.</a:t>
            </a:r>
            <a:endParaRPr lang="en-US" sz="1300" dirty="0"/>
          </a:p>
          <a:p>
            <a:pPr indent="0" marL="0">
              <a:spcAft>
                <a:spcPts val="600"/>
              </a:spcAft>
              <a:buNone/>
            </a:pPr>
            <a:r>
              <a:rPr lang="en-US" sz="1300" b="1" dirty="0">
                <a:solidFill>
                  <a:schemeClr val="tx1"/>
                </a:solidFill>
              </a:rPr>
              <a:t>Conventional numerical methods</a:t>
            </a:r>
            <a:pPr indent="0" marL="0">
              <a:spcAft>
                <a:spcPts val="600"/>
              </a:spcAft>
              <a:buNone/>
            </a:pPr>
            <a:r>
              <a:rPr lang="en-US" sz="1300" dirty="0">
                <a:solidFill>
                  <a:schemeClr val="tx1"/>
                </a:solidFill>
              </a:rPr>
              <a:t> — finite-element analysis (FEA), computational fluid dynamics (CFD), finite differences, ODE solvers — are not AI. They solve known governing equations (equilibrium, Navier–Stokes, energy conservation). In this course they are the </a:t>
            </a:r>
            <a:pPr indent="0" marL="0">
              <a:spcAft>
                <a:spcPts val="600"/>
              </a:spcAft>
              <a:buNone/>
            </a:pPr>
            <a:r>
              <a:rPr lang="en-US" sz="1300" i="1" dirty="0">
                <a:solidFill>
                  <a:schemeClr val="tx1"/>
                </a:solidFill>
              </a:rPr>
              <a:t>expensive simulators</a:t>
            </a:r>
            <a:pPr indent="0" marL="0">
              <a:spcAft>
                <a:spcPts val="600"/>
              </a:spcAft>
              <a:buNone/>
            </a:pPr>
            <a:r>
              <a:rPr lang="en-US" sz="1300" dirty="0">
                <a:solidFill>
                  <a:schemeClr val="tx1"/>
                </a:solidFill>
              </a:rPr>
              <a:t> whose results we want to approximate.</a:t>
            </a:r>
            <a:endParaRPr lang="en-US" sz="1300" dirty="0"/>
          </a:p>
        </p:txBody>
      </p:sp>
      <p:pic>
        <p:nvPicPr>
          <p:cNvPr id="9" name="figure" descr="Nested boxes: AI ⊃ ML ⊃ deep learning ⊃ generative AI. A separate box “Conventional numerical methods: FEA, CFD, finite differences, ODE solvers” is linked by an arrow labelled “generate training data” to a box “Surrogate modelling (this course)”, which points into the ML box.">    </p:cNvPr>
          <p:cNvPicPr>
            <a:picLocks noChangeAspect="1"/>
          </p:cNvPicPr>
          <p:nvPr/>
        </p:nvPicPr>
        <p:blipFill>
          <a:blip r:embed="rId2"/>
          <a:stretch>
            <a:fillRect/>
          </a:stretch>
        </p:blipFill>
        <p:spPr>
          <a:xfrm>
            <a:off x="5989320" y="1691640"/>
            <a:ext cx="5653735" cy="2835256"/>
          </a:xfrm>
          <a:prstGeom prst="rect">
            <a:avLst/>
          </a:prstGeom>
        </p:spPr>
      </p:pic>
      <p:sp>
        <p:nvSpPr>
          <p:cNvPr id="10" name="Text 5"/>
          <p:cNvSpPr txBox="1"/>
          <p:nvPr/>
        </p:nvSpPr>
        <p:spPr>
          <a:xfrm>
            <a:off x="5989320" y="4572616"/>
            <a:ext cx="5653735" cy="1645304"/>
          </a:xfrm>
          <a:prstGeom prst="rect">
            <a:avLst/>
          </a:prstGeom>
          <a:noFill/>
          <a:ln/>
        </p:spPr>
        <p:txBody>
          <a:bodyPr wrap="square" lIns="0" tIns="0" rIns="0" bIns="0" rtlCol="0" anchor="t"/>
          <a:lstStyle/>
          <a:p>
            <a:pPr indent="0" marL="0">
              <a:buNone/>
            </a:pPr>
            <a:r>
              <a:rPr lang="en-US" sz="1200" i="1" dirty="0">
                <a:solidFill>
                  <a:srgbClr val="46525F"/>
                </a:solidFill>
              </a:rPr>
              <a:t>AI contains ML, which contains deep learning; generative AI is one family within deep learning. Numerical methods sit outside AI and supply training data for surrogates.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family of ideas, not one technology</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305560"/>
          </a:xfrm>
          <a:prstGeom prst="roundRect">
            <a:avLst>
              <a:gd name="adj" fmla="val 8405"/>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21412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Most of this course uses </a:t>
            </a:r>
            <a:pPr indent="0" marL="0">
              <a:buNone/>
            </a:pPr>
            <a:r>
              <a:rPr lang="en-US" sz="2000" b="1" dirty="0">
                <a:solidFill>
                  <a:schemeClr val="tx1"/>
                </a:solidFill>
              </a:rPr>
              <a:t>statistical ML</a:t>
            </a:r>
            <a:pPr indent="0" marL="0">
              <a:buNone/>
            </a:pPr>
            <a:r>
              <a:rPr lang="en-US" sz="2000" dirty="0">
                <a:solidFill>
                  <a:schemeClr val="tx1"/>
                </a:solidFill>
              </a:rPr>
              <a:t>: we assume an unknown relationship </a:t>
            </a:r>
            <a:pPr indent="0" marL="0">
              <a:buNone/>
            </a:pPr>
            <a:r>
              <a:rPr lang="en-US" sz="2000" i="1" dirty="0">
                <a:solidFill>
                  <a:schemeClr val="tx1"/>
                </a:solidFill>
              </a:rPr>
              <a:t>y</a:t>
            </a:r>
            <a:pPr indent="0" marL="0">
              <a:buNone/>
            </a:pPr>
            <a:r>
              <a:rPr lang="en-US" sz="2000" dirty="0">
                <a:solidFill>
                  <a:schemeClr val="tx1"/>
                </a:solidFill>
              </a:rPr>
              <a:t> = </a:t>
            </a:r>
            <a:pPr indent="0" marL="0">
              <a:buNone/>
            </a:pPr>
            <a:r>
              <a:rPr lang="en-US" sz="2000" i="1" dirty="0">
                <a:solidFill>
                  <a:schemeClr val="tx1"/>
                </a:solidFill>
              </a:rPr>
              <a:t>f</a:t>
            </a:r>
            <a:pPr indent="0" marL="0">
              <a:buNone/>
            </a:pPr>
            <a:r>
              <a:rPr lang="en-US" sz="2000" dirty="0">
                <a:solidFill>
                  <a:schemeClr val="tx1"/>
                </a:solidFill>
              </a:rPr>
              <a:t>(</a:t>
            </a:r>
            <a:pPr indent="0" marL="0">
              <a:buNone/>
            </a:pPr>
            <a:r>
              <a:rPr lang="en-US" sz="2000" b="1" dirty="0">
                <a:solidFill>
                  <a:schemeClr val="tx1"/>
                </a:solidFill>
              </a:rPr>
              <a:t>x</a:t>
            </a:r>
            <a:pPr indent="0" marL="0">
              <a:buNone/>
            </a:pPr>
            <a:r>
              <a:rPr lang="en-US" sz="2000" dirty="0">
                <a:solidFill>
                  <a:schemeClr val="tx1"/>
                </a:solidFill>
              </a:rPr>
              <a:t>) and fit a model</a:t>
            </a:r>
            <a:endParaRPr lang="en-US" sz="2000" dirty="0"/>
          </a:p>
          <a:p>
            <a:pPr algn="ctr" indent="0" marL="0">
              <a:buNone/>
            </a:pPr>
            <a:r>
              <a:rPr lang="en-US" sz="2000" i="1" dirty="0">
                <a:solidFill>
                  <a:schemeClr val="tx1"/>
                </a:solidFill>
              </a:rPr>
              <a:t>ŷ</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a:t>
            </a:r>
            <a:pPr algn="ctr" indent="0" marL="0">
              <a:buNone/>
            </a:pPr>
            <a:r>
              <a:rPr lang="en-US" sz="2000" b="1" dirty="0">
                <a:solidFill>
                  <a:schemeClr val="tx1"/>
                </a:solidFill>
              </a:rPr>
              <a:t>θ</a:t>
            </a:r>
            <a:pPr algn="ctr" indent="0" marL="0">
              <a:buNone/>
            </a:pPr>
            <a:r>
              <a:rPr lang="en-US" sz="2000" dirty="0">
                <a:solidFill>
                  <a:schemeClr val="tx1"/>
                </a:solidFill>
              </a:rPr>
              <a:t>)</a:t>
            </a:r>
            <a:endParaRPr lang="en-US" sz="2000" dirty="0"/>
          </a:p>
        </p:txBody>
      </p:sp>
      <p:graphicFrame>
        <p:nvGraphicFramePr>
          <p:cNvPr id="4" name="math-table"/>
          <p:cNvGraphicFramePr>
            <a:graphicFrameLocks noGrp="1"/>
          </p:cNvGraphicFramePr>
          <p:nvPr>
            <p:extLst>
              <p:ext uri="{D42A27DB-BD31-4B8C-83A1-F6EECF244321}">
                <p14:modId xmlns:p14="http://schemas.microsoft.com/office/powerpoint/2010/main" val="1579011935"/>
              </p:ext>
            </p:extLst>
          </p:nvPr>
        </p:nvGraphicFramePr>
        <p:xfrm>
          <a:off x="1234440" y="308864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Symbol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Meaning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Unit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b="1" dirty="0">
                          <a:solidFill>
                            <a:srgbClr val="18212B"/>
                          </a:solidFill>
                        </a:rPr>
                        <a:t>x</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input vector (e.g., fin gap and thickness)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mixed (here mm)</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y</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true output (e.g., thermal resistance)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K/W</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ŷ</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model prediction of y</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K/W</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θ</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model parameters learned from data</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depends on model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family of ideas, not one technology</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 CFD study of a heat sink might take an hour per design. A regression model fitted to 30 such runs predicts </a:t>
            </a:r>
            <a:pPr indent="0" marL="0">
              <a:spcAft>
                <a:spcPts val="600"/>
              </a:spcAft>
              <a:buNone/>
            </a:pPr>
            <a:r>
              <a:rPr lang="en-US" sz="2000" i="1" dirty="0">
                <a:solidFill>
                  <a:schemeClr val="tx1"/>
                </a:solidFill>
              </a:rPr>
              <a:t>R</a:t>
            </a:r>
            <a:pPr indent="0" marL="0">
              <a:spcAft>
                <a:spcPts val="600"/>
              </a:spcAft>
              <a:buNone/>
            </a:pPr>
            <a:r>
              <a:rPr lang="en-US" sz="2000" dirty="0">
                <a:solidFill>
                  <a:schemeClr val="tx1"/>
                </a:solidFill>
              </a:rPr>
              <a:t> for a new design in microseconds. That fitted model is a </a:t>
            </a:r>
            <a:pPr indent="0" marL="0">
              <a:spcAft>
                <a:spcPts val="600"/>
              </a:spcAft>
              <a:buNone/>
            </a:pPr>
            <a:r>
              <a:rPr lang="en-US" sz="2000" b="1" dirty="0">
                <a:solidFill>
                  <a:schemeClr val="tx1"/>
                </a:solidFill>
              </a:rPr>
              <a:t>surrogate</a:t>
            </a:r>
            <a:pPr indent="0" marL="0">
              <a:spcAft>
                <a:spcPts val="600"/>
              </a:spcAft>
              <a:buNone/>
            </a:pPr>
            <a:r>
              <a:rPr lang="en-US" sz="2000" dirty="0">
                <a:solidFill>
                  <a:schemeClr val="tx1"/>
                </a:solidFill>
              </a:rPr>
              <a:t>. A large language model, by contrast, could help you write code or a report, but it is not a surrogate of your heat sink and its text can be wrong.</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When someone says “we used AI”, ask: </a:t>
            </a:r>
            <a:pPr indent="0" marL="0">
              <a:spcAft>
                <a:spcPts val="600"/>
              </a:spcAft>
              <a:buNone/>
            </a:pPr>
            <a:r>
              <a:rPr lang="en-US" sz="2000" i="1" dirty="0">
                <a:solidFill>
                  <a:schemeClr val="tx1"/>
                </a:solidFill>
              </a:rPr>
              <a:t>which</a:t>
            </a:r>
            <a:pPr indent="0" marL="0">
              <a:spcAft>
                <a:spcPts val="600"/>
              </a:spcAft>
              <a:buNone/>
            </a:pPr>
            <a:r>
              <a:rPr lang="en-US" sz="2000" dirty="0">
                <a:solidFill>
                  <a:schemeClr val="tx1"/>
                </a:solidFill>
              </a:rPr>
              <a:t> model, trained on </a:t>
            </a:r>
            <a:pPr indent="0" marL="0">
              <a:spcAft>
                <a:spcPts val="600"/>
              </a:spcAft>
              <a:buNone/>
            </a:pPr>
            <a:r>
              <a:rPr lang="en-US" sz="2000" i="1" dirty="0">
                <a:solidFill>
                  <a:schemeClr val="tx1"/>
                </a:solidFill>
              </a:rPr>
              <a:t>what</a:t>
            </a:r>
            <a:pPr indent="0" marL="0">
              <a:spcAft>
                <a:spcPts val="600"/>
              </a:spcAft>
              <a:buNone/>
            </a:pPr>
            <a:r>
              <a:rPr lang="en-US" sz="2000" dirty="0">
                <a:solidFill>
                  <a:schemeClr val="tx1"/>
                </a:solidFill>
              </a:rPr>
              <a:t> data, validated </a:t>
            </a:r>
            <a:pPr indent="0" marL="0">
              <a:spcAft>
                <a:spcPts val="600"/>
              </a:spcAft>
              <a:buNone/>
            </a:pPr>
            <a:r>
              <a:rPr lang="en-US" sz="2000" i="1" dirty="0">
                <a:solidFill>
                  <a:schemeClr val="tx1"/>
                </a:solidFill>
              </a:rPr>
              <a:t>how</a:t>
            </a:r>
            <a:pPr indent="0" marL="0">
              <a:spcAft>
                <a:spcPts val="600"/>
              </a:spcAft>
              <a:buNone/>
            </a:pPr>
            <a:r>
              <a:rPr lang="en-US" sz="2000" dirty="0">
                <a:solidFill>
                  <a:schemeClr val="tx1"/>
                </a:solidFill>
              </a:rPr>
              <a:t>? Those three answers matter more than the label.</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Is a CFD solver that computes the airflow through a heat sink an example of machine learning?</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Is a CFD solver that computes the airflow through a heat sink an example of machine learning?</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CFD solves known conservation equations numerically; it does not learn its rules from data. It can, however, </a:t>
            </a:r>
            <a:pPr indent="0" marL="0">
              <a:spcAft>
                <a:spcPts val="600"/>
              </a:spcAft>
              <a:buNone/>
            </a:pPr>
            <a:r>
              <a:rPr lang="en-US" sz="2600" i="1" dirty="0">
                <a:solidFill>
                  <a:schemeClr val="tx1"/>
                </a:solidFill>
              </a:rPr>
              <a:t>generate</a:t>
            </a:r>
            <a:pPr indent="0" marL="0">
              <a:spcAft>
                <a:spcPts val="600"/>
              </a:spcAft>
              <a:buNone/>
            </a:pPr>
            <a:r>
              <a:rPr lang="en-US" sz="2600" dirty="0">
                <a:solidFill>
                  <a:schemeClr val="tx1"/>
                </a:solidFill>
              </a:rPr>
              <a:t> data from which an ML surrogate is trained.</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family of ideas, not one technology</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“AI” and “ML” mean the same thing, and both mean neural networks.</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1900" dirty="0">
                <a:solidFill>
                  <a:schemeClr val="tx1"/>
                </a:solidFill>
              </a:rPr>
              <a:t> ML is one approach within AI, and neural networks (deep learning) are one family within ML. Linear regression and Gaussian processes are ML too, and are often the best choice for small engineering datasets.</a:t>
            </a:r>
            <a:endParaRPr lang="en-US" sz="19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100" b="1" dirty="0">
                <a:solidFill>
                  <a:srgbClr val="F2C14E"/>
                </a:solidFill>
              </a:rPr>
              <a:t>Takeaway  </a:t>
            </a:r>
            <a:pPr indent="0" marL="0">
              <a:buNone/>
            </a:pPr>
            <a:r>
              <a:rPr lang="en-US" sz="2100" dirty="0">
                <a:solidFill>
                  <a:srgbClr val="FFFFFF"/>
                </a:solidFill>
              </a:rPr>
              <a:t>AI ⊃ ML ⊃ deep learning ⊃ generative AI. Numerical solvers are not AI; they are the expensive models that surrogates approximate.</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200" b="1" dirty="0">
                <a:solidFill>
                  <a:schemeClr val="tx2"/>
                </a:solidFill>
              </a:rPr>
              <a:t>When a physics model or simple numerical method is preferable</a:t>
            </a:r>
            <a:endParaRPr lang="en-US" sz="2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143000"/>
          </a:xfrm>
          <a:prstGeom prst="rect">
            <a:avLst/>
          </a:prstGeom>
          <a:noFill/>
          <a:ln/>
        </p:spPr>
        <p:txBody>
          <a:bodyPr wrap="square" lIns="1270" tIns="1270" rIns="1270" bIns="1270" rtlCol="0" anchor="t"/>
          <a:lstStyle/>
          <a:p>
            <a:pPr indent="0" marL="0">
              <a:spcAft>
                <a:spcPts val="600"/>
              </a:spcAft>
              <a:buNone/>
            </a:pPr>
            <a:r>
              <a:rPr lang="en-US" sz="1500" dirty="0">
                <a:solidFill>
                  <a:schemeClr val="tx1"/>
                </a:solidFill>
              </a:rPr>
              <a:t>ML is not automatically an upgrade. If a trusted physics model is already fast enough, an ML model adds cost (data generation), risk (errors, extrapolation) and opacity. ML earns its place when the trusted model is too slow to call the hundreds or thousands of times that design exploration needs, or when no adequate physics model exists but good data do.</a:t>
            </a:r>
            <a:endParaRPr lang="en-US" sz="1500" dirty="0"/>
          </a:p>
        </p:txBody>
      </p:sp>
      <p:pic>
        <p:nvPicPr>
          <p:cNvPr id="8" name="figure" descr="Three boxes compare analytical physics models (fast, interpretable, limited by assumptions), numerical methods such as CFD/FEA (general and physics-based but slow), and ML surrogates (very fast once trained but without physics guarantees and unreliable outside data).">    </p:cNvPr>
          <p:cNvPicPr>
            <a:picLocks noChangeAspect="1"/>
          </p:cNvPicPr>
          <p:nvPr/>
        </p:nvPicPr>
        <p:blipFill>
          <a:blip r:embed="rId2"/>
          <a:stretch>
            <a:fillRect/>
          </a:stretch>
        </p:blipFill>
        <p:spPr>
          <a:xfrm>
            <a:off x="2161982" y="2880360"/>
            <a:ext cx="7867731" cy="274320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Strengths and weaknesses of analytical physics models, numerical methods and ML surrogates.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The mathematics (1/2)</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200" b="1" dirty="0">
                <a:solidFill>
                  <a:schemeClr val="tx2"/>
                </a:solidFill>
              </a:rPr>
              <a:t>When a physics model or simple numerical method is preferable</a:t>
            </a:r>
            <a:endParaRPr lang="en-US" sz="2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305560"/>
          </a:xfrm>
          <a:prstGeom prst="roundRect">
            <a:avLst>
              <a:gd name="adj" fmla="val 8405"/>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21412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A rough cost comparison for a study needing </a:t>
            </a:r>
            <a:pPr indent="0" marL="0">
              <a:buNone/>
            </a:pPr>
            <a:r>
              <a:rPr lang="en-US" sz="2000" i="1" dirty="0">
                <a:solidFill>
                  <a:schemeClr val="tx1"/>
                </a:solidFill>
              </a:rPr>
              <a:t>M</a:t>
            </a:r>
            <a:pPr indent="0" marL="0">
              <a:buNone/>
            </a:pPr>
            <a:r>
              <a:rPr lang="en-US" sz="2000" dirty="0">
                <a:solidFill>
                  <a:schemeClr val="tx1"/>
                </a:solidFill>
              </a:rPr>
              <a:t> model calls:</a:t>
            </a:r>
            <a:endParaRPr lang="en-US" sz="2000" dirty="0"/>
          </a:p>
          <a:p>
            <a:pPr algn="ctr" indent="0" marL="0">
              <a:buNone/>
            </a:pPr>
            <a:r>
              <a:rPr lang="en-US" sz="2000" dirty="0">
                <a:solidFill>
                  <a:schemeClr val="tx1"/>
                </a:solidFill>
              </a:rPr>
              <a:t>cost</a:t>
            </a:r>
            <a:pPr algn="ctr" indent="0" marL="0">
              <a:buNone/>
            </a:pPr>
            <a:r>
              <a:rPr lang="en-US" sz="2000" baseline="-40000" dirty="0">
                <a:solidFill>
                  <a:schemeClr val="tx1"/>
                </a:solidFill>
              </a:rPr>
              <a:t>direct</a:t>
            </a:r>
            <a:pPr algn="ctr" indent="0" marL="0">
              <a:buNone/>
            </a:pPr>
            <a:r>
              <a:rPr lang="en-US" sz="2000" dirty="0">
                <a:solidFill>
                  <a:schemeClr val="tx1"/>
                </a:solidFill>
              </a:rPr>
              <a:t> = </a:t>
            </a:r>
            <a:pPr algn="ctr" indent="0" marL="0">
              <a:buNone/>
            </a:pPr>
            <a:r>
              <a:rPr lang="en-US" sz="2000" i="1" dirty="0">
                <a:solidFill>
                  <a:schemeClr val="tx1"/>
                </a:solidFill>
              </a:rPr>
              <a:t>M</a:t>
            </a:r>
            <a:pPr algn="ctr" indent="0" marL="0">
              <a:buNone/>
            </a:pPr>
            <a:r>
              <a:rPr lang="en-US" sz="2000" dirty="0">
                <a:solidFill>
                  <a:schemeClr val="tx1"/>
                </a:solidFill>
              </a:rPr>
              <a:t> · </a:t>
            </a:r>
            <a:pPr algn="ctr" indent="0" marL="0">
              <a:buNone/>
            </a:pPr>
            <a:r>
              <a:rPr lang="en-US" sz="2000" i="1" dirty="0">
                <a:solidFill>
                  <a:schemeClr val="tx1"/>
                </a:solidFill>
              </a:rPr>
              <a:t>c</a:t>
            </a:r>
            <a:pPr algn="ctr" indent="0" marL="0">
              <a:buNone/>
            </a:pPr>
            <a:r>
              <a:rPr lang="en-US" sz="2000" baseline="-40000" dirty="0">
                <a:solidFill>
                  <a:schemeClr val="tx1"/>
                </a:solidFill>
              </a:rPr>
              <a:t>sim</a:t>
            </a:r>
            <a:pPr algn="ctr" indent="0" marL="0">
              <a:buNone/>
            </a:pPr>
            <a:r>
              <a:rPr lang="en-US" sz="2000" dirty="0">
                <a:solidFill>
                  <a:schemeClr val="tx1"/>
                </a:solidFill>
              </a:rPr>
              <a:t> vs. cost</a:t>
            </a:r>
            <a:pPr algn="ctr" indent="0" marL="0">
              <a:buNone/>
            </a:pPr>
            <a:r>
              <a:rPr lang="en-US" sz="2000" baseline="-40000" dirty="0">
                <a:solidFill>
                  <a:schemeClr val="tx1"/>
                </a:solidFill>
              </a:rPr>
              <a:t>surrogate</a:t>
            </a:r>
            <a:pPr algn="ctr" indent="0" marL="0">
              <a:buNone/>
            </a:pPr>
            <a:r>
              <a:rPr lang="en-US" sz="2000" dirty="0">
                <a:solidFill>
                  <a:schemeClr val="tx1"/>
                </a:solidFill>
              </a:rPr>
              <a:t> ≈ </a:t>
            </a:r>
            <a:pPr algn="ctr" indent="0" marL="0">
              <a:buNone/>
            </a:pPr>
            <a:r>
              <a:rPr lang="en-US" sz="2000" i="1" dirty="0">
                <a:solidFill>
                  <a:schemeClr val="tx1"/>
                </a:solidFill>
              </a:rPr>
              <a:t>n</a:t>
            </a:r>
            <a:pPr algn="ctr" indent="0" marL="0">
              <a:buNone/>
            </a:pPr>
            <a:r>
              <a:rPr lang="en-US" sz="2000" dirty="0">
                <a:solidFill>
                  <a:schemeClr val="tx1"/>
                </a:solidFill>
              </a:rPr>
              <a:t> · </a:t>
            </a:r>
            <a:pPr algn="ctr" indent="0" marL="0">
              <a:buNone/>
            </a:pPr>
            <a:r>
              <a:rPr lang="en-US" sz="2000" i="1" dirty="0">
                <a:solidFill>
                  <a:schemeClr val="tx1"/>
                </a:solidFill>
              </a:rPr>
              <a:t>c</a:t>
            </a:r>
            <a:pPr algn="ctr" indent="0" marL="0">
              <a:buNone/>
            </a:pPr>
            <a:r>
              <a:rPr lang="en-US" sz="2000" baseline="-40000" dirty="0">
                <a:solidFill>
                  <a:schemeClr val="tx1"/>
                </a:solidFill>
              </a:rPr>
              <a:t>sim</a:t>
            </a:r>
            <a:pPr algn="ctr" indent="0" marL="0">
              <a:buNone/>
            </a:pPr>
            <a:r>
              <a:rPr lang="en-US" sz="2000" dirty="0">
                <a:solidFill>
                  <a:schemeClr val="tx1"/>
                </a:solidFill>
              </a:rPr>
              <a:t> + </a:t>
            </a:r>
            <a:pPr algn="ctr" indent="0" marL="0">
              <a:buNone/>
            </a:pPr>
            <a:r>
              <a:rPr lang="en-US" sz="2000" i="1" dirty="0">
                <a:solidFill>
                  <a:schemeClr val="tx1"/>
                </a:solidFill>
              </a:rPr>
              <a:t>c</a:t>
            </a:r>
            <a:pPr algn="ctr" indent="0" marL="0">
              <a:buNone/>
            </a:pPr>
            <a:r>
              <a:rPr lang="en-US" sz="2000" baseline="-40000" dirty="0">
                <a:solidFill>
                  <a:schemeClr val="tx1"/>
                </a:solidFill>
              </a:rPr>
              <a:t>fit</a:t>
            </a:r>
            <a:pPr algn="ctr" indent="0" marL="0">
              <a:buNone/>
            </a:pPr>
            <a:r>
              <a:rPr lang="en-US" sz="2000" dirty="0">
                <a:solidFill>
                  <a:schemeClr val="tx1"/>
                </a:solidFill>
              </a:rPr>
              <a:t> + </a:t>
            </a:r>
            <a:pPr algn="ctr" indent="0" marL="0">
              <a:buNone/>
            </a:pPr>
            <a:r>
              <a:rPr lang="en-US" sz="2000" i="1" dirty="0">
                <a:solidFill>
                  <a:schemeClr val="tx1"/>
                </a:solidFill>
              </a:rPr>
              <a:t>M</a:t>
            </a:r>
            <a:pPr algn="ctr" indent="0" marL="0">
              <a:buNone/>
            </a:pPr>
            <a:r>
              <a:rPr lang="en-US" sz="2000" dirty="0">
                <a:solidFill>
                  <a:schemeClr val="tx1"/>
                </a:solidFill>
              </a:rPr>
              <a:t> · </a:t>
            </a:r>
            <a:pPr algn="ctr" indent="0" marL="0">
              <a:buNone/>
            </a:pPr>
            <a:r>
              <a:rPr lang="en-US" sz="2000" i="1" dirty="0">
                <a:solidFill>
                  <a:schemeClr val="tx1"/>
                </a:solidFill>
              </a:rPr>
              <a:t>c</a:t>
            </a:r>
            <a:pPr algn="ctr" indent="0" marL="0">
              <a:buNone/>
            </a:pPr>
            <a:r>
              <a:rPr lang="en-US" sz="2000" baseline="-40000" dirty="0">
                <a:solidFill>
                  <a:schemeClr val="tx1"/>
                </a:solidFill>
              </a:rPr>
              <a:t>pred</a:t>
            </a:r>
            <a:pPr algn="ctr" indent="0" marL="0">
              <a:buNone/>
            </a:pPr>
            <a:r>
              <a:rPr lang="en-US" sz="2000" dirty="0">
                <a:solidFill>
                  <a:schemeClr val="tx1"/>
                </a:solidFill>
              </a:rPr>
              <a:t> + </a:t>
            </a:r>
            <a:pPr algn="ctr" indent="0" marL="0">
              <a:buNone/>
            </a:pPr>
            <a:r>
              <a:rPr lang="en-US" sz="2000" i="1" dirty="0">
                <a:solidFill>
                  <a:schemeClr val="tx1"/>
                </a:solidFill>
              </a:rPr>
              <a:t>k</a:t>
            </a:r>
            <a:pPr algn="ctr" indent="0" marL="0">
              <a:buNone/>
            </a:pPr>
            <a:r>
              <a:rPr lang="en-US" sz="2000" dirty="0">
                <a:solidFill>
                  <a:schemeClr val="tx1"/>
                </a:solidFill>
              </a:rPr>
              <a:t> · </a:t>
            </a:r>
            <a:pPr algn="ctr" indent="0" marL="0">
              <a:buNone/>
            </a:pPr>
            <a:r>
              <a:rPr lang="en-US" sz="2000" i="1" dirty="0">
                <a:solidFill>
                  <a:schemeClr val="tx1"/>
                </a:solidFill>
              </a:rPr>
              <a:t>c</a:t>
            </a:r>
            <a:pPr algn="ctr" indent="0" marL="0">
              <a:buNone/>
            </a:pPr>
            <a:r>
              <a:rPr lang="en-US" sz="2000" baseline="-40000" dirty="0">
                <a:solidFill>
                  <a:schemeClr val="tx1"/>
                </a:solidFill>
              </a:rPr>
              <a:t>sim</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The mathematics (2/2)</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200" b="1" dirty="0">
                <a:solidFill>
                  <a:schemeClr val="tx2"/>
                </a:solidFill>
              </a:rPr>
              <a:t>When a physics model or simple numerical method is preferable</a:t>
            </a:r>
            <a:endParaRPr lang="en-US" sz="2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graphicFrame>
        <p:nvGraphicFramePr>
          <p:cNvPr id="11" name="math-table"/>
          <p:cNvGraphicFramePr>
            <a:graphicFrameLocks noGrp="1"/>
          </p:cNvGraphicFramePr>
          <p:nvPr>
            <p:extLst>
              <p:ext uri="{D42A27DB-BD31-4B8C-83A1-F6EECF244321}">
                <p14:modId xmlns:p14="http://schemas.microsoft.com/office/powerpoint/2010/main" val="1579011935"/>
              </p:ext>
            </p:extLst>
          </p:nvPr>
        </p:nvGraphicFramePr>
        <p:xfrm>
          <a:off x="1234440" y="164592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Symbol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Meaning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Unit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dirty="0">
                          <a:solidFill>
                            <a:srgbClr val="18212B"/>
                          </a:solidFill>
                        </a:rPr>
                        <a:t>M</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number of evaluations the study needs (e.g., by an optimizer)</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count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c</a:t>
                      </a:r>
                      <a:pPr indent="0" marL="0">
                        <a:buNone/>
                      </a:pPr>
                      <a:r>
                        <a:rPr lang="en-US" sz="1400" baseline="-40000" dirty="0">
                          <a:solidFill>
                            <a:srgbClr val="18212B"/>
                          </a:solidFill>
                        </a:rPr>
                        <a:t>sim</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cost of one original simulation</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n</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training simulations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count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c</a:t>
                      </a:r>
                      <a:pPr indent="0" marL="0">
                        <a:buNone/>
                      </a:pPr>
                      <a:r>
                        <a:rPr lang="en-US" sz="1400" baseline="-40000" dirty="0">
                          <a:solidFill>
                            <a:srgbClr val="18212B"/>
                          </a:solidFill>
                        </a:rPr>
                        <a:t>fit</a:t>
                      </a:r>
                      <a:pPr indent="0" marL="0">
                        <a:buNone/>
                      </a:pPr>
                      <a:r>
                        <a:rPr lang="en-US" sz="1400" dirty="0">
                          <a:solidFill>
                            <a:srgbClr val="18212B"/>
                          </a:solidFill>
                        </a:rPr>
                        <a:t>, c</a:t>
                      </a:r>
                      <a:pPr indent="0" marL="0">
                        <a:buNone/>
                      </a:pPr>
                      <a:r>
                        <a:rPr lang="en-US" sz="1400" baseline="-40000" dirty="0">
                          <a:solidFill>
                            <a:srgbClr val="18212B"/>
                          </a:solidFill>
                        </a:rPr>
                        <a:t>pred</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cost to fit the surrogate, cost per prediction</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k</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verification runs of the original model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count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bl>
          </a:graphicData>
        </a:graphic>
      </p:graphicFrame>
      <p:sp>
        <p:nvSpPr>
          <p:cNvPr id="8" name="math-card"/>
          <p:cNvSpPr/>
          <p:nvPr/>
        </p:nvSpPr>
        <p:spPr>
          <a:xfrm>
            <a:off x="1143000" y="5157216"/>
            <a:ext cx="10500055" cy="584200"/>
          </a:xfrm>
          <a:prstGeom prst="roundRect">
            <a:avLst>
              <a:gd name="adj" fmla="val 18783"/>
            </a:avLst>
          </a:prstGeom>
          <a:solidFill>
            <a:schemeClr val="bg2"/>
          </a:solidFill>
          <a:ln w="12700">
            <a:solidFill>
              <a:schemeClr val="bg2">
                <a:alpha val="30000"/>
              </a:schemeClr>
            </a:solidFill>
            <a:prstDash val="solid"/>
          </a:ln>
        </p:spPr>
      </p:sp>
      <p:sp>
        <p:nvSpPr>
          <p:cNvPr id="9" name="math-text"/>
          <p:cNvSpPr txBox="1"/>
          <p:nvPr/>
        </p:nvSpPr>
        <p:spPr>
          <a:xfrm>
            <a:off x="1234440" y="5202936"/>
            <a:ext cx="10408615" cy="492760"/>
          </a:xfrm>
          <a:prstGeom prst="rect">
            <a:avLst/>
          </a:prstGeom>
          <a:noFill/>
          <a:ln/>
        </p:spPr>
        <p:txBody>
          <a:bodyPr wrap="square" lIns="1270" tIns="1270" rIns="1270" bIns="1270" rtlCol="0" anchor="ctr"/>
          <a:lstStyle/>
          <a:p>
            <a:pPr indent="0" marL="0">
              <a:buNone/>
            </a:pPr>
            <a:r>
              <a:rPr lang="en-US" sz="2000" dirty="0">
                <a:solidFill>
                  <a:schemeClr val="tx1"/>
                </a:solidFill>
              </a:rPr>
              <a:t>A surrogate pays off when </a:t>
            </a:r>
            <a:pPr indent="0" marL="0">
              <a:buNone/>
            </a:pPr>
            <a:r>
              <a:rPr lang="en-US" sz="2000" i="1" dirty="0">
                <a:solidFill>
                  <a:schemeClr val="tx1"/>
                </a:solidFill>
              </a:rPr>
              <a:t>n</a:t>
            </a:r>
            <a:pPr indent="0" marL="0">
              <a:buNone/>
            </a:pPr>
            <a:r>
              <a:rPr lang="en-US" sz="2000" dirty="0">
                <a:solidFill>
                  <a:schemeClr val="tx1"/>
                </a:solidFill>
              </a:rPr>
              <a:t> + </a:t>
            </a:r>
            <a:pPr indent="0" marL="0">
              <a:buNone/>
            </a:pPr>
            <a:r>
              <a:rPr lang="en-US" sz="2000" i="1" dirty="0">
                <a:solidFill>
                  <a:schemeClr val="tx1"/>
                </a:solidFill>
              </a:rPr>
              <a:t>k</a:t>
            </a:r>
            <a:pPr indent="0" marL="0">
              <a:buNone/>
            </a:pPr>
            <a:r>
              <a:rPr lang="en-US" sz="2000" dirty="0">
                <a:solidFill>
                  <a:schemeClr val="tx1"/>
                </a:solidFill>
              </a:rPr>
              <a:t> ≪ </a:t>
            </a:r>
            <a:pPr indent="0" marL="0">
              <a:buNone/>
            </a:pPr>
            <a:r>
              <a:rPr lang="en-US" sz="2000" i="1" dirty="0">
                <a:solidFill>
                  <a:schemeClr val="tx1"/>
                </a:solidFill>
              </a:rPr>
              <a:t>M</a:t>
            </a:r>
            <a:pPr indent="0" marL="0">
              <a:buNone/>
            </a:pPr>
            <a:r>
              <a:rPr lang="en-US" sz="2000" dirty="0">
                <a:solidFill>
                  <a:schemeClr val="tx1"/>
                </a:solidFill>
              </a:rPr>
              <a:t> and </a:t>
            </a:r>
            <a:pPr indent="0" marL="0">
              <a:buNone/>
            </a:pPr>
            <a:r>
              <a:rPr lang="en-US" sz="2000" i="1" dirty="0">
                <a:solidFill>
                  <a:schemeClr val="tx1"/>
                </a:solidFill>
              </a:rPr>
              <a:t>c</a:t>
            </a:r>
            <a:pPr indent="0" marL="0">
              <a:buNone/>
            </a:pPr>
            <a:r>
              <a:rPr lang="en-US" sz="2000" baseline="-40000" dirty="0">
                <a:solidFill>
                  <a:schemeClr val="tx1"/>
                </a:solidFill>
              </a:rPr>
              <a:t>pred</a:t>
            </a:r>
            <a:pPr indent="0" marL="0">
              <a:buNone/>
            </a:pPr>
            <a:r>
              <a:rPr lang="en-US" sz="2000" dirty="0">
                <a:solidFill>
                  <a:schemeClr val="tx1"/>
                </a:solidFill>
              </a:rPr>
              <a:t> ≪ </a:t>
            </a:r>
            <a:pPr indent="0" marL="0">
              <a:buNone/>
            </a:pPr>
            <a:r>
              <a:rPr lang="en-US" sz="2000" i="1" dirty="0">
                <a:solidFill>
                  <a:schemeClr val="tx1"/>
                </a:solidFill>
              </a:rPr>
              <a:t>c</a:t>
            </a:r>
            <a:pPr indent="0" marL="0">
              <a:buNone/>
            </a:pPr>
            <a:r>
              <a:rPr lang="en-US" sz="2000" baseline="-40000" dirty="0">
                <a:solidFill>
                  <a:schemeClr val="tx1"/>
                </a:solidFill>
              </a:rPr>
              <a:t>sim</a:t>
            </a:r>
            <a:pPr indent="0" marL="0">
              <a:buNone/>
            </a:pPr>
            <a:r>
              <a:rPr lang="en-US" sz="2000" dirty="0">
                <a:solidFill>
                  <a:schemeClr val="tx1"/>
                </a:solidFill>
              </a:rPr>
              <a: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200" b="1" dirty="0">
                <a:solidFill>
                  <a:schemeClr val="tx2"/>
                </a:solidFill>
              </a:rPr>
              <a:t>When a physics model or simple numerical method is preferable</a:t>
            </a:r>
            <a:endParaRPr lang="en-US" sz="2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Sizing a shaft for torsion uses τ = </a:t>
            </a:r>
            <a:pPr indent="0" marL="0">
              <a:spcAft>
                <a:spcPts val="600"/>
              </a:spcAft>
              <a:buNone/>
            </a:pPr>
            <a:r>
              <a:rPr lang="en-US" sz="2000" i="1" dirty="0">
                <a:solidFill>
                  <a:schemeClr val="tx1"/>
                </a:solidFill>
              </a:rPr>
              <a:t>T r</a:t>
            </a:r>
            <a:pPr indent="0" marL="0">
              <a:spcAft>
                <a:spcPts val="600"/>
              </a:spcAft>
              <a:buNone/>
            </a:pPr>
            <a:r>
              <a:rPr lang="en-US" sz="2000" dirty="0">
                <a:solidFill>
                  <a:schemeClr val="tx1"/>
                </a:solidFill>
              </a:rPr>
              <a:t>/</a:t>
            </a:r>
            <a:pPr indent="0" marL="0">
              <a:spcAft>
                <a:spcPts val="600"/>
              </a:spcAft>
              <a:buNone/>
            </a:pPr>
            <a:r>
              <a:rPr lang="en-US" sz="2000" i="1" dirty="0">
                <a:solidFill>
                  <a:schemeClr val="tx1"/>
                </a:solidFill>
              </a:rPr>
              <a:t>J</a:t>
            </a:r>
            <a:pPr indent="0" marL="0">
              <a:spcAft>
                <a:spcPts val="600"/>
              </a:spcAft>
              <a:buNone/>
            </a:pPr>
            <a:r>
              <a:rPr lang="en-US" sz="2000" dirty="0">
                <a:solidFill>
                  <a:schemeClr val="tx1"/>
                </a:solidFill>
              </a:rPr>
              <a:t> — instant and exact enough; ML would be pointless. Optimizing the 3-D shape of a turbine blade with CFD costing hours per run is a classic surrogate application.</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Before proposing ML, write down the time per evaluation of your trusted model and how many evaluations your study needs. If the product is small, skip ML.</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An optimizer needs M = 2 000 evaluations. Each CFD run costs 1 h. A surrogate needs n = 40 training runs and k = 5 verification runs. Roughly how many CFD hours does the surrogate route need?</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An optimizer needs M = 2 000 evaluations. Each CFD run costs 1 h. A surrogate needs n = 40 training runs and k = 5 verification runs. Roughly how many CFD hours does the surrogate route need?</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About 45 h (40 + 5), versus 2 000 h directly — if the surrogate is accurate enough. The fitting and prediction cost is negligible by comparison.</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What AI, ML, deep learning and generative AI mean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200" b="1" dirty="0">
                <a:solidFill>
                  <a:schemeClr val="tx2"/>
                </a:solidFill>
              </a:rPr>
              <a:t>When a physics model or simple numerical method is preferable</a:t>
            </a:r>
            <a:endParaRPr lang="en-US" sz="2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If ML is faster, it is always better.</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Speed is useless without adequate accuracy where it matters. If the physics model is already fast and validated, use it.</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Use ML surrogates when trusted evaluations are expensive and many are needed; otherwise prefer the physics model.</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1700" b="1" dirty="0">
                <a:solidFill>
                  <a:schemeClr val="tx2"/>
                </a:solidFill>
              </a:rPr>
              <a:t>A family of ideas, not one technology</a:t>
            </a:r>
            <a:endParaRPr lang="en-US" sz="1700" dirty="0"/>
          </a:p>
          <a:p>
            <a:pPr indent="0" marL="0">
              <a:buNone/>
            </a:pPr>
            <a:r>
              <a:rPr lang="en-US" sz="1700" dirty="0">
                <a:solidFill>
                  <a:schemeClr val="tx1"/>
                </a:solidFill>
              </a:rPr>
              <a:t>AI ⊃ ML ⊃ deep learning ⊃ generative AI. Numerical solvers are not AI; they are the expensive models that surrogates approximate.</a:t>
            </a:r>
            <a:endParaRPr lang="en-US" sz="1700" dirty="0"/>
          </a:p>
        </p:txBody>
      </p:sp>
      <p:sp>
        <p:nvSpPr>
          <p:cNvPr id="8" name="takeaway-2"/>
          <p:cNvSpPr/>
          <p:nvPr/>
        </p:nvSpPr>
        <p:spPr>
          <a:xfrm>
            <a:off x="6255868"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9" name="Text 6"/>
          <p:cNvSpPr txBox="1"/>
          <p:nvPr/>
        </p:nvSpPr>
        <p:spPr>
          <a:xfrm>
            <a:off x="6420460"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6941668" y="1719072"/>
            <a:ext cx="4564228" cy="1956816"/>
          </a:xfrm>
          <a:prstGeom prst="rect">
            <a:avLst/>
          </a:prstGeom>
          <a:noFill/>
          <a:ln/>
        </p:spPr>
        <p:txBody>
          <a:bodyPr wrap="square" lIns="254" tIns="254" rIns="254" bIns="254" rtlCol="0" anchor="ctr"/>
          <a:lstStyle/>
          <a:p>
            <a:pPr indent="0" marL="0">
              <a:buNone/>
            </a:pPr>
            <a:r>
              <a:rPr lang="en-US" sz="1700" b="1" dirty="0">
                <a:solidFill>
                  <a:schemeClr val="tx2"/>
                </a:solidFill>
              </a:rPr>
              <a:t>When a physics model or simple numerical method is preferable</a:t>
            </a:r>
            <a:endParaRPr lang="en-US" sz="1700" dirty="0"/>
          </a:p>
          <a:p>
            <a:pPr indent="0" marL="0">
              <a:buNone/>
            </a:pPr>
            <a:r>
              <a:rPr lang="en-US" sz="1700" dirty="0">
                <a:solidFill>
                  <a:schemeClr val="tx1"/>
                </a:solidFill>
              </a:rPr>
              <a:t>Use ML surrogates when trusted evaluations are expensive and many are needed; otherwise prefer the physics model.</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1.2</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Learning from examples, and three kinds of learning</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 Lesson 2.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Lesson 1: What AI, ML, deep learning and generative AI mean</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