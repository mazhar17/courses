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a2882f3-85bb-62f3-a1b5-99af294626c9}">
          <p14:sldIdLst>
            <p14:sldId id="256"/>
          </p14:sldIdLst>
        </p14:section>
        <p14:section name="Lesson 2: Lists, arrays, functions, tables and plots" id="{a559f487-abcb-4baa-eb3c-c2f8cf4f4dca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ummary" id="{33aecacf-98ef-6427-7095-ca979f5c91ab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2, Lesson 2 of the self-paced course Machine Learning Fundamentals for Surrogate-Based Engineering Optimization: Lists, arrays, functions, tables and plots. This lesson belongs to the module Python and Jupyter foundations and takes about 10 minutes. In this lesson: The data structures you will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structures you will use. A Python list is an ordered collection: [0.8, 1.2, 1.6]. A NumPy array is a fast, numerical grid supporting element-wise arithmetic: s * 1e-3 converts every value to metres at once. A pandas DataFrame is a table with named columns. A function packages a calculation so it can be reused: heat_sink(s_mm, t_mm). Look at the figure. Shapes of a 1-D array (n,), a 2-D feature array (n, d), a target vector, and a pandas table. Five cells in a row labelled 1-D array shape (5,); a 5 by 2 grid labelled 2-D array X shape (5, 2) rows are samples; a 5 by 1 column labelled target y; and a small table with columns s_mm, t_mm, R_KperW.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Array shape is written (rows, columns). scikit-learn expects features X with shape (n, d) and targets y with shape (n,). (The code listing is shown on the slide: import numpy as np; import pandas as pd; import matplotlib.pyplot as plt; s = np.array([0.8, 1.2, 1.6, 2.0, 2.4, 2.8])       # fin gaps, mm (1-D array, shape (6,)); t = np.full_like(s, 0.6)                           # same thickness for all, mm; X = np.column_stack([s, t])                        # 2-D array, shape (6, 2); df = pd.DataFrame({"s_mm": s, "t_mm": t})          # table with named columns; print(X.shape, df.shape); df.head())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Continuing. A function bundles the heat-sink model (this exact code appears in every lab): (The code listing is shown on the slide: def heat_sink(s_mm, t_mm):; """Pedagogical plate-fin heat-sink model. Inputs in mm.; Returns thermal resistance R (K/W), mass (kg) and air temperature rise (K)."""; W, L, H, tb = 0.050, 0.050, 0.040, 0.004          # m; ks, rho_al = 150.0, 2700.0                         # W/(m K), kg/m^3; rho, mu, cp, ka = 1.16, 1.85e-5, 1007.0, 0.026     # air properties; dp, Q, Nu = 5.0, 30.0, 7.54                        # Pa, W, -; s, t = s_mm * 1e-3, t_mm * 1e-3                    # mm -&gt; m  (check units!); N = W / (s + t); u = dp * s**2 / (12 * mu * L); mdot = rho * u * s * H * N; h = Nu * ka / (2 * s); m = np.sqrt(2 * h / (ks * t)); eta = np.tanh(m * H) / (m * H); UA = h * N * L * (2 * H * eta + s); NTU = UA / (mdot * cp); R = 1 / (mdot * cp * (1 - np.exp(-NTU))) + tb / (ks * W * L); mass = rho_al * (N * t * H * L + W * L * tb); dT_air = Q / (mdot * cp); return {"R": R, "mass": mass, "dT_air": dT_air}; print(heat_sink(2.0, 0.8)))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Because heat_sink uses NumPy operations, it accepts arrays: heat_sink(np.array([1.0, 2.0]), np.array([0.5, 0.5])) evaluates two designs at once — this “vectorization” makes sampling studies fast. A practical tip: Print .shape often. Most beginner errors in ML code are shape mismatches.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If s has shape (6,) and you build X = np.column_stack([s, t]), what is X.shape?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(6, 2): six samples (rows), two features (columns).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A 1-D array of shape (6,) is the same as a 2-D column of shape (6, 1). In fact: They hold the same numbers but scikit-learn treats them differently. Features must be 2-D; use X = s.reshape(-1, 1) for one feature. The takeaway: Lists hold items; arrays do fast maths; DataFrames hold named tables; functions package reusable calculations. Check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The data structures you will use: Lists hold items; arrays do fast maths; DataFrames hold named tables; functions package reusable calculations. Check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2 of Module 2: Lists, arrays, functions, tables and plots. Next comes Lesson 3: NumPy, pandas, matplotlib, scikit-learn — and reproducible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2, Lesson 2 · Lists, arrays, functions, tables and plots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2, Lesson 2 · Lists, arrays, functions, tables and plots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02 · LESSON 2 OF 4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Lists, arrays, functions, tables and plots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2: Python and Jupyter foundations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The data structures you will use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2.2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Lists, arrays, functions, tables and plots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data structures you will use</a:t>
            </a:r>
            <a:endParaRPr lang="en-US" sz="3200" dirty="0"/>
          </a:p>
        </p:txBody>
      </p:sp>
      <p:sp>
        <p:nvSpPr>
          <p:cNvPr id="5" name="icon-bg-intu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1572768"/>
            <a:ext cx="10408615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Python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list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is an ordered collection: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[0.8, 1.2, 1.6]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. A NumPy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array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is a fast, numerical grid supporting element-wise arithmetic: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* 1e-3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converts every value to metres at once. A pandas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DataFrame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is a table with named columns. 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function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packages a calculation so it can be reused: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heat_sink(s_mm, t_mm)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pic>
        <p:nvPicPr>
          <p:cNvPr id="8" name="figure" descr="Five cells in a row labelled 1-D array shape (5,); a 5 by 2 grid labelled 2-D array X shape (5, 2) rows are samples; a 5 by 1 column labelled target y; and a small table with columns s_mm, t_mm, R_KperW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110" y="2743200"/>
            <a:ext cx="9333474" cy="2880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Shapes of a 1-D array (n,), a 2-D feature array (n, d), a target vector, and a pandas table.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Lists, arrays, functions, tables and plots · The mathematics (1/2)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data structures you will use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3598672"/>
          </a:xfrm>
          <a:prstGeom prst="roundRect">
            <a:avLst>
              <a:gd name="adj" fmla="val 3049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350723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Array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shape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is written (rows, columns). scikit-learn expects features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with shape (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) and targets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with shape (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np.array([0.8, 1.2, 1.6, 2.0, 2.4, 2.8])       # fin gaps, mm (1-D array, shape (6,))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np.full_like(s, 0.6)                           # same thickness for all, mm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np.column_stack([s, t])                        # 2-D array, shape (6, 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pd.DataFrame({"s_mm": s, "t_mm": t})          # table with named columns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print(X.shape, df.shape)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Lists, arrays, functions, tables and plots · The mathematics (2/2)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data structures you will use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4295902"/>
          </a:xfrm>
          <a:prstGeom prst="roundRect">
            <a:avLst>
              <a:gd name="adj" fmla="val 2554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420446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 function bundles the heat-sink model (this exact code appears in every lab):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heat_sink(s_mm, t_mm):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"""Pedagogical plate-fin heat-sink model. Inputs in mm.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 thermal resistance R (K/W), mass (kg) and air temperature rise (K)."""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W, L, H, tb = 0.050, 0.050, 0.040, 0.004          #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ks, rho_al = 150.0, 2700.0                         # W/(m K), kg/m^3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rho, mu, cp, ka = 1.16, 1.85e-5, 1007.0, 0.026     # air properties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dp, Q, Nu = 5.0, 30.0, 7.54                        # Pa, W, 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s, t = s_mm * 1e-3, t_mm * 1e-3                    # mm -&gt; m  (check units!)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W / (s + 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 = dp * s**2 / (12 * mu * 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mdot = rho * u * s * H * 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Nu * ka / (2 * 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np.sqrt(2 * h / (ks * t))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eta = np.tanh(m * H) / (m * 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UA = h * N * L * (2 * H * eta + 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NTU = UA / (mdot * cp)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1 / (mdot * cp * (1 - np.exp(-NTU))) + tb / (ks * W * 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mass = rho_al * (N * t * H * L + W * L * tb)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dT_air = Q / (mdot * cp)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{"R": R, "mass": mass, "dT_air": dT_air}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print(heat_sink(2.0, 0.8))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Lists, arrays, functions, tables and plots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data structures you will use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Because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heat_sink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uses NumPy operations, it accepts arrays: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heat_sink(np.array([1.0, 2.0]), np.array([0.5, 0.5]))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evaluates two designs at once — this “vectorization” makes sampling studies fast.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Print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.shape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often. Most beginner errors in ML code are shape mismatches.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Lists, arrays, functions, tables and plots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If 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 has shape (6,) and you build 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np.column_stack([s, t])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, what is 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X.shape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Lists, arrays, functions, tables and plots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If s has shape (6,) and you build X = np.column_stack([s, t]), what is X.shape?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(6, 2): six samples (rows), two features (columns).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Lists, arrays, functions, tables and plots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data structures you will use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 1-D array of shape (6,) is the same as a 2-D column of shape (6, 1).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They hold the same numbers but scikit-learn treats them differently. Features must be 2-D; use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s.reshape(-1, 1)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for one feature.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Lists hold items; arrays do fast maths; DataFrames hold named tables; functions package reusable calculations. Check shapes.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data structures you will use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Lists hold items; arrays do fast maths; DataFrames hold named tables; functions package reusable calculations. Check shapes.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2.3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NumPy, pandas, matplotlib, scikit-learn — and reproducible seeds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2: Lesson 3.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2, Lesson 2: Lists, arrays, functions, tables and plots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2026-10-07T01:12:30Z</dcterms:created>
  <dcterms:modified xsi:type="dcterms:W3CDTF">2026-10-07T01:12:30Z</dcterms:modified>
</cp:coreProperties>
</file>