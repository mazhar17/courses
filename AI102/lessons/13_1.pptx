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b27e4cb-54ec-3ca4-eb4b-4c0bff5bf3ef}">
          <p14:sldIdLst>
            <p14:sldId id="256"/>
          </p14:sldIdLst>
        </p14:section>
        <p14:section name="Lesson 1: Provenance: seeds, versions, units and budgets" id="{485a0dae-2a88-8054-486e-a06a17da1e96}">
          <p14:sldIdLst>
            <p14:sldId id="257"/>
            <p14:sldId id="258"/>
            <p14:sldId id="259"/>
            <p14:sldId id="260"/>
            <p14:sldId id="261"/>
            <p14:sldId id="262"/>
          </p14:sldIdLst>
        </p14:section>
        <p14:section name="Summary" id="{04899a5a-0f26-9424-b4e6-ac2208fb1da8}">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13, Lesson 1 of the self-paced course Machine Learning Fundamentals for Surrogate-Based Engineering Optimization: Provenance: seeds, versions, units and budgets. This lesson belongs to the module Reproducible engineering research and takes about 10 minutes. In this lesson: Leave a trail someone else can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a trail someone else can follow. Provenance is the record of where every number came from: which model (and version), which sampling plan (method, seed, bounds), which data file (units, date), which code and package versions, and how many expensive evaluations were spent. Missing links make results unverifiable. Look at the figure. The provenance chain from model to results. Five linked boxes: model/experiment with version and assumptions; sampling plan with method, seed and bounds; data file with units, date and hash; code and environment with package versions; results with verified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A minimal reproducibility record (example): (The code listing is shown on the slide: model:        pedagogical plate-fin heat sink v1.0 (course notebook, Q = 30 W, dp = 5 Pa); variables:    s_mm in [0.8, 3.0], t_mm in [0.2, 1.5]; scaled by bounds; sampling:     scipy.stats.qmc.LatinHypercube(d=2, seed=7), n = 12; surrogate:    sklearn GaussianProcessRegressor(ConstantKernel*RBF(ls=[.3,.3]), normalize_y=True, n_restarts=5, random_state=0) on log10(R); optimizer:    SLSQP, 20 multi-starts (seed 0), exact mass, GP for log10(dT_air); budget:       12 initial + 8 infill = 20 original-model evaluations; environment:  Python 3.12, numpy 2.x, scipy 1.x, scikit-learn 1.x (print exact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A reviewer of a CFD-surrogate paper should be able to regenerate the sample plan from the seed, check the units of every column, and count the CFD runs. The same discipline applies to a lab report. A practical tip: Print versions and the full configuration in the first cells of every notebook; save data with units in column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Your notebook uses np.random.rand() without a seed to create the initial design. What is lost?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The ability to regenerate the exact designs and therefore the exact results; reviewers cannot distinguish method effects from sampling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Saving the final plot is enough documentation. In fact: Plots show results, not how to regenerate them. Record inputs, seeds, versions and budgets. The takeaway: Record model, sampling (with seed), data units, code versions and evaluation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Leave a trail someone else can follow: Record model, sampling (with seed), data units, code versions and evaluation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1 of Module 13: Provenance: seeds, versions, units and budgets. Next comes Lesson 2: Baselines, fair comparisons, repeated experiments and variability.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13, Lesson 1 · Provenance: seeds, versions, units and budgets</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13, Lesson 1 · Provenance: seeds, versions, units and budgets</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13 · LESSON 1 OF 3 · ≈ 10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Provenance: seeds, versions, units and budgets</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13: Reproducible engineering research</a:t>
            </a:r>
            <a:endParaRPr lang="en-US" sz="1800" dirty="0"/>
          </a:p>
          <a:p>
            <a:pPr marL="342900" indent="-342900">
              <a:buSzPct val="100000"/>
              <a:buChar char="•"/>
            </a:pPr>
            <a:r>
              <a:rPr lang="en-US" sz="1800" dirty="0">
                <a:solidFill>
                  <a:srgbClr val="D6E2F0"/>
                </a:solidFill>
              </a:rPr>
              <a:t>Leave a trail someone else can follow</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13.1</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Provenance: seeds, versions, units and budgets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Leave a trail someone else can follow</a:t>
            </a:r>
            <a:endParaRPr lang="en-US" sz="3200" dirty="0"/>
          </a:p>
        </p:txBody>
      </p:sp>
      <p:sp>
        <p:nvSpPr>
          <p:cNvPr id="5" name="icon-bg-intu"/>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intu"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text"/>
          <p:cNvSpPr txBox="1"/>
          <p:nvPr/>
        </p:nvSpPr>
        <p:spPr>
          <a:xfrm>
            <a:off x="1188720" y="1572768"/>
            <a:ext cx="10408615" cy="1005840"/>
          </a:xfrm>
          <a:prstGeom prst="rect">
            <a:avLst/>
          </a:prstGeom>
          <a:noFill/>
          <a:ln/>
        </p:spPr>
        <p:txBody>
          <a:bodyPr wrap="square" lIns="1270" tIns="1270" rIns="1270" bIns="1270" rtlCol="0" anchor="t"/>
          <a:lstStyle/>
          <a:p>
            <a:pPr indent="0" marL="0">
              <a:spcAft>
                <a:spcPts val="600"/>
              </a:spcAft>
              <a:buNone/>
            </a:pPr>
            <a:r>
              <a:rPr lang="en-US" sz="1600" b="1" dirty="0">
                <a:solidFill>
                  <a:schemeClr val="tx1"/>
                </a:solidFill>
              </a:rPr>
              <a:t>Provenance</a:t>
            </a:r>
            <a:pPr indent="0" marL="0">
              <a:spcAft>
                <a:spcPts val="600"/>
              </a:spcAft>
              <a:buNone/>
            </a:pPr>
            <a:r>
              <a:rPr lang="en-US" sz="1600" dirty="0">
                <a:solidFill>
                  <a:schemeClr val="tx1"/>
                </a:solidFill>
              </a:rPr>
              <a:t> is the record of where every number came from: which model (and version), which sampling plan (method, seed, bounds), which data file (units, date), which code and package versions, and how many expensive evaluations were spent. Missing links make results unverifiable.</a:t>
            </a:r>
            <a:endParaRPr lang="en-US" sz="1600" dirty="0"/>
          </a:p>
        </p:txBody>
      </p:sp>
      <p:pic>
        <p:nvPicPr>
          <p:cNvPr id="8" name="figure" descr="Five linked boxes: model/experiment with version and assumptions; sampling plan with method, seed and bounds; data file with units, date and hash; code and environment with package versions; results with verified values.">    </p:cNvPr>
          <p:cNvPicPr>
            <a:picLocks noChangeAspect="1"/>
          </p:cNvPicPr>
          <p:nvPr/>
        </p:nvPicPr>
        <p:blipFill>
          <a:blip r:embed="rId2"/>
          <a:stretch>
            <a:fillRect/>
          </a:stretch>
        </p:blipFill>
        <p:spPr>
          <a:xfrm>
            <a:off x="548640" y="2743200"/>
            <a:ext cx="11094415" cy="2798295"/>
          </a:xfrm>
          <a:prstGeom prst="rect">
            <a:avLst/>
          </a:prstGeom>
        </p:spPr>
      </p:pic>
      <p:sp>
        <p:nvSpPr>
          <p:cNvPr id="9" name="Text 4"/>
          <p:cNvSpPr txBox="1"/>
          <p:nvPr/>
        </p:nvSpPr>
        <p:spPr>
          <a:xfrm>
            <a:off x="548640" y="5587215"/>
            <a:ext cx="11094415" cy="384048"/>
          </a:xfrm>
          <a:prstGeom prst="rect">
            <a:avLst/>
          </a:prstGeom>
          <a:noFill/>
          <a:ln/>
        </p:spPr>
        <p:txBody>
          <a:bodyPr wrap="square" lIns="0" tIns="0" rIns="0" bIns="0" rtlCol="0" anchor="ctr"/>
          <a:lstStyle/>
          <a:p>
            <a:pPr algn="ctr" indent="0" marL="0">
              <a:buNone/>
            </a:pPr>
            <a:r>
              <a:rPr lang="en-US" sz="1200" i="1" dirty="0">
                <a:solidFill>
                  <a:srgbClr val="46525F"/>
                </a:solidFill>
              </a:rPr>
              <a:t>The provenance chain from model to results.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Provenance: seeds, versions, units and budgets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Leave a trail someone else can follow</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3102864"/>
          </a:xfrm>
          <a:prstGeom prst="roundRect">
            <a:avLst>
              <a:gd name="adj" fmla="val 3536"/>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3011424"/>
          </a:xfrm>
          <a:prstGeom prst="rect">
            <a:avLst/>
          </a:prstGeom>
          <a:noFill/>
          <a:ln/>
        </p:spPr>
        <p:txBody>
          <a:bodyPr wrap="square" lIns="1270" tIns="1270" rIns="1270" bIns="1270" rtlCol="0" anchor="ctr"/>
          <a:lstStyle/>
          <a:p>
            <a:pPr indent="0" marL="0">
              <a:spcAft>
                <a:spcPts val="800"/>
              </a:spcAft>
              <a:buNone/>
            </a:pPr>
            <a:r>
              <a:rPr lang="en-US" sz="1600" dirty="0">
                <a:solidFill>
                  <a:schemeClr val="tx1"/>
                </a:solidFill>
              </a:rPr>
              <a:t>A minimal reproducibility record (example):</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model:        pedagogical plate-fin heat sink v1.0 (course notebook, Q = 30 W, dp = 5 Pa)</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variables:    s_mm in [0.8, 3.0], t_mm in [0.2, 1.5]; scaled by bounds</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sampling:     scipy.stats.qmc.LatinHypercube(d=2, seed=7), n = 12</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surrogate:    sklearn GaussianProcessRegressor(ConstantKernel*RBF(ls=[.3,.3]), normalize_y=True, n_restarts=5, random_state=0) on log10(R)</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optimizer:    SLSQP, 20 multi-starts (seed 0), exact mass, GP for log10(dT_air)</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budget:       12 initial + 8 infill = 20 original-model evaluations</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environment:  Python 3.12, numpy 2.x, scipy 1.x, scikit-learn 1.x (print exact versions)</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Provenance: seeds, versions, units and budgets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Leave a trail someone else can follow</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A reviewer of a CFD-surrogate paper should be able to regenerate the sample plan from the seed, check the units of every column, and count the CFD runs. The same discipline applies to a lab report.</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Print versions and the full configuration in the first cells of every notebook; save data with units in column names.</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Provenance: seeds, versions, units and budgets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Your notebook uses </a:t>
            </a:r>
            <a:pPr indent="0" marL="0">
              <a:spcAft>
                <a:spcPts val="600"/>
              </a:spcAft>
              <a:buNone/>
            </a:pPr>
            <a:r>
              <a:rPr lang="en-US" sz="2800" dirty="0">
                <a:solidFill>
                  <a:schemeClr val="tx1"/>
                </a:solidFill>
                <a:latin typeface="Courier New" pitchFamily="34" charset="0"/>
                <a:ea typeface="Courier New" pitchFamily="34" charset="-122"/>
                <a:cs typeface="Courier New" pitchFamily="34" charset="-120"/>
              </a:rPr>
              <a:t>np.random.rand()</a:t>
            </a:r>
            <a:pPr indent="0" marL="0">
              <a:spcAft>
                <a:spcPts val="600"/>
              </a:spcAft>
              <a:buNone/>
            </a:pPr>
            <a:r>
              <a:rPr lang="en-US" sz="2800" dirty="0">
                <a:solidFill>
                  <a:schemeClr val="tx1"/>
                </a:solidFill>
              </a:rPr>
              <a:t> without a seed to create the initial design. What is lost?</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Provenance: seeds, versions, units and budgets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Your notebook uses np.random.rand() without a seed to create the initial design. What is lost?</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The ability to regenerate the exact designs and therefore the exact results; reviewers cannot distinguish method effects from sampling luck.</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Provenance: seeds, versions, units and budgets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Leave a trail someone else can follow</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Saving the final plot is enough documentation.</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Plots show results, not how to regenerate them. Record inputs, seeds, versions and budgets.</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Record model, sampling (with seed), data units, code versions and evaluation counts.</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2100" b="1" dirty="0">
                <a:solidFill>
                  <a:schemeClr val="tx2"/>
                </a:solidFill>
              </a:rPr>
              <a:t>Leave a trail someone else can follow</a:t>
            </a:r>
            <a:endParaRPr lang="en-US" sz="2100" dirty="0"/>
          </a:p>
          <a:p>
            <a:pPr indent="0" marL="0">
              <a:buNone/>
            </a:pPr>
            <a:r>
              <a:rPr lang="en-US" sz="2100" dirty="0">
                <a:solidFill>
                  <a:schemeClr val="tx1"/>
                </a:solidFill>
              </a:rPr>
              <a:t>Record model, sampling (with seed), data units, code versions and evaluation counts.</a:t>
            </a:r>
            <a:endParaRPr lang="en-US" sz="2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13.2</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Baselines, fair comparisons, repeated experiments and variability</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Next in Module 13: Lesson 2. Mark this lesson complete in the course before continuing.</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13, Lesson 1: Provenance: seeds, versions, units and budgets</dc:title>
  <dc:subject>Machine Learning Fundamentals for Surrogate-Based Engineering Optimization</dc:subject>
  <dc:creator>Prof. Mazharul Islam</dc:creator>
  <cp:lastModifiedBy>Prof. Mazharul Islam</cp:lastModifiedBy>
  <cp:revision>1</cp:revision>
  <dcterms:created xsi:type="dcterms:W3CDTF">2026-10-07T01:12:32Z</dcterms:created>
  <dcterms:modified xsi:type="dcterms:W3CDTF">2026-10-07T01:12:32Z</dcterms:modified>
</cp:coreProperties>
</file>