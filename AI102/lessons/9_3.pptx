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1366acf-0125-8663-7b4c-d7f062b7aa52}">
          <p14:sldIdLst>
            <p14:sldId id="256"/>
          </p14:sldIdLst>
        </p14:section>
        <p14:section name="Lesson 3: Noise versus limited knowledge, and a numerical example" id="{121830b4-cf2b-fdff-b8e9-730902ee558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Summary" id="{5a9c64f7-2f04-aa61-c98a-932559c1543b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9, Lesson 3 of the self-paced course Machine Learning Fundamentals for Surrogate-Based Engineering Optimization: Noise versus limited knowledge, and a numerical example. This lesson belongs to the module Gaussian processes and uncertainty and takes about 12 minutes. In this lesson: Two sources of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sources of uncertainty. Aleatory uncertainty (observation noise): repeat the experiment and you get a different value. Epistemic uncertainty (limited knowledge): you have not observed the function there yet; more samples reduce it. Deterministic simulators have (essentially) no noise, so GP uncertainty is epistemic. Experiments have both. The nugget term σ_n² lets the GP stop chasing noise. Look at the figure. The same noisy data fitted with a near-zero nugget (forced interpolation) and with a noise term. Two panels. Left: the GP mean passes through every noisy point, wiggling, with a narrow band at the points. Right: with a noise term, the mean is smoother and closer to the true curve and the band does not pinch to zero at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Worked example (noise-free, zero prior mean, σ_f = 1, ℓ = 0.5). Observations: y(0) = 1, y(1) = 0. Predict at x* = 0.5. 1. Kernel between the observations: k(0,1) = exp(−1²/(2·0.5²)) = e^{−2} = 0.1353. So K = [[1, 0.1353], [0.1353, 1]].
2. Kernel to the query: k(0, 0.5) = k(1, 0.5) = exp(−0.25/0.5) = e^{−0.5} = 0.6065.
3. α = K^{−1}y: det = 1 − 0.1353² = 0.9817; α = (1/det)·[1, −0.1353] = [1.0187, -0.1379].
4. Mean: μ(0.5) = 0.6065 × (1.0187 + (-0.1379)) = 0.5342.
5. Variance: σ² = 1 − k_*^TK^{−1}k_* = 1 − 2 × 0.6065² × (1 − 0.1353)/det = 0.3519, so σ = 0.5933.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Continuing. Interpretation: the GP mean is a covariance-weighted combination of the observations, μ(x*) = w^Ty with weights w = K^{−1}k_* = [0.5342, 0.5342]. By symmetry both observations get the same weight, but the weights are not required to sum to 1 (here they sum to 1.068), so the prediction is not an arithmetic average: μ(0.5) = 0.5342, slightly above 0.5. The weights depend on how strongly the query correlates with each observation (k_*) and how the observations correlate with each other (K). Far from all data the weights shrink towards 0 and μ returns to the prior mean. The uncertainty here is substantial because ℓ is comparable to the spacing.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Noisy experiments (AM porosity, machining roughness): include a noise term and estimate it, ideally checked against repeat tests. Deterministic CFD: use a tiny nugget for numerical stability only — but note that CFD can show small “numerical noise” from meshing and convergence, which a small fitted nugget can absorb. A practical tip: Report which uncertainty the GP represents (epistemic only, or including noise) and how hyperparameters were chosen. Uncertainty bands are model-dependent and are not guarantees.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Single observation y(0) = 2 with zero prior mean, σ_f = 1, ℓ = 1, no noise. What is μ(1)?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μ(1) = k(1,0)·y/k(0,0) = e^{−0.5} × 2 ≈ 1.213. The prediction decays toward the prior mean 0 with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wider uncertainty band means the simulator is noisier there. In fact: For deterministic simulators, the band reflects lack of data and model assumptions, not noise. The takeaway: Noise (aleatory) vs limited data (epistemic); GP bands reflect assumptions — verify and calibrate.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Two sources of uncertainty: Noise (aleatory) vs limited data (epistemic); GP bands reflect assumptions — verify and calibrate.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9: Noise versus limited knowledge, and a numerical example. This was the last lesson of the module, so review the flashcards and take the Module 9 quiz in the course. Next comes Module 10, Optimization foundations, starting with Objectives, bounds, constraints; minimization and maximization.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9, Lesson 3 · Noise versus limited knowledge, and a numerical example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9, Lesson 3 · Noise versus limited knowledge, and a numerical example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09 · LESSON 3 OF 3 · ≈ 12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Noise versus limited knowledge, and a numerical example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9: Gaussian processes and uncertainty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Two sources of uncertainty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9.3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sources of uncertainty</a:t>
            </a:r>
            <a:endParaRPr lang="en-US" sz="3200" dirty="0"/>
          </a:p>
        </p:txBody>
      </p:sp>
      <p:sp>
        <p:nvSpPr>
          <p:cNvPr id="5" name="icon-bg-intu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text"/>
          <p:cNvSpPr txBox="1"/>
          <p:nvPr/>
        </p:nvSpPr>
        <p:spPr>
          <a:xfrm>
            <a:off x="1188720" y="1572768"/>
            <a:ext cx="10408615" cy="1143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Aleatory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uncertainty (observation noise): repeat the experiment and you get a different value.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Epistemic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uncertainty (limited knowledge): you have not observed the function there yet; more samples reduce it. Deterministic simulators have (essentially) no noise, so GP uncertainty is epistemic. Experiments have both. The nugget term σ</a:t>
            </a:r>
            <a:pPr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chemeClr val="tx1"/>
                </a:solidFill>
              </a:rPr>
              <a:t>n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² lets the GP stop chasing noise.</a:t>
            </a:r>
            <a:endParaRPr lang="en-US" sz="1500" dirty="0"/>
          </a:p>
        </p:txBody>
      </p:sp>
      <p:pic>
        <p:nvPicPr>
          <p:cNvPr id="8" name="figure" descr="Two panels. Left: the GP mean passes through every noisy point, wiggling, with a narrow band at the points. Right: with a noise term, the mean is smoother and closer to the true curve and the band does not pinch to zero at the data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060" y="2880360"/>
            <a:ext cx="6375575" cy="27432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48640" y="5669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The same noisy data fitted with a near-zero nugget (forced interpolation) and with a noise term.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The mathematics (1/2)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sources of uncertainty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4191000"/>
          </a:xfrm>
          <a:prstGeom prst="roundRect">
            <a:avLst>
              <a:gd name="adj" fmla="val 2618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4099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Worked example (noise-free, zero prior mean, σ</a:t>
            </a:r>
            <a:pPr indent="0" marL="0">
              <a:buNone/>
            </a:pPr>
            <a:r>
              <a:rPr lang="en-US" sz="2000" b="1" baseline="-40000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 = 1, ℓ = 0.5).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Observations: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(0) = 1,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(1) = 0. Predict at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 = 0.5.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Kernel between the observations: k(0,1) = exp(−1²/(2·0.5²)) = e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0.1353. So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[[1, 0.1353], [0.1353, 1]].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Kernel to the query: k(0, 0.5) = k(1, 0.5) = exp(−0.25/0.5) = e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−0.5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0.6065.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000" b="1" dirty="0">
                <a:solidFill>
                  <a:schemeClr val="tx1"/>
                </a:solidFill>
              </a:rPr>
              <a:t>α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−1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: det = 1 − 0.1353² = 0.9817; α = (1/det)·[1, −0.1353] = [1.0187, -0.1379].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Mean: μ(0.5) = 0.6065 × (1.0187 + (-0.1379))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0.5342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</a:rPr>
              <a:t>Variance: σ² = 1 −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−1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1 − 2 × 0.6065² × (1 − 0.1353)/det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0.3519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, so σ = 0.5933.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The mathematics (2/2)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sources of uncertainty</a:t>
            </a:r>
            <a:endParaRPr lang="en-US" sz="32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2971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Interpretation: the GP mean is 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covariance-weighted combination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of the observations, μ(x*)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T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y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with weights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30000" dirty="0">
                <a:solidFill>
                  <a:schemeClr val="tx1"/>
                </a:solidFill>
              </a:rPr>
              <a:t>−1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[0.5342, 0.5342]. By symmetry both observations get the same weight, but the weights are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not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required to sum to 1 (here they sum to 1.068), so the prediction is not an arithmetic average: μ(0.5) = 0.5342, slightly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above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0.5. The weights depend on how strongly the query correlates with each observation (k</a:t>
            </a:r>
            <a:pPr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*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and how the observations correlate with each other (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). Far from all data the weights shrink towards 0 and μ returns to the prior mean. The uncertainty here is substantial because ℓ is comparable to the spacing.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sources of uncertainty</a:t>
            </a:r>
            <a:endParaRPr lang="en-US" sz="32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Noisy experiments (AM porosity, machining roughness): include a noise term and estimate it, ideally checked against repeat tests. Deterministic CFD: use a tiny nugget for numerical stability only — but note that CFD can show small “numerical noise” from meshing and convergence, which a small fitted nugget can absorb.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Report which uncertainty the GP represents (epistemic only, or including noise) and how hyperparameters were chosen. Uncertainty bands are model-dependent and are not guarantees.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Single observation y(0) = 2 with zero prior mean, σ</a:t>
            </a:r>
            <a:pPr indent="0" marL="0">
              <a:spcAft>
                <a:spcPts val="600"/>
              </a:spcAft>
              <a:buNone/>
            </a:pPr>
            <a:r>
              <a:rPr lang="en-US" sz="2800" baseline="-40000" dirty="0">
                <a:solidFill>
                  <a:schemeClr val="tx1"/>
                </a:solidFill>
              </a:rPr>
              <a:t>f</a:t>
            </a:r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 = 1, ℓ = 1, no noise. What is μ(1)?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Single observation y(0) = 2 with zero prior mean, σf = 1, ℓ = 1, no noise. What is μ(1)?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μ(1) = k(1,0)·y/k(0,0) = e</a:t>
            </a:r>
            <a:pPr indent="0" marL="0">
              <a:spcAft>
                <a:spcPts val="600"/>
              </a:spcAft>
              <a:buNone/>
            </a:pPr>
            <a:r>
              <a:rPr lang="en-US" sz="2600" baseline="30000" dirty="0">
                <a:solidFill>
                  <a:schemeClr val="tx1"/>
                </a:solidFill>
              </a:rPr>
              <a:t>−0.5</a:t>
            </a:r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 × 2 ≈ 1.213. The prediction decays toward the prior mean 0 with distance.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Noise versus limited knowledge, and a numerical example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sources of uncertainty</a:t>
            </a:r>
            <a:endParaRPr lang="en-US" sz="32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wider uncertainty band means the simulator is noisier there.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For deterministic simulators, the band reflects lack of data and model assumptions, not noise.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Noise (aleatory) vs limited data (epistemic); GP bands reflect assumptions — verify and calibrate.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Two sources of uncertainty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Noise (aleatory) vs limited data (epistemic); GP bands reflect assumptions — verify and calibrate.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10.1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Objectives, bounds, constraints; minimization and maximization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9. Before moving on, review the Module 9 flashcards and take its quiz in the course (pass mark 70%). Next: Module 10, Optimization foundations.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9, Lesson 3: Noise versus limited knowledge, and a numerical example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