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70443f-d981-9365-1684-894492fd4e45}">
          <p14:sldIdLst>
            <p14:sldId id="256"/>
          </p14:sldIdLst>
        </p14:section>
        <p14:section name="Lesson 4: The surrogate-assisted optimization workflow, and limitations" id="{489d8a65-f9c3-5687-01ba-7cb8f3d182ca}">
          <p14:sldIdLst>
            <p14:sldId id="257"/>
            <p14:sldId id="258"/>
            <p14:sldId id="259"/>
            <p14:sldId id="260"/>
            <p14:sldId id="261"/>
            <p14:sldId id="262"/>
            <p14:sldId id="263"/>
            <p14:sldId id="264"/>
            <p14:sldId id="265"/>
            <p14:sldId id="266"/>
            <p14:sldId id="267"/>
            <p14:sldId id="268"/>
          </p14:sldIdLst>
        </p14:section>
        <p14:section name="Summary" id="{8291b75e-0fa6-990d-50b2-ee10e79d0b15}">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6, Lesson 4 of the self-paced course Machine Learning Fundamentals for Surrogate-Based Engineering Optimization: The surrogate-assisted optimization workflow, and limitations. This lesson belongs to the module What engineering surrogates are and takes about 9 minutes. In this lesson: Fit → optimize → verify → update; Scientific limitations of simplified teaching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 → optimize → verify → update. The standard workflow: sample the design space; run the expensive model; fit a surrogate; optimize the cheap surrogate; verify the candidate with the expensive model; add the result to the data, refit, and repeat until a stopping rule is met. The verified results, not the predictions, are the evidence. Look at the figure. The sequential surrogate-based optimization loop. Cycle of six boxes: initial design sampling; run original model; fit or update surrogate; optimize surrogate or acquisition function; verify candidate with original model; stop or continue, adding the verified point to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x_{new} = arg min_x_{ ∈ feasible} f̂(x), evaluate f(x_{new}), 𝒟 ← 𝒟 ∪ {(x_{new}, f(x_{new}))}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An aerodynamic duct study might start with 20 CFD runs, then add 1–3 verified candidates per iteration for 10 iterations: 30–50 CFD runs in total instead of thousands. A practical tip: Budget verification runs from the start (e.g., 20–30% of the total evaluations).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After optimizing a surrogate, its predicted optimum is R̂ = 0.560 K/W. The verified value is 0.585 K/W. Which value goes in your report as the design’s performance?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The verified 0.585 K/W (with the prediction and its error reported too). The prediction is a hypothesis; the verification is evidence — about the model you verified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The surrogate’s optimum is the design’s performance. In fact: It is a prediction. Verification with the original model is mandatory. The takeaway: Surrogate-based optimization alternates cheap prediction and expensive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Scientific limitations of simplified teaching models. Our heat-sink model is a pedagogical model: physically reasonable, transparent and fast, but simplified (fully developed laminar flow, constant fan pressure, no bypass, continuous fin count). Results about it are results about the model, not about a real heat sink.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mathematics. Three levels of error stack up in practice: f̂(x) − y_{real} = [f̂(x) − f(x)] + [f(x) − y_{real}] The first bracket is surrogate error (this course measures it); the second is model-form error of the simulator itself (requires experimental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matter in engineering? A real heat-sink study would validate the CFD model against wind-tunnel measurements before trusting any surrogate built on it. In our model the thermal entrance length is comparable to the flow length at wider gaps, so the fully developed Nusselt number underestimates heat transfer there. A practical tip: In reports, state clearly which model produced the “verified” values and what validation that model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predict. A surrogate reproduces the analytical model to within 0.1%. Does this mean it predicts a real heat sink to within 0.1%? Pause here and commit to an answer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No. It means it reproduces the simplified model; the model’s own error relative to reality may be much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misconception is this: A very accurate surrogate makes the conclusions physically accurate. In fact: It can be no more trustworthy than the model it imitates. The takeaway: Surrogate accuracy and physical accuracy are different claims; state both levels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this lesson. Fit → optimize → verify → update: Surrogate-based optimization alternates cheap prediction and expensive verification. Scientific limitations of simplified teaching models: Surrogate accuracy and physical accuracy are different claims; state both levels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completes Lesson 4 of Module 6: The surrogate-assisted optimization workflow, and limitations. This was the last lesson of the module, so review the flashcards and take the Module 6 quiz in the course. Next comes Module 7, Sampling and design of experiments, starting with Bounded design spaces, full factorial designs and the curse of dimensionality.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rtlCol="0"/>
          <a:lstStyle>
            <a:lvl1pPr indent="0" marL="0">
              <a:buNone/>
              <a:defRPr lang="en-US" sz="1800" b="1" spc="200" kern="0"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rtlCol="0"/>
          <a:lstStyle>
            <a:lvl1pPr indent="0" marL="0">
              <a:buNone/>
              <a:defRPr lang="en-US" sz="1800" dirty="0">
                <a:solidFill>
                  <a:srgbClr val="D6E2F0"/>
                </a:solidFill>
              </a:defRPr>
            </a:lvl1pPr>
          </a:lstStyle>
          <a:p>
            <a:pPr indent="0" marL="0">
              <a:buNone/>
            </a:pPr>
            <a:endParaRPr lang="en-US" sz="1800" dirty="0"/>
          </a:p>
        </p:txBody>
      </p:sp>
      <p:sp>
        <p:nvSpPr>
          <p:cNvPr id="5" name="Text 0"/>
          <p:cNvSpPr/>
          <p:nvPr/>
        </p:nvSpPr>
        <p:spPr>
          <a:xfrm>
            <a:off x="548640" y="5806440"/>
            <a:ext cx="8686800" cy="320040"/>
          </a:xfrm>
          <a:prstGeom prst="rect">
            <a:avLst/>
          </a:prstGeom>
          <a:noFill/>
          <a:ln/>
        </p:spPr>
        <p:txBody>
          <a:bodyPr wrap="square" lIns="0" tIns="0" rIns="0" bIns="0" rtlCol="0" anchor="ctr"/>
          <a:lstStyle/>
          <a:p>
            <a:pPr indent="0" marL="0">
              <a:buNone/>
            </a:pPr>
            <a:r>
              <a:rPr lang="en-US" sz="1200" dirty="0">
                <a:solidFill>
                  <a:srgbClr val="C9D6E6"/>
                </a:solidFill>
              </a:rPr>
              <a:t>Machine Learning Fundamentals for Surrogate-Based Engineering Optimization · course version 3.0.0</a:t>
            </a:r>
            <a:endParaRPr lang="en-US" sz="1200" dirty="0"/>
          </a:p>
        </p:txBody>
      </p:sp>
      <p:sp>
        <p:nvSpPr>
          <p:cNvPr id="6" name="Text 1"/>
          <p:cNvSpPr/>
          <p:nvPr/>
        </p:nvSpPr>
        <p:spPr>
          <a:xfrm>
            <a:off x="548640" y="6126480"/>
            <a:ext cx="8686800" cy="320040"/>
          </a:xfrm>
          <a:prstGeom prst="rect">
            <a:avLst/>
          </a:prstGeom>
          <a:noFill/>
          <a:ln/>
        </p:spPr>
        <p:txBody>
          <a:bodyPr wrap="square" lIns="0" tIns="0" rIns="0" bIns="0" rtlCol="0" anchor="ctr"/>
          <a:lstStyle/>
          <a:p>
            <a:pPr indent="0" marL="0">
              <a:buNone/>
            </a:pPr>
            <a:r>
              <a:rPr lang="en-US" sz="1200" dirty="0">
                <a:solidFill>
                  <a:srgbClr val="C9D6E6"/>
                </a:solidFill>
              </a:rPr>
              <a:t>© 2026 Prof. Mazharul Islam · CC BY 4.0</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10058400" cy="457200"/>
          </a:xfrm>
          <a:prstGeom prst="rect">
            <a:avLst/>
          </a:prstGeom>
          <a:noFill/>
          <a:ln/>
        </p:spPr>
        <p:txBody>
          <a:bodyPr wrap="square" rtlCol="0"/>
          <a:lstStyle>
            <a:lvl1pPr indent="0" marL="0">
              <a:buNone/>
              <a:defRPr lang="en-US" sz="1800" b="1" dirty="0">
                <a:solidFill>
                  <a:srgbClr val="F2C14E"/>
                </a:solidFill>
              </a:defRPr>
            </a:lvl1pPr>
          </a:lstStyle>
          <a:p>
            <a:pPr indent="0" marL="0">
              <a:buNone/>
            </a:pPr>
            <a:endParaRPr lang="en-US" sz="1800" dirty="0"/>
          </a:p>
        </p:txBody>
      </p:sp>
      <p:sp>
        <p:nvSpPr>
          <p:cNvPr id="3" name="Text 0"/>
          <p:cNvSpPr/>
          <p:nvPr>
            <p:ph idx="101" type="title" hasCustomPrompt="1"/>
          </p:nvPr>
        </p:nvSpPr>
        <p:spPr>
          <a:xfrm>
            <a:off x="548640" y="2331720"/>
            <a:ext cx="1051560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3931920"/>
            <a:ext cx="10515600" cy="2011680"/>
          </a:xfrm>
          <a:prstGeom prst="rect">
            <a:avLst/>
          </a:prstGeom>
          <a:noFill/>
          <a:ln/>
        </p:spPr>
        <p:txBody>
          <a:bodyPr wrap="square" rtlCol="0"/>
          <a:lstStyle>
            <a:lvl1pPr indent="0" marL="0">
              <a:buNone/>
              <a:defRPr lang="en-US" sz="1800" dirty="0">
                <a:solidFill>
                  <a:srgbClr val="E3ECF7"/>
                </a:solidFill>
              </a:defRPr>
            </a:lvl1pPr>
          </a:lstStyle>
          <a:p>
            <a:pPr indent="0" marL="0">
              <a:buNone/>
            </a:pPr>
            <a:endParaRPr lang="en-US" sz="1800" dirty="0"/>
          </a:p>
        </p:txBody>
      </p:sp>
      <p:sp>
        <p:nvSpPr>
          <p:cNvPr id="5"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rgbClr val="D6E2F0"/>
                </a:solidFill>
              </a:rPr>
              <a:t>Module 6, Lesson 4 · The surrogate-assisted optimization workflow, and limitations</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rtlCol="0"/>
          <a:lstStyle>
            <a:lvl1pPr algn="l" indent="0" marL="0">
              <a:buNone/>
              <a:defRPr lang="en-US" b="1" dirty="0">
                <a:solidFill>
                  <a:schemeClr val="tx2"/>
                </a:solidFill>
              </a:defRPr>
            </a:lvl1pPr>
          </a:lstStyle>
          <a:p>
            <a:pPr algn="l" indent="0" marL="0">
              <a:buNone/>
            </a:pPr>
            <a:endParaRPr lang="en-US" dirty="0"/>
          </a:p>
        </p:txBody>
      </p:sp>
      <p:sp>
        <p:nvSpPr>
          <p:cNvPr id="4" name="Text 0"/>
          <p:cNvSpPr/>
          <p:nvPr/>
        </p:nvSpPr>
        <p:spPr>
          <a:xfrm>
            <a:off x="548640" y="6400800"/>
            <a:ext cx="6583680" cy="274320"/>
          </a:xfrm>
          <a:prstGeom prst="rect">
            <a:avLst/>
          </a:prstGeom>
          <a:noFill/>
          <a:ln/>
        </p:spPr>
        <p:txBody>
          <a:bodyPr wrap="square" lIns="0" tIns="0" rIns="0" bIns="0" rtlCol="0" anchor="ctr"/>
          <a:lstStyle/>
          <a:p>
            <a:pPr indent="0" marL="0">
              <a:buNone/>
            </a:pPr>
            <a:r>
              <a:rPr lang="en-US" sz="1000" dirty="0">
                <a:solidFill>
                  <a:srgbClr val="5A6672"/>
                </a:solidFill>
              </a:rPr>
              <a:t>Module 6, Lesson 4 · The surrogate-assisted optimization workflow, and limitations</a:t>
            </a:r>
            <a:endParaRPr lang="en-US" sz="1000" dirty="0"/>
          </a:p>
        </p:txBody>
      </p:sp>
      <p:sp>
        <p:nvSpPr>
          <p:cNvPr id="5" name="Text 1"/>
          <p:cNvSpPr/>
          <p:nvPr/>
        </p:nvSpPr>
        <p:spPr>
          <a:xfrm>
            <a:off x="7223760" y="6400800"/>
            <a:ext cx="3840480" cy="274320"/>
          </a:xfrm>
          <a:prstGeom prst="rect">
            <a:avLst/>
          </a:prstGeom>
          <a:noFill/>
          <a:ln/>
        </p:spPr>
        <p:txBody>
          <a:bodyPr wrap="square" lIns="0" tIns="0" rIns="0" bIns="0" rtlCol="0" anchor="ctr"/>
          <a:lstStyle/>
          <a:p>
            <a:pPr algn="r" indent="0" marL="0">
              <a:buNone/>
            </a:pPr>
            <a:r>
              <a:rPr lang="en-US" sz="1000" dirty="0">
                <a:solidFill>
                  <a:srgbClr val="5A6672"/>
                </a:solidFill>
              </a:rPr>
              <a:t>© 2026 Prof. Mazharul Islam · CC BY 4.0</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MODULE 06 · LESSON 4 OF 4 · ≈ 9 MIN</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The surrogate-assisted optimization workflow, and limitations</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spcAft>
                <a:spcPts val="800"/>
              </a:spcAft>
              <a:buNone/>
            </a:pPr>
            <a:r>
              <a:rPr lang="en-US" sz="1800" b="1" dirty="0">
                <a:solidFill>
                  <a:srgbClr val="D6E2F0"/>
                </a:solidFill>
              </a:rPr>
              <a:t>Module 6: What engineering surrogates are</a:t>
            </a:r>
            <a:endParaRPr lang="en-US" sz="1800" dirty="0"/>
          </a:p>
          <a:p>
            <a:pPr marL="342900" indent="-342900">
              <a:buSzPct val="100000"/>
              <a:buChar char="•"/>
            </a:pPr>
            <a:r>
              <a:rPr lang="en-US" sz="1800" dirty="0">
                <a:solidFill>
                  <a:srgbClr val="D6E2F0"/>
                </a:solidFill>
              </a:rPr>
              <a:t>Fit → optimize → verify → update</a:t>
            </a:r>
            <a:endParaRPr lang="en-US" sz="1800" dirty="0"/>
          </a:p>
          <a:p>
            <a:pPr marL="342900" indent="-342900">
              <a:buSzPct val="100000"/>
              <a:buChar char="•"/>
            </a:pPr>
            <a:r>
              <a:rPr lang="en-US" sz="1800" dirty="0">
                <a:solidFill>
                  <a:srgbClr val="D6E2F0"/>
                </a:solidFill>
              </a:rPr>
              <a:t>Scientific limitations of simplified teaching models</a:t>
            </a:r>
            <a:endParaRPr lang="en-US" sz="1800" dirty="0"/>
          </a:p>
        </p:txBody>
      </p:sp>
      <p:sp>
        <p:nvSpPr>
          <p:cNvPr id="5" name="lesson-number-ring"/>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sp>
        <p:nvSpPr>
          <p:cNvPr id="6" name="lesson-number"/>
          <p:cNvSpPr txBox="1"/>
          <p:nvPr/>
        </p:nvSpPr>
        <p:spPr>
          <a:xfrm>
            <a:off x="8732520" y="1417320"/>
            <a:ext cx="2926080" cy="2926080"/>
          </a:xfrm>
          <a:prstGeom prst="rect">
            <a:avLst/>
          </a:prstGeom>
          <a:noFill/>
          <a:ln/>
        </p:spPr>
        <p:txBody>
          <a:bodyPr wrap="square" rtlCol="0" anchor="ctr"/>
          <a:lstStyle/>
          <a:p>
            <a:pPr algn="ctr" indent="0" marL="0">
              <a:buNone/>
            </a:pPr>
            <a:r>
              <a:rPr lang="en-US" sz="8000" b="1" dirty="0">
                <a:solidFill>
                  <a:schemeClr val="bg1"/>
                </a:solidFill>
              </a:rPr>
              <a:t>6.4</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Fit → optimize → verify → update</a:t>
            </a:r>
            <a:endParaRPr lang="en-US" sz="3200" dirty="0"/>
          </a:p>
        </p:txBody>
      </p:sp>
      <p:sp>
        <p:nvSpPr>
          <p:cNvPr id="5" name="icon-bg-intu"/>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intu"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text"/>
          <p:cNvSpPr txBox="1"/>
          <p:nvPr/>
        </p:nvSpPr>
        <p:spPr>
          <a:xfrm>
            <a:off x="1188720" y="1572768"/>
            <a:ext cx="10408615" cy="1005840"/>
          </a:xfrm>
          <a:prstGeom prst="rect">
            <a:avLst/>
          </a:prstGeom>
          <a:noFill/>
          <a:ln/>
        </p:spPr>
        <p:txBody>
          <a:bodyPr wrap="square" lIns="1270" tIns="1270" rIns="1270" bIns="1270" rtlCol="0" anchor="t"/>
          <a:lstStyle/>
          <a:p>
            <a:pPr indent="0" marL="0">
              <a:spcAft>
                <a:spcPts val="600"/>
              </a:spcAft>
              <a:buNone/>
            </a:pPr>
            <a:r>
              <a:rPr lang="en-US" sz="1500" dirty="0">
                <a:solidFill>
                  <a:schemeClr val="tx1"/>
                </a:solidFill>
              </a:rPr>
              <a:t>The standard workflow: sample the design space; run the expensive model; fit a surrogate; optimize the cheap surrogate; </a:t>
            </a:r>
            <a:pPr indent="0" marL="0">
              <a:spcAft>
                <a:spcPts val="600"/>
              </a:spcAft>
              <a:buNone/>
            </a:pPr>
            <a:r>
              <a:rPr lang="en-US" sz="1500" b="1" dirty="0">
                <a:solidFill>
                  <a:schemeClr val="tx1"/>
                </a:solidFill>
              </a:rPr>
              <a:t>verify</a:t>
            </a:r>
            <a:pPr indent="0" marL="0">
              <a:spcAft>
                <a:spcPts val="600"/>
              </a:spcAft>
              <a:buNone/>
            </a:pPr>
            <a:r>
              <a:rPr lang="en-US" sz="1500" dirty="0">
                <a:solidFill>
                  <a:schemeClr val="tx1"/>
                </a:solidFill>
              </a:rPr>
              <a:t> the candidate with the expensive model; add the result to the data, refit, and repeat until a stopping rule is met. The verified results, not the predictions, are the evidence.</a:t>
            </a:r>
            <a:endParaRPr lang="en-US" sz="1500" dirty="0"/>
          </a:p>
        </p:txBody>
      </p:sp>
      <p:pic>
        <p:nvPicPr>
          <p:cNvPr id="8" name="figure" descr="Cycle of six boxes: initial design sampling; run original model; fit or update surrogate; optimize surrogate or acquisition function; verify candidate with original model; stop or continue, adding the verified point to the data.">    </p:cNvPr>
          <p:cNvPicPr>
            <a:picLocks noChangeAspect="1"/>
          </p:cNvPicPr>
          <p:nvPr/>
        </p:nvPicPr>
        <p:blipFill>
          <a:blip r:embed="rId2"/>
          <a:stretch>
            <a:fillRect/>
          </a:stretch>
        </p:blipFill>
        <p:spPr>
          <a:xfrm>
            <a:off x="2616703" y="2743200"/>
            <a:ext cx="6958289" cy="2880360"/>
          </a:xfrm>
          <a:prstGeom prst="rect">
            <a:avLst/>
          </a:prstGeom>
        </p:spPr>
      </p:pic>
      <p:sp>
        <p:nvSpPr>
          <p:cNvPr id="9" name="Text 4"/>
          <p:cNvSpPr txBox="1"/>
          <p:nvPr/>
        </p:nvSpPr>
        <p:spPr>
          <a:xfrm>
            <a:off x="548640" y="5669280"/>
            <a:ext cx="11094415" cy="384048"/>
          </a:xfrm>
          <a:prstGeom prst="rect">
            <a:avLst/>
          </a:prstGeom>
          <a:noFill/>
          <a:ln/>
        </p:spPr>
        <p:txBody>
          <a:bodyPr wrap="square" lIns="0" tIns="0" rIns="0" bIns="0" rtlCol="0" anchor="ctr"/>
          <a:lstStyle/>
          <a:p>
            <a:pPr algn="ctr" indent="0" marL="0">
              <a:buNone/>
            </a:pPr>
            <a:r>
              <a:rPr lang="en-US" sz="1200" i="1" dirty="0">
                <a:solidFill>
                  <a:srgbClr val="46525F"/>
                </a:solidFill>
              </a:rPr>
              <a:t>The sequential surrogate-based optimization loop.</a:t>
            </a:r>
            <a:endParaRPr lang="en-US" sz="1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Fit → optimize → verify → update</a:t>
            </a:r>
            <a:endParaRPr lang="en-US" sz="32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894080"/>
          </a:xfrm>
          <a:prstGeom prst="roundRect">
            <a:avLst>
              <a:gd name="adj" fmla="val 12273"/>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802640"/>
          </a:xfrm>
          <a:prstGeom prst="rect">
            <a:avLst/>
          </a:prstGeom>
          <a:noFill/>
          <a:ln/>
        </p:spPr>
        <p:txBody>
          <a:bodyPr wrap="square" lIns="1270" tIns="1270" rIns="1270" bIns="1270" rtlCol="0" anchor="ctr"/>
          <a:lstStyle/>
          <a:p>
            <a:pPr algn="ctr" indent="0" marL="0">
              <a:buNone/>
            </a:pPr>
            <a:r>
              <a:rPr lang="en-US" sz="2000" b="1" dirty="0">
                <a:solidFill>
                  <a:schemeClr val="tx1"/>
                </a:solidFill>
              </a:rPr>
              <a:t>x</a:t>
            </a:r>
            <a:pPr algn="ctr" indent="0" marL="0">
              <a:buNone/>
            </a:pPr>
            <a:r>
              <a:rPr lang="en-US" sz="2000" baseline="-40000" dirty="0">
                <a:solidFill>
                  <a:schemeClr val="tx1"/>
                </a:solidFill>
              </a:rPr>
              <a:t>new</a:t>
            </a:r>
            <a:pPr algn="ctr" indent="0" marL="0">
              <a:buNone/>
            </a:pPr>
            <a:r>
              <a:rPr lang="en-US" sz="2000" dirty="0">
                <a:solidFill>
                  <a:schemeClr val="tx1"/>
                </a:solidFill>
              </a:rPr>
              <a:t> = arg min</a:t>
            </a:r>
            <a:pPr algn="ctr" indent="0" marL="0">
              <a:buNone/>
            </a:pPr>
            <a:r>
              <a:rPr lang="en-US" sz="2000" b="1" baseline="-40000" dirty="0">
                <a:solidFill>
                  <a:schemeClr val="tx1"/>
                </a:solidFill>
              </a:rPr>
              <a:t>x</a:t>
            </a:r>
            <a:pPr algn="ctr" indent="0" marL="0">
              <a:buNone/>
            </a:pPr>
            <a:r>
              <a:rPr lang="en-US" sz="2000" baseline="-40000" dirty="0">
                <a:solidFill>
                  <a:schemeClr val="tx1"/>
                </a:solidFill>
              </a:rPr>
              <a:t> ∈ feasible</a:t>
            </a:r>
            <a:pPr algn="ctr" indent="0" marL="0">
              <a:buNone/>
            </a:pPr>
            <a:r>
              <a:rPr lang="en-US" sz="2000" dirty="0">
                <a:solidFill>
                  <a:schemeClr val="tx1"/>
                </a:solidFill>
              </a:rPr>
              <a:t>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evaluate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baseline="-40000" dirty="0">
                <a:solidFill>
                  <a:schemeClr val="tx1"/>
                </a:solidFill>
              </a:rPr>
              <a:t>new</a:t>
            </a:r>
            <a:pPr algn="ctr" indent="0" marL="0">
              <a:buNone/>
            </a:pPr>
            <a:r>
              <a:rPr lang="en-US" sz="2000" dirty="0">
                <a:solidFill>
                  <a:schemeClr val="tx1"/>
                </a:solidFill>
              </a:rPr>
              <a:t>), 𝒟 ← 𝒟 ∪ {(</a:t>
            </a:r>
            <a:pPr algn="ctr" indent="0" marL="0">
              <a:buNone/>
            </a:pPr>
            <a:r>
              <a:rPr lang="en-US" sz="2000" b="1" dirty="0">
                <a:solidFill>
                  <a:schemeClr val="tx1"/>
                </a:solidFill>
              </a:rPr>
              <a:t>x</a:t>
            </a:r>
            <a:pPr algn="ctr" indent="0" marL="0">
              <a:buNone/>
            </a:pPr>
            <a:r>
              <a:rPr lang="en-US" sz="2000" baseline="-40000" dirty="0">
                <a:solidFill>
                  <a:schemeClr val="tx1"/>
                </a:solidFill>
              </a:rPr>
              <a:t>new</a:t>
            </a:r>
            <a:pPr algn="ctr" indent="0" marL="0">
              <a:buNone/>
            </a:pPr>
            <a:r>
              <a:rPr lang="en-US" sz="2000" dirty="0">
                <a:solidFill>
                  <a:schemeClr val="tx1"/>
                </a:solidFill>
              </a:rPr>
              <a:t>,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baseline="-40000" dirty="0">
                <a:solidFill>
                  <a:schemeClr val="tx1"/>
                </a:solidFill>
              </a:rPr>
              <a:t>new</a:t>
            </a:r>
            <a:pPr algn="ctr" indent="0" marL="0">
              <a:buNone/>
            </a:pPr>
            <a:r>
              <a:rPr lang="en-US" sz="2000" dirty="0">
                <a:solidFill>
                  <a:schemeClr val="tx1"/>
                </a:solidFill>
              </a:rPr>
              <a:t>))}</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Fit → optimize → verify → update</a:t>
            </a:r>
            <a:endParaRPr lang="en-US" sz="32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An aerodynamic duct study might start with 20 CFD runs, then add 1–3 verified candidates per iteration for 10 iterations: 30–50 CFD runs in total instead of thousands.</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Budget verification runs from the start (e.g., 20–30% of the total evaluations).</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After optimizing a surrogate, its predicted optimum is R̂ = 0.560 K/W. The verified value is 0.585 K/W. Which value goes in your report as the design’s performance?</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After optimizing a surrogate, its predicted optimum is R̂ = 0.560 K/W. The verified value is 0.585 K/W. Which value goes in your report as the design’s performance?</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The verified 0.585 K/W (with the prediction and its error reported too). The prediction is a hypothesis; the verification is evidence — about the model you verified with.</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Fit → optimize → verify → update</a:t>
            </a:r>
            <a:endParaRPr lang="en-US" sz="32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The surrogate’s optimum is the design’s performance.</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It is a prediction. Verification with the original model is mandatory.</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Surrogate-based optimization alternates cheap prediction and expensive verification.</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Intuition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600" b="1" dirty="0">
                <a:solidFill>
                  <a:schemeClr val="tx2"/>
                </a:solidFill>
              </a:rPr>
              <a:t>Scientific limitations of simplified teaching models</a:t>
            </a:r>
            <a:endParaRPr lang="en-US" sz="2600" dirty="0"/>
          </a:p>
        </p:txBody>
      </p:sp>
      <p:sp>
        <p:nvSpPr>
          <p:cNvPr id="5" name="intuition-card"/>
          <p:cNvSpPr/>
          <p:nvPr/>
        </p:nvSpPr>
        <p:spPr>
          <a:xfrm>
            <a:off x="548640" y="1691640"/>
            <a:ext cx="11094415" cy="4480560"/>
          </a:xfrm>
          <a:prstGeom prst="roundRect">
            <a:avLst>
              <a:gd name="adj" fmla="val 2449"/>
            </a:avLst>
          </a:prstGeom>
          <a:solidFill>
            <a:schemeClr val="accent1">
              <a:alpha val="7000"/>
            </a:schemeClr>
          </a:solidFill>
          <a:ln w="12700">
            <a:solidFill>
              <a:schemeClr val="accent1">
                <a:alpha val="30000"/>
              </a:schemeClr>
            </a:solidFill>
            <a:prstDash val="solid"/>
          </a:ln>
        </p:spPr>
      </p:sp>
      <p:sp>
        <p:nvSpPr>
          <p:cNvPr id="6" name="icon-bg-intu"/>
          <p:cNvSpPr/>
          <p:nvPr/>
        </p:nvSpPr>
        <p:spPr>
          <a:xfrm>
            <a:off x="822960" y="1920240"/>
            <a:ext cx="566928" cy="566928"/>
          </a:xfrm>
          <a:prstGeom prst="ellipse">
            <a:avLst/>
          </a:prstGeom>
          <a:solidFill>
            <a:schemeClr val="accent1"/>
          </a:solidFill>
          <a:ln w="12700">
            <a:solidFill>
              <a:schemeClr val="accent1"/>
            </a:solidFill>
            <a:prstDash val="solid"/>
          </a:ln>
        </p:spPr>
      </p:sp>
      <p:pic>
        <p:nvPicPr>
          <p:cNvPr id="7" name="icon-intu"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p:cNvSpPr txBox="1"/>
          <p:nvPr/>
        </p:nvSpPr>
        <p:spPr>
          <a:xfrm>
            <a:off x="1600200" y="1874520"/>
            <a:ext cx="9722815" cy="4114800"/>
          </a:xfrm>
          <a:prstGeom prst="rect">
            <a:avLst/>
          </a:prstGeom>
          <a:noFill/>
          <a:ln/>
        </p:spPr>
        <p:txBody>
          <a:bodyPr wrap="square" lIns="1270" tIns="1270" rIns="1270" bIns="1270" rtlCol="0" anchor="t"/>
          <a:lstStyle/>
          <a:p>
            <a:pPr indent="0" marL="0">
              <a:spcAft>
                <a:spcPts val="600"/>
              </a:spcAft>
              <a:buNone/>
            </a:pPr>
            <a:r>
              <a:rPr lang="en-US" sz="2400" dirty="0">
                <a:solidFill>
                  <a:schemeClr val="tx1"/>
                </a:solidFill>
              </a:rPr>
              <a:t>Our heat-sink model is a </a:t>
            </a:r>
            <a:pPr indent="0" marL="0">
              <a:spcAft>
                <a:spcPts val="600"/>
              </a:spcAft>
              <a:buNone/>
            </a:pPr>
            <a:r>
              <a:rPr lang="en-US" sz="2400" b="1" dirty="0">
                <a:solidFill>
                  <a:schemeClr val="tx1"/>
                </a:solidFill>
              </a:rPr>
              <a:t>pedagogical model</a:t>
            </a:r>
            <a:pPr indent="0" marL="0">
              <a:spcAft>
                <a:spcPts val="600"/>
              </a:spcAft>
              <a:buNone/>
            </a:pPr>
            <a:r>
              <a:rPr lang="en-US" sz="2400" dirty="0">
                <a:solidFill>
                  <a:schemeClr val="tx1"/>
                </a:solidFill>
              </a:rPr>
              <a:t>: physically reasonable, transparent and fast, but simplified (fully developed laminar flow, constant fan pressure, no bypass, continuous fin count). Results about it are results about the model, not about a real heat sink.</a:t>
            </a:r>
            <a:endParaRPr lang="en-US" sz="2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The mathematics</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600" b="1" dirty="0">
                <a:solidFill>
                  <a:schemeClr val="tx2"/>
                </a:solidFill>
              </a:rPr>
              <a:t>Scientific limitations of simplified teaching models</a:t>
            </a:r>
            <a:endParaRPr lang="en-US" sz="2600" dirty="0"/>
          </a:p>
        </p:txBody>
      </p:sp>
      <p:sp>
        <p:nvSpPr>
          <p:cNvPr id="5" name="icon-bg-math"/>
          <p:cNvSpPr/>
          <p:nvPr/>
        </p:nvSpPr>
        <p:spPr>
          <a:xfrm>
            <a:off x="548640" y="1645920"/>
            <a:ext cx="502920" cy="502920"/>
          </a:xfrm>
          <a:prstGeom prst="ellipse">
            <a:avLst/>
          </a:prstGeom>
          <a:solidFill>
            <a:schemeClr val="accent1"/>
          </a:solidFill>
          <a:ln w="12700">
            <a:solidFill>
              <a:schemeClr val="accent1"/>
            </a:solidFill>
            <a:prstDash val="solid"/>
          </a:ln>
        </p:spPr>
      </p:sp>
      <p:pic>
        <p:nvPicPr>
          <p:cNvPr id="6" name="icon-math" descr="preencoded.png">    </p:cNvPr>
          <p:cNvPicPr>
            <a:picLocks noChangeAspect="1"/>
          </p:cNvPicPr>
          <p:nvPr/>
        </p:nvPicPr>
        <p:blipFill>
          <a:blip r:embed="rId1"/>
          <a:stretch>
            <a:fillRect/>
          </a:stretch>
        </p:blipFill>
        <p:spPr>
          <a:xfrm>
            <a:off x="669341" y="1766621"/>
            <a:ext cx="261518" cy="261518"/>
          </a:xfrm>
          <a:prstGeom prst="rect">
            <a:avLst/>
          </a:prstGeom>
        </p:spPr>
      </p:pic>
      <p:sp>
        <p:nvSpPr>
          <p:cNvPr id="7" name="math-card"/>
          <p:cNvSpPr/>
          <p:nvPr/>
        </p:nvSpPr>
        <p:spPr>
          <a:xfrm>
            <a:off x="1143000" y="1600200"/>
            <a:ext cx="10500055" cy="1717040"/>
          </a:xfrm>
          <a:prstGeom prst="roundRect">
            <a:avLst>
              <a:gd name="adj" fmla="val 6391"/>
            </a:avLst>
          </a:prstGeom>
          <a:solidFill>
            <a:schemeClr val="bg2"/>
          </a:solidFill>
          <a:ln w="12700">
            <a:solidFill>
              <a:schemeClr val="bg2">
                <a:alpha val="30000"/>
              </a:schemeClr>
            </a:solidFill>
            <a:prstDash val="solid"/>
          </a:ln>
        </p:spPr>
      </p:sp>
      <p:sp>
        <p:nvSpPr>
          <p:cNvPr id="8" name="math-text"/>
          <p:cNvSpPr txBox="1"/>
          <p:nvPr/>
        </p:nvSpPr>
        <p:spPr>
          <a:xfrm>
            <a:off x="1234440" y="1645920"/>
            <a:ext cx="10408615" cy="1625600"/>
          </a:xfrm>
          <a:prstGeom prst="rect">
            <a:avLst/>
          </a:prstGeom>
          <a:noFill/>
          <a:ln/>
        </p:spPr>
        <p:txBody>
          <a:bodyPr wrap="square" lIns="1270" tIns="1270" rIns="1270" bIns="1270" rtlCol="0" anchor="ctr"/>
          <a:lstStyle/>
          <a:p>
            <a:pPr indent="0" marL="0">
              <a:spcAft>
                <a:spcPts val="800"/>
              </a:spcAft>
              <a:buNone/>
            </a:pPr>
            <a:r>
              <a:rPr lang="en-US" sz="2000" dirty="0">
                <a:solidFill>
                  <a:schemeClr val="tx1"/>
                </a:solidFill>
              </a:rPr>
              <a:t>Three levels of error stack up in practice:</a:t>
            </a:r>
            <a:endParaRPr lang="en-US" sz="2000" dirty="0"/>
          </a:p>
          <a:p>
            <a:pPr algn="ctr" indent="0" marL="0">
              <a:spcAft>
                <a:spcPts val="800"/>
              </a:spcAft>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y</a:t>
            </a:r>
            <a:pPr algn="ctr" indent="0" marL="0">
              <a:buNone/>
            </a:pPr>
            <a:r>
              <a:rPr lang="en-US" sz="2000" baseline="-40000" dirty="0">
                <a:solidFill>
                  <a:schemeClr val="tx1"/>
                </a:solidFill>
              </a:rPr>
              <a:t>real</a:t>
            </a:r>
            <a:pPr algn="ctr" indent="0" marL="0">
              <a:buNone/>
            </a:pPr>
            <a:r>
              <a:rPr lang="en-US" sz="2000" dirty="0">
                <a:solidFill>
                  <a:schemeClr val="tx1"/>
                </a:solidFill>
              </a:rPr>
              <a:t> =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f</a:t>
            </a:r>
            <a:pPr algn="ctr" indent="0" marL="0">
              <a:buNone/>
            </a:pPr>
            <a:r>
              <a:rPr lang="en-US" sz="2000" dirty="0">
                <a:solidFill>
                  <a:schemeClr val="tx1"/>
                </a:solidFill>
              </a:rPr>
              <a:t>(</a:t>
            </a:r>
            <a:pPr algn="ctr" indent="0" marL="0">
              <a:buNone/>
            </a:pPr>
            <a:r>
              <a:rPr lang="en-US" sz="2000" b="1" dirty="0">
                <a:solidFill>
                  <a:schemeClr val="tx1"/>
                </a:solidFill>
              </a:rPr>
              <a:t>x</a:t>
            </a:r>
            <a:pPr algn="ctr" indent="0" marL="0">
              <a:buNone/>
            </a:pPr>
            <a:r>
              <a:rPr lang="en-US" sz="2000" dirty="0">
                <a:solidFill>
                  <a:schemeClr val="tx1"/>
                </a:solidFill>
              </a:rPr>
              <a:t>) − </a:t>
            </a:r>
            <a:pPr algn="ctr" indent="0" marL="0">
              <a:buNone/>
            </a:pPr>
            <a:r>
              <a:rPr lang="en-US" sz="2000" i="1" dirty="0">
                <a:solidFill>
                  <a:schemeClr val="tx1"/>
                </a:solidFill>
              </a:rPr>
              <a:t>y</a:t>
            </a:r>
            <a:pPr algn="ctr" indent="0" marL="0">
              <a:buNone/>
            </a:pPr>
            <a:r>
              <a:rPr lang="en-US" sz="2000" baseline="-40000" dirty="0">
                <a:solidFill>
                  <a:schemeClr val="tx1"/>
                </a:solidFill>
              </a:rPr>
              <a:t>real</a:t>
            </a:r>
            <a:pPr algn="ctr" indent="0" marL="0">
              <a:buNone/>
            </a:pPr>
            <a:r>
              <a:rPr lang="en-US" sz="2000" dirty="0">
                <a:solidFill>
                  <a:schemeClr val="tx1"/>
                </a:solidFill>
              </a:rPr>
              <a:t>]</a:t>
            </a:r>
            <a:endParaRPr lang="en-US" sz="2000" dirty="0"/>
          </a:p>
          <a:p>
            <a:pPr indent="0" marL="0">
              <a:buNone/>
            </a:pPr>
            <a:r>
              <a:rPr lang="en-US" sz="2000" dirty="0">
                <a:solidFill>
                  <a:schemeClr val="tx1"/>
                </a:solidFill>
              </a:rPr>
              <a:t>The first bracket is surrogate error (this course measures it); the second is model-form error of the simulator itself (requires experimental validation).</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In engineering practice</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600" b="1" dirty="0">
                <a:solidFill>
                  <a:schemeClr val="tx2"/>
                </a:solidFill>
              </a:rPr>
              <a:t>Scientific limitations of simplified teaching models</a:t>
            </a:r>
            <a:endParaRPr lang="en-US" sz="2600" dirty="0"/>
          </a:p>
        </p:txBody>
      </p:sp>
      <p:sp>
        <p:nvSpPr>
          <p:cNvPr id="5" name="Engineering application"/>
          <p:cNvSpPr/>
          <p:nvPr/>
        </p:nvSpPr>
        <p:spPr>
          <a:xfrm>
            <a:off x="548640" y="1691640"/>
            <a:ext cx="5364328" cy="4480560"/>
          </a:xfrm>
          <a:prstGeom prst="roundRect">
            <a:avLst>
              <a:gd name="adj" fmla="val 2449"/>
            </a:avLst>
          </a:prstGeom>
          <a:solidFill>
            <a:schemeClr val="accent3">
              <a:alpha val="10000"/>
            </a:schemeClr>
          </a:solidFill>
          <a:ln w="12700">
            <a:solidFill>
              <a:schemeClr val="accent3">
                <a:alpha val="30000"/>
              </a:schemeClr>
            </a:solidFill>
            <a:prstDash val="solid"/>
          </a:ln>
        </p:spPr>
      </p:sp>
      <p:sp>
        <p:nvSpPr>
          <p:cNvPr id="6" name="icon-bg-app"/>
          <p:cNvSpPr/>
          <p:nvPr/>
        </p:nvSpPr>
        <p:spPr>
          <a:xfrm>
            <a:off x="822960" y="1920240"/>
            <a:ext cx="566928" cy="566928"/>
          </a:xfrm>
          <a:prstGeom prst="ellipse">
            <a:avLst/>
          </a:prstGeom>
          <a:solidFill>
            <a:schemeClr val="accent3"/>
          </a:solidFill>
          <a:ln w="12700">
            <a:solidFill>
              <a:schemeClr val="accent3"/>
            </a:solidFill>
            <a:prstDash val="solid"/>
          </a:ln>
        </p:spPr>
      </p:sp>
      <p:pic>
        <p:nvPicPr>
          <p:cNvPr id="7" name="icon-app"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8" name="Text 4"/>
          <p:cNvSpPr txBox="1"/>
          <p:nvPr/>
        </p:nvSpPr>
        <p:spPr>
          <a:xfrm>
            <a:off x="1508760"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Engineering application</a:t>
            </a:r>
            <a:endParaRPr lang="en-US" sz="2000" dirty="0"/>
          </a:p>
        </p:txBody>
      </p:sp>
      <p:sp>
        <p:nvSpPr>
          <p:cNvPr id="9" name="text"/>
          <p:cNvSpPr txBox="1"/>
          <p:nvPr/>
        </p:nvSpPr>
        <p:spPr>
          <a:xfrm>
            <a:off x="777240"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A real heat-sink study would validate the CFD model against wind-tunnel measurements before trusting any surrogate built on it. In our model the thermal entrance length is comparable to the flow length at wider gaps, so the fully developed Nusselt number underestimates heat transfer there.</a:t>
            </a:r>
            <a:endParaRPr lang="en-US" sz="2000" dirty="0"/>
          </a:p>
        </p:txBody>
      </p:sp>
      <p:sp>
        <p:nvSpPr>
          <p:cNvPr id="10" name="Practical tip"/>
          <p:cNvSpPr/>
          <p:nvPr/>
        </p:nvSpPr>
        <p:spPr>
          <a:xfrm>
            <a:off x="6278728" y="1691640"/>
            <a:ext cx="5364328" cy="4480560"/>
          </a:xfrm>
          <a:prstGeom prst="roundRect">
            <a:avLst>
              <a:gd name="adj" fmla="val 2449"/>
            </a:avLst>
          </a:prstGeom>
          <a:solidFill>
            <a:schemeClr val="accent4">
              <a:alpha val="10000"/>
            </a:schemeClr>
          </a:solidFill>
          <a:ln w="12700">
            <a:solidFill>
              <a:schemeClr val="accent4">
                <a:alpha val="30000"/>
              </a:schemeClr>
            </a:solidFill>
            <a:prstDash val="solid"/>
          </a:ln>
        </p:spPr>
      </p:sp>
      <p:sp>
        <p:nvSpPr>
          <p:cNvPr id="11" name="icon-bg-tip"/>
          <p:cNvSpPr/>
          <p:nvPr/>
        </p:nvSpPr>
        <p:spPr>
          <a:xfrm>
            <a:off x="6553048" y="1920240"/>
            <a:ext cx="566928" cy="566928"/>
          </a:xfrm>
          <a:prstGeom prst="ellipse">
            <a:avLst/>
          </a:prstGeom>
          <a:solidFill>
            <a:schemeClr val="accent4"/>
          </a:solidFill>
          <a:ln w="12700">
            <a:solidFill>
              <a:schemeClr val="accent4"/>
            </a:solidFill>
            <a:prstDash val="solid"/>
          </a:ln>
        </p:spPr>
      </p:sp>
      <p:pic>
        <p:nvPicPr>
          <p:cNvPr id="12" name="icon-tip" descr="preencoded.png">    </p:cNvPr>
          <p:cNvPicPr>
            <a:picLocks noChangeAspect="1"/>
          </p:cNvPicPr>
          <p:nvPr/>
        </p:nvPicPr>
        <p:blipFill>
          <a:blip r:embed="rId2"/>
          <a:stretch>
            <a:fillRect/>
          </a:stretch>
        </p:blipFill>
        <p:spPr>
          <a:xfrm>
            <a:off x="6689110" y="2056303"/>
            <a:ext cx="294803" cy="294803"/>
          </a:xfrm>
          <a:prstGeom prst="rect">
            <a:avLst/>
          </a:prstGeom>
        </p:spPr>
      </p:pic>
      <p:sp>
        <p:nvSpPr>
          <p:cNvPr id="13" name="Text 8"/>
          <p:cNvSpPr txBox="1"/>
          <p:nvPr/>
        </p:nvSpPr>
        <p:spPr>
          <a:xfrm>
            <a:off x="7238848" y="1965960"/>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Practical tip</a:t>
            </a:r>
            <a:endParaRPr lang="en-US" sz="2000" dirty="0"/>
          </a:p>
        </p:txBody>
      </p:sp>
      <p:sp>
        <p:nvSpPr>
          <p:cNvPr id="14" name="text"/>
          <p:cNvSpPr txBox="1"/>
          <p:nvPr/>
        </p:nvSpPr>
        <p:spPr>
          <a:xfrm>
            <a:off x="6507328" y="2697480"/>
            <a:ext cx="4907128" cy="333756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In reports, state clearly which model produced the “verified” values and what validation that model has.</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Predict before you look</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Pause and predict</a:t>
            </a:r>
            <a:endParaRPr lang="en-US" sz="3200" dirty="0"/>
          </a:p>
        </p:txBody>
      </p:sp>
      <p:sp>
        <p:nvSpPr>
          <p:cNvPr id="5" name="question-card"/>
          <p:cNvSpPr/>
          <p:nvPr/>
        </p:nvSpPr>
        <p:spPr>
          <a:xfrm>
            <a:off x="548640" y="1737360"/>
            <a:ext cx="11094415" cy="3291840"/>
          </a:xfrm>
          <a:prstGeom prst="roundRect">
            <a:avLst>
              <a:gd name="adj" fmla="val 3333"/>
            </a:avLst>
          </a:prstGeom>
          <a:solidFill>
            <a:schemeClr val="accent2">
              <a:alpha val="9000"/>
            </a:schemeClr>
          </a:solidFill>
          <a:ln w="12700">
            <a:solidFill>
              <a:schemeClr val="accent2">
                <a:alpha val="30000"/>
              </a:schemeClr>
            </a:solidFill>
            <a:prstDash val="solid"/>
          </a:ln>
        </p:spPr>
      </p:sp>
      <p:sp>
        <p:nvSpPr>
          <p:cNvPr id="6" name="icon-bg-predict"/>
          <p:cNvSpPr/>
          <p:nvPr/>
        </p:nvSpPr>
        <p:spPr>
          <a:xfrm>
            <a:off x="868680" y="2011680"/>
            <a:ext cx="731520" cy="731520"/>
          </a:xfrm>
          <a:prstGeom prst="ellipse">
            <a:avLst/>
          </a:prstGeom>
          <a:solidFill>
            <a:schemeClr val="accent2"/>
          </a:solidFill>
          <a:ln w="12700">
            <a:solidFill>
              <a:schemeClr val="accent2"/>
            </a:solidFill>
            <a:prstDash val="solid"/>
          </a:ln>
        </p:spPr>
      </p:sp>
      <p:pic>
        <p:nvPicPr>
          <p:cNvPr id="7" name="icon-predict" descr="preencoded.png">    </p:cNvPr>
          <p:cNvPicPr>
            <a:picLocks noChangeAspect="1"/>
          </p:cNvPicPr>
          <p:nvPr/>
        </p:nvPicPr>
        <p:blipFill>
          <a:blip r:embed="rId1"/>
          <a:stretch>
            <a:fillRect/>
          </a:stretch>
        </p:blipFill>
        <p:spPr>
          <a:xfrm>
            <a:off x="1044245" y="2187245"/>
            <a:ext cx="380390" cy="380390"/>
          </a:xfrm>
          <a:prstGeom prst="rect">
            <a:avLst/>
          </a:prstGeom>
        </p:spPr>
      </p:pic>
      <p:sp>
        <p:nvSpPr>
          <p:cNvPr id="8" name="text"/>
          <p:cNvSpPr txBox="1"/>
          <p:nvPr/>
        </p:nvSpPr>
        <p:spPr>
          <a:xfrm>
            <a:off x="1874520" y="1965960"/>
            <a:ext cx="9448495" cy="2834640"/>
          </a:xfrm>
          <a:prstGeom prst="rect">
            <a:avLst/>
          </a:prstGeom>
          <a:noFill/>
          <a:ln/>
        </p:spPr>
        <p:txBody>
          <a:bodyPr wrap="square" lIns="1270" tIns="1270" rIns="1270" bIns="1270" rtlCol="0" anchor="ctr"/>
          <a:lstStyle/>
          <a:p>
            <a:pPr indent="0" marL="0">
              <a:spcAft>
                <a:spcPts val="600"/>
              </a:spcAft>
              <a:buNone/>
            </a:pPr>
            <a:r>
              <a:rPr lang="en-US" sz="2800" dirty="0">
                <a:solidFill>
                  <a:schemeClr val="tx1"/>
                </a:solidFill>
              </a:rPr>
              <a:t>A surrogate reproduces the analytical model to within 0.1%. Does this mean it predicts a real heat sink to within 0.1%?</a:t>
            </a:r>
            <a:endParaRPr lang="en-US" sz="2800" dirty="0"/>
          </a:p>
        </p:txBody>
      </p:sp>
      <p:sp>
        <p:nvSpPr>
          <p:cNvPr id="9" name="Text 5"/>
          <p:cNvSpPr txBox="1"/>
          <p:nvPr/>
        </p:nvSpPr>
        <p:spPr>
          <a:xfrm>
            <a:off x="548640" y="5303520"/>
            <a:ext cx="11094415" cy="457200"/>
          </a:xfrm>
          <a:prstGeom prst="rect">
            <a:avLst/>
          </a:prstGeom>
          <a:noFill/>
          <a:ln/>
        </p:spPr>
        <p:txBody>
          <a:bodyPr wrap="square" lIns="0" tIns="0" rIns="0" bIns="0" rtlCol="0" anchor="ctr"/>
          <a:lstStyle/>
          <a:p>
            <a:pPr indent="0" marL="0">
              <a:buNone/>
            </a:pPr>
            <a:r>
              <a:rPr lang="en-US" sz="1600" i="1" dirty="0">
                <a:solidFill>
                  <a:srgbClr val="46525F"/>
                </a:solidFill>
              </a:rPr>
              <a:t>Write down your answer, then continue to the next slide.</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Answer</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What happens, and why</a:t>
            </a:r>
            <a:endParaRPr lang="en-US" sz="3200" dirty="0"/>
          </a:p>
        </p:txBody>
      </p:sp>
      <p:sp>
        <p:nvSpPr>
          <p:cNvPr id="5" name="Text 2"/>
          <p:cNvSpPr txBox="1"/>
          <p:nvPr/>
        </p:nvSpPr>
        <p:spPr>
          <a:xfrm>
            <a:off x="548640" y="1600200"/>
            <a:ext cx="11094415" cy="868680"/>
          </a:xfrm>
          <a:prstGeom prst="rect">
            <a:avLst/>
          </a:prstGeom>
          <a:noFill/>
          <a:ln/>
        </p:spPr>
        <p:txBody>
          <a:bodyPr wrap="square" lIns="0" tIns="0" rIns="0" bIns="0" rtlCol="0" anchor="t"/>
          <a:lstStyle/>
          <a:p>
            <a:pPr indent="0" marL="0">
              <a:buNone/>
            </a:pPr>
            <a:r>
              <a:rPr lang="en-US" sz="1400" b="1" dirty="0">
                <a:solidFill>
                  <a:srgbClr val="46525F"/>
                </a:solidFill>
              </a:rPr>
              <a:t>Question: </a:t>
            </a:r>
            <a:pPr indent="0" marL="0">
              <a:buNone/>
            </a:pPr>
            <a:r>
              <a:rPr lang="en-US" sz="1400" dirty="0">
                <a:solidFill>
                  <a:srgbClr val="46525F"/>
                </a:solidFill>
              </a:rPr>
              <a:t>A surrogate reproduces the analytical model to within 0.1%. Does this mean it predicts a real heat sink to within 0.1%?</a:t>
            </a:r>
            <a:endParaRPr lang="en-US" sz="1400" dirty="0"/>
          </a:p>
        </p:txBody>
      </p:sp>
      <p:sp>
        <p:nvSpPr>
          <p:cNvPr id="6" name="answer-card"/>
          <p:cNvSpPr/>
          <p:nvPr/>
        </p:nvSpPr>
        <p:spPr>
          <a:xfrm>
            <a:off x="548640" y="2606040"/>
            <a:ext cx="11094415" cy="3566160"/>
          </a:xfrm>
          <a:prstGeom prst="roundRect">
            <a:avLst>
              <a:gd name="adj" fmla="val 3077"/>
            </a:avLst>
          </a:prstGeom>
          <a:solidFill>
            <a:schemeClr val="accent3">
              <a:alpha val="10000"/>
            </a:schemeClr>
          </a:solidFill>
          <a:ln w="12700">
            <a:solidFill>
              <a:schemeClr val="accent3">
                <a:alpha val="30000"/>
              </a:schemeClr>
            </a:solidFill>
            <a:prstDash val="solid"/>
          </a:ln>
        </p:spPr>
      </p:sp>
      <p:sp>
        <p:nvSpPr>
          <p:cNvPr id="7" name="icon-bg-answer"/>
          <p:cNvSpPr/>
          <p:nvPr/>
        </p:nvSpPr>
        <p:spPr>
          <a:xfrm>
            <a:off x="868680" y="2880360"/>
            <a:ext cx="731520" cy="731520"/>
          </a:xfrm>
          <a:prstGeom prst="ellipse">
            <a:avLst/>
          </a:prstGeom>
          <a:solidFill>
            <a:schemeClr val="accent3"/>
          </a:solidFill>
          <a:ln w="12700">
            <a:solidFill>
              <a:schemeClr val="accent3"/>
            </a:solidFill>
            <a:prstDash val="solid"/>
          </a:ln>
        </p:spPr>
      </p:sp>
      <p:pic>
        <p:nvPicPr>
          <p:cNvPr id="8" name="icon-answer" descr="preencoded.png">    </p:cNvPr>
          <p:cNvPicPr>
            <a:picLocks noChangeAspect="1"/>
          </p:cNvPicPr>
          <p:nvPr/>
        </p:nvPicPr>
        <p:blipFill>
          <a:blip r:embed="rId1"/>
          <a:stretch>
            <a:fillRect/>
          </a:stretch>
        </p:blipFill>
        <p:spPr>
          <a:xfrm>
            <a:off x="1044245" y="3055925"/>
            <a:ext cx="380390" cy="380390"/>
          </a:xfrm>
          <a:prstGeom prst="rect">
            <a:avLst/>
          </a:prstGeom>
        </p:spPr>
      </p:pic>
      <p:sp>
        <p:nvSpPr>
          <p:cNvPr id="9" name="text"/>
          <p:cNvSpPr txBox="1"/>
          <p:nvPr/>
        </p:nvSpPr>
        <p:spPr>
          <a:xfrm>
            <a:off x="1874520" y="2788920"/>
            <a:ext cx="9448495" cy="3200400"/>
          </a:xfrm>
          <a:prstGeom prst="rect">
            <a:avLst/>
          </a:prstGeom>
          <a:noFill/>
          <a:ln/>
        </p:spPr>
        <p:txBody>
          <a:bodyPr wrap="square" lIns="1270" tIns="1270" rIns="1270" bIns="1270" rtlCol="0" anchor="ctr"/>
          <a:lstStyle/>
          <a:p>
            <a:pPr indent="0" marL="0">
              <a:spcAft>
                <a:spcPts val="600"/>
              </a:spcAft>
              <a:buNone/>
            </a:pPr>
            <a:r>
              <a:rPr lang="en-US" sz="2600" dirty="0">
                <a:solidFill>
                  <a:schemeClr val="tx1"/>
                </a:solidFill>
              </a:rPr>
              <a:t>No. It means it reproduces the simplified model; the model’s own error relative to reality may be much larger.</a:t>
            </a:r>
            <a:endParaRPr lang="en-US" sz="2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Lesson 4 · The surrogate-assisted optimization workflow, and limitations · Common misconception</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2600" b="1" dirty="0">
                <a:solidFill>
                  <a:schemeClr val="tx2"/>
                </a:solidFill>
              </a:rPr>
              <a:t>Scientific limitations of simplified teaching models</a:t>
            </a:r>
            <a:endParaRPr lang="en-US" sz="2600" dirty="0"/>
          </a:p>
        </p:txBody>
      </p:sp>
      <p:sp>
        <p:nvSpPr>
          <p:cNvPr id="5" name="Misconception"/>
          <p:cNvSpPr/>
          <p:nvPr/>
        </p:nvSpPr>
        <p:spPr>
          <a:xfrm>
            <a:off x="548640" y="1691640"/>
            <a:ext cx="5364328" cy="2971800"/>
          </a:xfrm>
          <a:prstGeom prst="roundRect">
            <a:avLst>
              <a:gd name="adj" fmla="val 3692"/>
            </a:avLst>
          </a:prstGeom>
          <a:solidFill>
            <a:schemeClr val="accent6">
              <a:alpha val="9000"/>
            </a:schemeClr>
          </a:solidFill>
          <a:ln w="12700">
            <a:solidFill>
              <a:schemeClr val="accent6">
                <a:alpha val="30000"/>
              </a:schemeClr>
            </a:solidFill>
            <a:prstDash val="solid"/>
          </a:ln>
        </p:spPr>
      </p:sp>
      <p:sp>
        <p:nvSpPr>
          <p:cNvPr id="6" name="icon-bg-mis"/>
          <p:cNvSpPr/>
          <p:nvPr/>
        </p:nvSpPr>
        <p:spPr>
          <a:xfrm>
            <a:off x="822960" y="1874520"/>
            <a:ext cx="548640" cy="548640"/>
          </a:xfrm>
          <a:prstGeom prst="ellipse">
            <a:avLst/>
          </a:prstGeom>
          <a:solidFill>
            <a:schemeClr val="accent6"/>
          </a:solidFill>
          <a:ln w="12700">
            <a:solidFill>
              <a:schemeClr val="accent6"/>
            </a:solidFill>
            <a:prstDash val="solid"/>
          </a:ln>
        </p:spPr>
      </p:sp>
      <p:pic>
        <p:nvPicPr>
          <p:cNvPr id="7" name="icon-mis" descr="preencoded.png">    </p:cNvPr>
          <p:cNvPicPr>
            <a:picLocks noChangeAspect="1"/>
          </p:cNvPicPr>
          <p:nvPr/>
        </p:nvPicPr>
        <p:blipFill>
          <a:blip r:embed="rId1"/>
          <a:stretch>
            <a:fillRect/>
          </a:stretch>
        </p:blipFill>
        <p:spPr>
          <a:xfrm>
            <a:off x="954634" y="2006194"/>
            <a:ext cx="285293" cy="285293"/>
          </a:xfrm>
          <a:prstGeom prst="rect">
            <a:avLst/>
          </a:prstGeom>
        </p:spPr>
      </p:pic>
      <p:sp>
        <p:nvSpPr>
          <p:cNvPr id="8" name="Text 4"/>
          <p:cNvSpPr txBox="1"/>
          <p:nvPr/>
        </p:nvSpPr>
        <p:spPr>
          <a:xfrm>
            <a:off x="1508760"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Misconception</a:t>
            </a:r>
            <a:endParaRPr lang="en-US" sz="2000" dirty="0"/>
          </a:p>
        </p:txBody>
      </p:sp>
      <p:sp>
        <p:nvSpPr>
          <p:cNvPr id="9" name="text"/>
          <p:cNvSpPr txBox="1"/>
          <p:nvPr/>
        </p:nvSpPr>
        <p:spPr>
          <a:xfrm>
            <a:off x="777240"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A very accurate surrogate makes the conclusions physically accurate.</a:t>
            </a:r>
            <a:endParaRPr lang="en-US" sz="2000" dirty="0"/>
          </a:p>
        </p:txBody>
      </p:sp>
      <p:sp>
        <p:nvSpPr>
          <p:cNvPr id="10" name="What is actually true"/>
          <p:cNvSpPr/>
          <p:nvPr/>
        </p:nvSpPr>
        <p:spPr>
          <a:xfrm>
            <a:off x="6278728" y="1691640"/>
            <a:ext cx="5364328" cy="2971800"/>
          </a:xfrm>
          <a:prstGeom prst="roundRect">
            <a:avLst>
              <a:gd name="adj" fmla="val 3692"/>
            </a:avLst>
          </a:prstGeom>
          <a:solidFill>
            <a:schemeClr val="accent3">
              <a:alpha val="9000"/>
            </a:schemeClr>
          </a:solidFill>
          <a:ln w="12700">
            <a:solidFill>
              <a:schemeClr val="accent3">
                <a:alpha val="30000"/>
              </a:schemeClr>
            </a:solidFill>
            <a:prstDash val="solid"/>
          </a:ln>
        </p:spPr>
      </p:sp>
      <p:sp>
        <p:nvSpPr>
          <p:cNvPr id="11" name="icon-bg-cor"/>
          <p:cNvSpPr/>
          <p:nvPr/>
        </p:nvSpPr>
        <p:spPr>
          <a:xfrm>
            <a:off x="6553048" y="1874520"/>
            <a:ext cx="548640" cy="548640"/>
          </a:xfrm>
          <a:prstGeom prst="ellipse">
            <a:avLst/>
          </a:prstGeom>
          <a:solidFill>
            <a:schemeClr val="accent3"/>
          </a:solidFill>
          <a:ln w="12700">
            <a:solidFill>
              <a:schemeClr val="accent3"/>
            </a:solidFill>
            <a:prstDash val="solid"/>
          </a:ln>
        </p:spPr>
      </p:sp>
      <p:pic>
        <p:nvPicPr>
          <p:cNvPr id="12" name="icon-cor" descr="preencoded.png">    </p:cNvPr>
          <p:cNvPicPr>
            <a:picLocks noChangeAspect="1"/>
          </p:cNvPicPr>
          <p:nvPr/>
        </p:nvPicPr>
        <p:blipFill>
          <a:blip r:embed="rId2"/>
          <a:stretch>
            <a:fillRect/>
          </a:stretch>
        </p:blipFill>
        <p:spPr>
          <a:xfrm>
            <a:off x="6684721" y="2006194"/>
            <a:ext cx="285293" cy="285293"/>
          </a:xfrm>
          <a:prstGeom prst="rect">
            <a:avLst/>
          </a:prstGeom>
        </p:spPr>
      </p:pic>
      <p:sp>
        <p:nvSpPr>
          <p:cNvPr id="13" name="Text 8"/>
          <p:cNvSpPr txBox="1"/>
          <p:nvPr/>
        </p:nvSpPr>
        <p:spPr>
          <a:xfrm>
            <a:off x="7238848" y="1901952"/>
            <a:ext cx="4175608" cy="502920"/>
          </a:xfrm>
          <a:prstGeom prst="rect">
            <a:avLst/>
          </a:prstGeom>
          <a:noFill/>
          <a:ln/>
        </p:spPr>
        <p:txBody>
          <a:bodyPr wrap="square" lIns="0" tIns="0" rIns="0" bIns="0" rtlCol="0" anchor="ctr"/>
          <a:lstStyle/>
          <a:p>
            <a:pPr indent="0" marL="0">
              <a:buNone/>
            </a:pPr>
            <a:r>
              <a:rPr lang="en-US" sz="2000" b="1" dirty="0">
                <a:solidFill>
                  <a:schemeClr val="tx1"/>
                </a:solidFill>
              </a:rPr>
              <a:t>What is actually true</a:t>
            </a:r>
            <a:endParaRPr lang="en-US" sz="2000" dirty="0"/>
          </a:p>
        </p:txBody>
      </p:sp>
      <p:sp>
        <p:nvSpPr>
          <p:cNvPr id="14" name="text"/>
          <p:cNvSpPr txBox="1"/>
          <p:nvPr/>
        </p:nvSpPr>
        <p:spPr>
          <a:xfrm>
            <a:off x="6507328" y="2560320"/>
            <a:ext cx="4907128" cy="2011680"/>
          </a:xfrm>
          <a:prstGeom prst="rect">
            <a:avLst/>
          </a:prstGeom>
          <a:noFill/>
          <a:ln/>
        </p:spPr>
        <p:txBody>
          <a:bodyPr wrap="square" lIns="1270" tIns="1270" rIns="1270" bIns="1270" rtlCol="0" anchor="t"/>
          <a:lstStyle/>
          <a:p>
            <a:pPr indent="0" marL="0">
              <a:spcAft>
                <a:spcPts val="600"/>
              </a:spcAft>
              <a:buNone/>
            </a:pPr>
            <a:r>
              <a:rPr lang="en-US" sz="2000" dirty="0">
                <a:solidFill>
                  <a:schemeClr val="tx1"/>
                </a:solidFill>
              </a:rPr>
              <a:t> It can be no more trustworthy than the model it imitates.</a:t>
            </a:r>
            <a:endParaRPr lang="en-US" sz="2000" dirty="0"/>
          </a:p>
        </p:txBody>
      </p:sp>
      <p:sp>
        <p:nvSpPr>
          <p:cNvPr id="15" name="takeaway"/>
          <p:cNvSpPr/>
          <p:nvPr/>
        </p:nvSpPr>
        <p:spPr>
          <a:xfrm>
            <a:off x="548640" y="4892040"/>
            <a:ext cx="11094415" cy="1280160"/>
          </a:xfrm>
          <a:prstGeom prst="roundRect">
            <a:avLst>
              <a:gd name="adj" fmla="val 8571"/>
            </a:avLst>
          </a:prstGeom>
          <a:solidFill>
            <a:schemeClr val="accent1"/>
          </a:solidFill>
          <a:ln w="12700">
            <a:solidFill>
              <a:schemeClr val="accent1"/>
            </a:solidFill>
            <a:prstDash val="solid"/>
          </a:ln>
        </p:spPr>
      </p:sp>
      <p:sp>
        <p:nvSpPr>
          <p:cNvPr id="16" name="icon-bg-take"/>
          <p:cNvSpPr/>
          <p:nvPr/>
        </p:nvSpPr>
        <p:spPr>
          <a:xfrm>
            <a:off x="822960" y="5257800"/>
            <a:ext cx="548640" cy="548640"/>
          </a:xfrm>
          <a:prstGeom prst="ellipse">
            <a:avLst/>
          </a:prstGeom>
          <a:solidFill>
            <a:schemeClr val="tx2"/>
          </a:solidFill>
          <a:ln w="12700">
            <a:solidFill>
              <a:schemeClr val="tx2"/>
            </a:solidFill>
            <a:prstDash val="solid"/>
          </a:ln>
        </p:spPr>
      </p:sp>
      <p:pic>
        <p:nvPicPr>
          <p:cNvPr id="17" name="icon-take" descr="preencoded.png">    </p:cNvPr>
          <p:cNvPicPr>
            <a:picLocks noChangeAspect="1"/>
          </p:cNvPicPr>
          <p:nvPr/>
        </p:nvPicPr>
        <p:blipFill>
          <a:blip r:embed="rId3"/>
          <a:stretch>
            <a:fillRect/>
          </a:stretch>
        </p:blipFill>
        <p:spPr>
          <a:xfrm>
            <a:off x="954634" y="5389474"/>
            <a:ext cx="285293" cy="285293"/>
          </a:xfrm>
          <a:prstGeom prst="rect">
            <a:avLst/>
          </a:prstGeom>
        </p:spPr>
      </p:pic>
      <p:sp>
        <p:nvSpPr>
          <p:cNvPr id="18" name="Text 12"/>
          <p:cNvSpPr txBox="1"/>
          <p:nvPr/>
        </p:nvSpPr>
        <p:spPr>
          <a:xfrm>
            <a:off x="1554480" y="4983480"/>
            <a:ext cx="9859975" cy="1097280"/>
          </a:xfrm>
          <a:prstGeom prst="rect">
            <a:avLst/>
          </a:prstGeom>
          <a:noFill/>
          <a:ln/>
        </p:spPr>
        <p:txBody>
          <a:bodyPr wrap="square" lIns="635" tIns="635" rIns="635" bIns="635" rtlCol="0" anchor="ctr"/>
          <a:lstStyle/>
          <a:p>
            <a:pPr indent="0" marL="0">
              <a:buNone/>
            </a:pPr>
            <a:r>
              <a:rPr lang="en-US" sz="2200" b="1" dirty="0">
                <a:solidFill>
                  <a:srgbClr val="F2C14E"/>
                </a:solidFill>
              </a:rPr>
              <a:t>Takeaway  </a:t>
            </a:r>
            <a:pPr indent="0" marL="0">
              <a:buNone/>
            </a:pPr>
            <a:r>
              <a:rPr lang="en-US" sz="2200" dirty="0">
                <a:solidFill>
                  <a:srgbClr val="FFFFFF"/>
                </a:solidFill>
              </a:rPr>
              <a:t>Surrogate accuracy and physical accuracy are different claims; state both levels honestly.</a:t>
            </a:r>
            <a:endParaRPr lang="en-US" sz="2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320040"/>
          </a:xfrm>
          <a:prstGeom prst="rect">
            <a:avLst/>
          </a:prstGeom>
          <a:noFill/>
          <a:ln/>
        </p:spPr>
        <p:txBody>
          <a:bodyPr wrap="square" lIns="0" tIns="0" rIns="0" bIns="0" rtlCol="0"/>
          <a:lstStyle/>
          <a:p>
            <a:pPr indent="0" marL="0">
              <a:buNone/>
            </a:pPr>
            <a:r>
              <a:rPr lang="en-US" sz="1400" b="1" dirty="0">
                <a:solidFill>
                  <a:schemeClr val="accent2"/>
                </a:solidFill>
              </a:rPr>
              <a:t>Summary</a:t>
            </a:r>
            <a:endParaRPr lang="en-US" sz="1400" dirty="0"/>
          </a:p>
        </p:txBody>
      </p:sp>
      <p:sp>
        <p:nvSpPr>
          <p:cNvPr id="3" name="Text 0"/>
          <p:cNvSpPr/>
          <p:nvPr>
            <p:ph idx="101" type="title" hasCustomPrompt="1"/>
          </p:nvPr>
        </p:nvSpPr>
        <p:spPr>
          <a:xfrm>
            <a:off x="548640" y="603504"/>
            <a:ext cx="11064240" cy="822960"/>
          </a:xfrm>
          <a:prstGeom prst="rect">
            <a:avLst/>
          </a:prstGeom>
          <a:noFill/>
          <a:ln/>
        </p:spPr>
        <p:txBody>
          <a:bodyPr wrap="square" lIns="0" tIns="0" rIns="0" bIns="0" rtlCol="0" anchor="t"/>
          <a:lstStyle/>
          <a:p>
            <a:pPr algn="l" indent="0" marL="0">
              <a:buNone/>
            </a:pPr>
            <a:r>
              <a:rPr lang="en-US" sz="3200" b="1" dirty="0">
                <a:solidFill>
                  <a:schemeClr val="tx2"/>
                </a:solidFill>
              </a:rPr>
              <a:t>Key takeaways from this lesson</a:t>
            </a:r>
            <a:endParaRPr lang="en-US" sz="3200" dirty="0"/>
          </a:p>
        </p:txBody>
      </p:sp>
      <p:sp>
        <p:nvSpPr>
          <p:cNvPr id="5" name="takeaway-1"/>
          <p:cNvSpPr/>
          <p:nvPr/>
        </p:nvSpPr>
        <p:spPr>
          <a:xfrm>
            <a:off x="548640"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6" name="Text 3"/>
          <p:cNvSpPr txBox="1"/>
          <p:nvPr/>
        </p:nvSpPr>
        <p:spPr>
          <a:xfrm>
            <a:off x="713232"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34440"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Fit → optimize → verify → update</a:t>
            </a:r>
            <a:endParaRPr lang="en-US" sz="2100" dirty="0"/>
          </a:p>
          <a:p>
            <a:pPr indent="0" marL="0">
              <a:buNone/>
            </a:pPr>
            <a:r>
              <a:rPr lang="en-US" sz="2100" dirty="0">
                <a:solidFill>
                  <a:schemeClr val="tx1"/>
                </a:solidFill>
              </a:rPr>
              <a:t>Surrogate-based optimization alternates cheap prediction and expensive verification.</a:t>
            </a:r>
            <a:endParaRPr lang="en-US" sz="2100" dirty="0"/>
          </a:p>
        </p:txBody>
      </p:sp>
      <p:sp>
        <p:nvSpPr>
          <p:cNvPr id="8" name="takeaway-2"/>
          <p:cNvSpPr/>
          <p:nvPr/>
        </p:nvSpPr>
        <p:spPr>
          <a:xfrm>
            <a:off x="6255868" y="1645920"/>
            <a:ext cx="5387188" cy="2103120"/>
          </a:xfrm>
          <a:prstGeom prst="roundRect">
            <a:avLst>
              <a:gd name="adj" fmla="val 5217"/>
            </a:avLst>
          </a:prstGeom>
          <a:solidFill>
            <a:schemeClr val="accent1">
              <a:alpha val="7000"/>
            </a:schemeClr>
          </a:solidFill>
          <a:ln w="12700">
            <a:solidFill>
              <a:schemeClr val="accent1">
                <a:alpha val="30000"/>
              </a:schemeClr>
            </a:solidFill>
            <a:prstDash val="solid"/>
          </a:ln>
        </p:spPr>
      </p:sp>
      <p:sp>
        <p:nvSpPr>
          <p:cNvPr id="9" name="Text 6"/>
          <p:cNvSpPr txBox="1"/>
          <p:nvPr/>
        </p:nvSpPr>
        <p:spPr>
          <a:xfrm>
            <a:off x="6420460" y="1810512"/>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7"/>
          <p:cNvSpPr txBox="1"/>
          <p:nvPr/>
        </p:nvSpPr>
        <p:spPr>
          <a:xfrm>
            <a:off x="6941668" y="1719072"/>
            <a:ext cx="4564228" cy="1956816"/>
          </a:xfrm>
          <a:prstGeom prst="rect">
            <a:avLst/>
          </a:prstGeom>
          <a:noFill/>
          <a:ln/>
        </p:spPr>
        <p:txBody>
          <a:bodyPr wrap="square" lIns="254" tIns="254" rIns="254" bIns="254" rtlCol="0" anchor="ctr"/>
          <a:lstStyle/>
          <a:p>
            <a:pPr indent="0" marL="0">
              <a:buNone/>
            </a:pPr>
            <a:r>
              <a:rPr lang="en-US" sz="2100" b="1" dirty="0">
                <a:solidFill>
                  <a:schemeClr val="tx2"/>
                </a:solidFill>
              </a:rPr>
              <a:t>Scientific limitations of simplified teaching models</a:t>
            </a:r>
            <a:endParaRPr lang="en-US" sz="2100" dirty="0"/>
          </a:p>
          <a:p>
            <a:pPr indent="0" marL="0">
              <a:buNone/>
            </a:pPr>
            <a:r>
              <a:rPr lang="en-US" sz="2100" dirty="0">
                <a:solidFill>
                  <a:schemeClr val="tx1"/>
                </a:solidFill>
              </a:rPr>
              <a:t>Surrogate accuracy and physical accuracy are different claims; state both levels honestly.</a:t>
            </a:r>
            <a:endParaRPr lang="en-US" sz="2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66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7680960" cy="457200"/>
          </a:xfrm>
          <a:prstGeom prst="rect">
            <a:avLst/>
          </a:prstGeom>
          <a:noFill/>
          <a:ln/>
        </p:spPr>
        <p:txBody>
          <a:bodyPr wrap="square" lIns="0" tIns="0" rIns="0" bIns="0" rtlCol="0"/>
          <a:lstStyle/>
          <a:p>
            <a:pPr indent="0" marL="0">
              <a:buNone/>
            </a:pPr>
            <a:r>
              <a:rPr lang="en-US" sz="1800" b="1" spc="200" kern="0" dirty="0">
                <a:solidFill>
                  <a:srgbClr val="F2C14E"/>
                </a:solidFill>
              </a:rPr>
              <a:t>UP NEXT · LESSON 7.1</a:t>
            </a:r>
            <a:endParaRPr lang="en-US" sz="1800" dirty="0"/>
          </a:p>
        </p:txBody>
      </p:sp>
      <p:sp>
        <p:nvSpPr>
          <p:cNvPr id="3" name="Text 0"/>
          <p:cNvSpPr/>
          <p:nvPr>
            <p:ph idx="101" type="title" hasCustomPrompt="1"/>
          </p:nvPr>
        </p:nvSpPr>
        <p:spPr>
          <a:xfrm>
            <a:off x="548640" y="1691640"/>
            <a:ext cx="7680960" cy="2103120"/>
          </a:xfrm>
          <a:prstGeom prst="rect">
            <a:avLst/>
          </a:prstGeom>
          <a:noFill/>
          <a:ln/>
        </p:spPr>
        <p:txBody>
          <a:bodyPr wrap="square" lIns="0" tIns="0" rIns="0" bIns="0" rtlCol="0" anchor="t"/>
          <a:lstStyle/>
          <a:p>
            <a:pPr algn="l" indent="0" marL="0">
              <a:buNone/>
            </a:pPr>
            <a:r>
              <a:rPr lang="en-US" sz="4400" b="1" dirty="0">
                <a:solidFill>
                  <a:schemeClr val="bg1"/>
                </a:solidFill>
              </a:rPr>
              <a:t>Bounded design spaces, full factorial designs and the curse of dimensionality</a:t>
            </a:r>
            <a:endParaRPr lang="en-US" sz="4400" dirty="0"/>
          </a:p>
        </p:txBody>
      </p:sp>
      <p:sp>
        <p:nvSpPr>
          <p:cNvPr id="4" name="Text 0"/>
          <p:cNvSpPr/>
          <p:nvPr>
            <p:ph idx="102" type="body" hasCustomPrompt="1"/>
          </p:nvPr>
        </p:nvSpPr>
        <p:spPr>
          <a:xfrm>
            <a:off x="548640" y="3886200"/>
            <a:ext cx="7680960" cy="1280160"/>
          </a:xfrm>
          <a:prstGeom prst="rect">
            <a:avLst/>
          </a:prstGeom>
          <a:noFill/>
          <a:ln/>
        </p:spPr>
        <p:txBody>
          <a:bodyPr wrap="square" lIns="0" tIns="0" rIns="0" bIns="0" rtlCol="0" anchor="t"/>
          <a:lstStyle/>
          <a:p>
            <a:pPr indent="0" marL="0">
              <a:buNone/>
            </a:pPr>
            <a:r>
              <a:rPr lang="en-US" sz="1800" dirty="0">
                <a:solidFill>
                  <a:srgbClr val="D6E2F0"/>
                </a:solidFill>
              </a:rPr>
              <a:t>That completes Module 6. Before moving on, review the Module 6 flashcards and take its quiz in the course (pass mark 70%). Next: Module 7, Sampling and design of experiments.</a:t>
            </a:r>
            <a:endParaRPr lang="en-US" sz="1800" dirty="0"/>
          </a:p>
        </p:txBody>
      </p:sp>
      <p:sp>
        <p:nvSpPr>
          <p:cNvPr id="5" name="Shape 3"/>
          <p:cNvSpPr/>
          <p:nvPr/>
        </p:nvSpPr>
        <p:spPr>
          <a:xfrm>
            <a:off x="8732520" y="1417320"/>
            <a:ext cx="2926080" cy="2926080"/>
          </a:xfrm>
          <a:prstGeom prst="ellipse">
            <a:avLst/>
          </a:prstGeom>
          <a:solidFill>
            <a:schemeClr val="bg1">
              <a:alpha val="12000"/>
            </a:schemeClr>
          </a:solidFill>
          <a:ln w="38100">
            <a:solidFill>
              <a:srgbClr val="F2C14E"/>
            </a:solidFill>
            <a:prstDash val="solid"/>
          </a:ln>
        </p:spPr>
      </p:sp>
      <p:pic>
        <p:nvPicPr>
          <p:cNvPr id="6" name="icon-next" descr="preencoded.png">    </p:cNvPr>
          <p:cNvPicPr>
            <a:picLocks noChangeAspect="1"/>
          </p:cNvPicPr>
          <p:nvPr/>
        </p:nvPicPr>
        <p:blipFill>
          <a:blip r:embed="rId1"/>
          <a:stretch>
            <a:fillRect/>
          </a:stretch>
        </p:blipFill>
        <p:spPr>
          <a:xfrm>
            <a:off x="9646920" y="2331720"/>
            <a:ext cx="1097280" cy="1097280"/>
          </a:xfrm>
          <a:prstGeom prst="rect">
            <a:avLst/>
          </a:prstGeom>
        </p:spPr>
      </p:pic>
    </p:spTree>
  </p:cSld>
  <p:clrMapOvr>
    <a:masterClrMapping/>
  </p:clrMapOvr>
</p:sld>
</file>

<file path=ppt/theme/theme1.xml><?xml version="1.0" encoding="utf-8"?>
<a:theme xmlns:a="http://schemas.openxmlformats.org/drawingml/2006/main" name="MLSO Course">
  <a:themeElements>
    <a:clrScheme name="MLSO Course">
      <a:dk1>
        <a:srgbClr val="18212B"/>
      </a:dk1>
      <a:lt1>
        <a:srgbClr val="FFFFFF"/>
      </a:lt1>
      <a:dk2>
        <a:srgbClr val="123B6B"/>
      </a:dk2>
      <a:lt2>
        <a:srgbClr val="EEF2F7"/>
      </a:lt2>
      <a:accent1>
        <a:srgbClr val="1F5FA8"/>
      </a:accent1>
      <a:accent2>
        <a:srgbClr val="C2500A"/>
      </a:accent2>
      <a:accent3>
        <a:srgbClr val="1A6E3D"/>
      </a:accent3>
      <a:accent4>
        <a:srgbClr val="B98500"/>
      </a:accent4>
      <a:accent5>
        <a:srgbClr val="7A3FB0"/>
      </a:accent5>
      <a:accent6>
        <a:srgbClr val="B3261E"/>
      </a:accent6>
      <a:hlink>
        <a:srgbClr val="1F5FA8"/>
      </a:hlink>
      <a:folHlink>
        <a:srgbClr val="7A3FB0"/>
      </a:folHlink>
    </a:clrScheme>
    <a:fontScheme name="MLSO Cours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Self-paced course (CC BY 4.0)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Lesson 4: The surrogate-assisted optimization workflow, and limitations</dc:title>
  <dc:subject>Machine Learning Fundamentals for Surrogate-Based Engineering Optimization</dc:subject>
  <dc:creator>Prof. Mazharul Islam</dc:creator>
  <cp:lastModifiedBy>Prof. Mazharul Islam</cp:lastModifiedBy>
  <cp:revision>1</cp:revision>
  <dcterms:created xsi:type="dcterms:W3CDTF">2026-10-07T01:12:31Z</dcterms:created>
  <dcterms:modified xsi:type="dcterms:W3CDTF">2026-10-07T01:12:31Z</dcterms:modified>
</cp:coreProperties>
</file>