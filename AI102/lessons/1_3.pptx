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f6da662-4855-f559-8b35-28bbb410ae3b}">
          <p14:sldIdLst>
            <p14:sldId id="256"/>
          </p14:sldIdLst>
        </p14:section>
        <p14:section name="Lesson 3: Regression vs classification; features, targets, samples, parameters" id="{7db9b381-f788-8edf-3f14-00463721ea04}">
          <p14:sldIdLst>
            <p14:sldId id="257"/>
            <p14:sldId id="258"/>
            <p14:sldId id="259"/>
            <p14:sldId id="260"/>
            <p14:sldId id="261"/>
            <p14:sldId id="262"/>
            <p14:sldId id="263"/>
            <p14:sldId id="264"/>
            <p14:sldId id="265"/>
            <p14:sldId id="266"/>
            <p14:sldId id="267"/>
            <p14:sldId id="268"/>
          </p14:sldIdLst>
        </p14:section>
        <p14:section name="Summary" id="{6308da77-1718-0105-a29b-9d78d1fd1091}">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 Lesson 3 of the self-paced course Machine Learning Fundamentals for Surrogate-Based Engineering Optimization: Regression vs classification; features, targets, samples, parameters. This lesson belongs to the module AI and ML from the beginning and takes about 9 minutes. In this lesson: The vocabulary of a dataset; Regression versus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vocabulary of a dataset. Picture a table. Each row is a sample (one simulation run, one test). The input columns are features (also called inputs, predictors or, in design, design variables). The column we want to predict is the target (output, response). Fitting adjusts the model’s parameters. Applying the fitted model to new inputs gives predictions. Look at the figure. A small heat-sink dataset: features s and t, target R; each row is one run of the model. A table with columns run, s (mm), t (mm), R (K/W). The s and t columns are highlighted as features, the R column as target, and one row is outlined as a single sample. Beside it: model ŷ = f(x; θ), θ are parameters learned in fitting, ŷ is the prediction for new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We store features in a matrix X of shape n × d (samples × features) and targets in a vector y of length n. X = [ x_1^T ; … ; x_n^T ] ∈ ℝ^n^×^d, y ∈ ℝ^n For the heat sink, d = 2 (s, t) and y = R in K/W.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In a structural study the features might be plate thickness (mm) and rib height (mm); the target the tip deflection (mm). Parameters are internal to the model (e.g., regression coefficients) — they are not design variables. A practical tip: Put units in column names (s_mm, R_KperW). It prevents the most common engineering ML bug: mixed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In the heat-sink table, is the fin thickness t a parameter or a feature?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A feature (and design variable). Parameters are the numbers inside the fitted model, such as polynomial coefficients.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“Parameters” and “design variables” are interchangeable. In fact: In this course, design variables are inputs you choose; parameters are fitted model coefficients. (Some texts use “design parameters” for inputs — always check the context.) The takeaway: Rows = samples; input columns = features/design variables; output column = target; fitted coefficients =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versus classification. Regression predicts a continuous number (thermal resistance, stress, efficiency). Classification predicts a category (feasible/infeasible, defect/no defect, failure mode). Surrogates of simulator outputs are almost always regression; feasibility can be treated either way. Look at the figure. Left: regression predicts R as a number. Right: classification labels designs as feasible or infeasible. Left plot: a smooth curve of thermal resistance versus fin gap with sample points. Right plot: scattered designs in the s–t plane marked as feasible (circles) or infeasible (crosses).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Regression: ŷ ∈ ℝ, often trained with squared-error loss. Classification: ŷ ∈ {class 1, …, class K}, often trained to output class probabilities.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Heat sink: predicting R is regression. Predicting whether a design meets the mass limit is classification — but since mass is a simple formula we compute it exactly instead. Machining: predicting R_a (µm) is regression; predicting chatter / no chatter is classification. A practical tip: If a constraint can be predicted as a continuous margin (e.g., stress − allowable), regress the margin rather than a yes/no label: you keep information about how close to the limit you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Predicting the number of cycles to fatigue failure of a welded joint — regression or classification?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Regression (a positive number, often modelled on a log scale). Predicting “survives 10⁶ cycles: yes/no” would be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If outputs are integers, it must be classification. In fact: Counts like cycles to failure are numbers with order and magnitude; regression is appropriate. The takeaway: Number → regression; category → classification. Surrogate optimization is mainly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The vocabulary of a dataset: Rows = samples; input columns = features/design variables; output column = target; fitted coefficients = parameters. Regression versus classification: Number → regression; category → classification. Surrogate optimization is mainly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3 of Module 1: Regression vs classification; features, targets, samples, parameters. Next comes Lesson 4: When ML is useful — and when it is unnecessary.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1, Lesson 3 · Regression vs classification; features, targets, samples, parameters</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1, Lesson 3 · Regression vs classification; features, targets, samples, parameters</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01 · LESSON 3 OF 4 · ≈ 9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Regression vs classification; features, targets, samples, parameters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1: AI and ML from the beginning</a:t>
            </a:r>
            <a:endParaRPr lang="en-US" sz="1800" dirty="0"/>
          </a:p>
          <a:p>
            <a:pPr marL="342900" indent="-342900">
              <a:buSzPct val="100000"/>
              <a:buChar char="•"/>
            </a:pPr>
            <a:r>
              <a:rPr lang="en-US" sz="1800" dirty="0">
                <a:solidFill>
                  <a:srgbClr val="D6E2F0"/>
                </a:solidFill>
              </a:rPr>
              <a:t>The vocabulary of a dataset</a:t>
            </a:r>
            <a:endParaRPr lang="en-US" sz="1800" dirty="0"/>
          </a:p>
          <a:p>
            <a:pPr marL="342900" indent="-342900">
              <a:buSzPct val="100000"/>
              <a:buChar char="•"/>
            </a:pPr>
            <a:r>
              <a:rPr lang="en-US" sz="1800" dirty="0">
                <a:solidFill>
                  <a:srgbClr val="D6E2F0"/>
                </a:solidFill>
              </a:rPr>
              <a:t>Regression versus classification</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1.3</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Regression vs classification; features, targets, samples, parameters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The vocabulary of a dataset</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005840"/>
          </a:xfrm>
          <a:prstGeom prst="rect">
            <a:avLst/>
          </a:prstGeom>
          <a:noFill/>
          <a:ln/>
        </p:spPr>
        <p:txBody>
          <a:bodyPr wrap="square" lIns="1270" tIns="1270" rIns="1270" bIns="1270" rtlCol="0" anchor="t"/>
          <a:lstStyle/>
          <a:p>
            <a:pPr indent="0" marL="0">
              <a:spcAft>
                <a:spcPts val="600"/>
              </a:spcAft>
              <a:buNone/>
            </a:pPr>
            <a:r>
              <a:rPr lang="en-US" sz="1400" dirty="0">
                <a:solidFill>
                  <a:schemeClr val="tx1"/>
                </a:solidFill>
              </a:rPr>
              <a:t>Picture a table. Each </a:t>
            </a:r>
            <a:pPr indent="0" marL="0">
              <a:spcAft>
                <a:spcPts val="600"/>
              </a:spcAft>
              <a:buNone/>
            </a:pPr>
            <a:r>
              <a:rPr lang="en-US" sz="1400" b="1" dirty="0">
                <a:solidFill>
                  <a:schemeClr val="tx1"/>
                </a:solidFill>
              </a:rPr>
              <a:t>row</a:t>
            </a:r>
            <a:pPr indent="0" marL="0">
              <a:spcAft>
                <a:spcPts val="600"/>
              </a:spcAft>
              <a:buNone/>
            </a:pPr>
            <a:r>
              <a:rPr lang="en-US" sz="1400" dirty="0">
                <a:solidFill>
                  <a:schemeClr val="tx1"/>
                </a:solidFill>
              </a:rPr>
              <a:t> is a </a:t>
            </a:r>
            <a:pPr indent="0" marL="0">
              <a:spcAft>
                <a:spcPts val="600"/>
              </a:spcAft>
              <a:buNone/>
            </a:pPr>
            <a:r>
              <a:rPr lang="en-US" sz="1400" b="1" dirty="0">
                <a:solidFill>
                  <a:schemeClr val="tx1"/>
                </a:solidFill>
              </a:rPr>
              <a:t>sample</a:t>
            </a:r>
            <a:pPr indent="0" marL="0">
              <a:spcAft>
                <a:spcPts val="600"/>
              </a:spcAft>
              <a:buNone/>
            </a:pPr>
            <a:r>
              <a:rPr lang="en-US" sz="1400" dirty="0">
                <a:solidFill>
                  <a:schemeClr val="tx1"/>
                </a:solidFill>
              </a:rPr>
              <a:t> (one simulation run, one test). The input columns are </a:t>
            </a:r>
            <a:pPr indent="0" marL="0">
              <a:spcAft>
                <a:spcPts val="600"/>
              </a:spcAft>
              <a:buNone/>
            </a:pPr>
            <a:r>
              <a:rPr lang="en-US" sz="1400" b="1" dirty="0">
                <a:solidFill>
                  <a:schemeClr val="tx1"/>
                </a:solidFill>
              </a:rPr>
              <a:t>features</a:t>
            </a:r>
            <a:pPr indent="0" marL="0">
              <a:spcAft>
                <a:spcPts val="600"/>
              </a:spcAft>
              <a:buNone/>
            </a:pPr>
            <a:r>
              <a:rPr lang="en-US" sz="1400" dirty="0">
                <a:solidFill>
                  <a:schemeClr val="tx1"/>
                </a:solidFill>
              </a:rPr>
              <a:t> (also called inputs, predictors or, in design, </a:t>
            </a:r>
            <a:pPr indent="0" marL="0">
              <a:spcAft>
                <a:spcPts val="600"/>
              </a:spcAft>
              <a:buNone/>
            </a:pPr>
            <a:r>
              <a:rPr lang="en-US" sz="1400" b="1" dirty="0">
                <a:solidFill>
                  <a:schemeClr val="tx1"/>
                </a:solidFill>
              </a:rPr>
              <a:t>design variables</a:t>
            </a:r>
            <a:pPr indent="0" marL="0">
              <a:spcAft>
                <a:spcPts val="600"/>
              </a:spcAft>
              <a:buNone/>
            </a:pPr>
            <a:r>
              <a:rPr lang="en-US" sz="1400" dirty="0">
                <a:solidFill>
                  <a:schemeClr val="tx1"/>
                </a:solidFill>
              </a:rPr>
              <a:t>). The column we want to predict is the </a:t>
            </a:r>
            <a:pPr indent="0" marL="0">
              <a:spcAft>
                <a:spcPts val="600"/>
              </a:spcAft>
              <a:buNone/>
            </a:pPr>
            <a:r>
              <a:rPr lang="en-US" sz="1400" b="1" dirty="0">
                <a:solidFill>
                  <a:schemeClr val="tx1"/>
                </a:solidFill>
              </a:rPr>
              <a:t>target</a:t>
            </a:r>
            <a:pPr indent="0" marL="0">
              <a:spcAft>
                <a:spcPts val="600"/>
              </a:spcAft>
              <a:buNone/>
            </a:pPr>
            <a:r>
              <a:rPr lang="en-US" sz="1400" dirty="0">
                <a:solidFill>
                  <a:schemeClr val="tx1"/>
                </a:solidFill>
              </a:rPr>
              <a:t> (output, response). Fitting adjusts the model’s </a:t>
            </a:r>
            <a:pPr indent="0" marL="0">
              <a:spcAft>
                <a:spcPts val="600"/>
              </a:spcAft>
              <a:buNone/>
            </a:pPr>
            <a:r>
              <a:rPr lang="en-US" sz="1400" b="1" dirty="0">
                <a:solidFill>
                  <a:schemeClr val="tx1"/>
                </a:solidFill>
              </a:rPr>
              <a:t>parameters</a:t>
            </a:r>
            <a:pPr indent="0" marL="0">
              <a:spcAft>
                <a:spcPts val="600"/>
              </a:spcAft>
              <a:buNone/>
            </a:pPr>
            <a:r>
              <a:rPr lang="en-US" sz="1400" dirty="0">
                <a:solidFill>
                  <a:schemeClr val="tx1"/>
                </a:solidFill>
              </a:rPr>
              <a:t>. Applying the fitted model to new inputs gives </a:t>
            </a:r>
            <a:pPr indent="0" marL="0">
              <a:spcAft>
                <a:spcPts val="600"/>
              </a:spcAft>
              <a:buNone/>
            </a:pPr>
            <a:r>
              <a:rPr lang="en-US" sz="1400" b="1" dirty="0">
                <a:solidFill>
                  <a:schemeClr val="tx1"/>
                </a:solidFill>
              </a:rPr>
              <a:t>predictions</a:t>
            </a:r>
            <a:pPr indent="0" marL="0">
              <a:spcAft>
                <a:spcPts val="600"/>
              </a:spcAft>
              <a:buNone/>
            </a:pPr>
            <a:r>
              <a:rPr lang="en-US" sz="1400" dirty="0">
                <a:solidFill>
                  <a:schemeClr val="tx1"/>
                </a:solidFill>
              </a:rPr>
              <a:t>.</a:t>
            </a:r>
            <a:endParaRPr lang="en-US" sz="1400" dirty="0"/>
          </a:p>
        </p:txBody>
      </p:sp>
      <p:pic>
        <p:nvPicPr>
          <p:cNvPr id="8" name="figure" descr="A table with columns run, s (mm), t (mm), R (K/W). The s and t columns are highlighted as features, the R column as target, and one row is outlined as a single sample. Beside it: model ŷ = f(x; θ), θ are parameters learned in fitting, ŷ is the prediction for new x.">    </p:cNvPr>
          <p:cNvPicPr>
            <a:picLocks noChangeAspect="1"/>
          </p:cNvPicPr>
          <p:nvPr/>
        </p:nvPicPr>
        <p:blipFill>
          <a:blip r:embed="rId2"/>
          <a:stretch>
            <a:fillRect/>
          </a:stretch>
        </p:blipFill>
        <p:spPr>
          <a:xfrm>
            <a:off x="2101274" y="2743200"/>
            <a:ext cx="7989147" cy="2880360"/>
          </a:xfrm>
          <a:prstGeom prst="rect">
            <a:avLst/>
          </a:prstGeom>
        </p:spPr>
      </p:pic>
      <p:sp>
        <p:nvSpPr>
          <p:cNvPr id="9" name="Text 4"/>
          <p:cNvSpPr txBox="1"/>
          <p:nvPr/>
        </p:nvSpPr>
        <p:spPr>
          <a:xfrm>
            <a:off x="548640" y="5669280"/>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A small heat-sink dataset: features s and t, target R; each row is one run of the model.</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Regression vs classification; features, targets, samples, parameters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The vocabulary of a dataset</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717040"/>
          </a:xfrm>
          <a:prstGeom prst="roundRect">
            <a:avLst>
              <a:gd name="adj" fmla="val 6391"/>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625600"/>
          </a:xfrm>
          <a:prstGeom prst="rect">
            <a:avLst/>
          </a:prstGeom>
          <a:noFill/>
          <a:ln/>
        </p:spPr>
        <p:txBody>
          <a:bodyPr wrap="square" lIns="1270" tIns="1270" rIns="1270" bIns="1270" rtlCol="0" anchor="ctr"/>
          <a:lstStyle/>
          <a:p>
            <a:pPr indent="0" marL="0">
              <a:spcAft>
                <a:spcPts val="800"/>
              </a:spcAft>
              <a:buNone/>
            </a:pPr>
            <a:r>
              <a:rPr lang="en-US" sz="2000" dirty="0">
                <a:solidFill>
                  <a:schemeClr val="tx1"/>
                </a:solidFill>
              </a:rPr>
              <a:t>We store features in a matrix </a:t>
            </a:r>
            <a:pPr indent="0" marL="0">
              <a:buNone/>
            </a:pPr>
            <a:r>
              <a:rPr lang="en-US" sz="2000" b="1" dirty="0">
                <a:solidFill>
                  <a:schemeClr val="tx1"/>
                </a:solidFill>
              </a:rPr>
              <a:t>X</a:t>
            </a:r>
            <a:pPr indent="0" marL="0">
              <a:buNone/>
            </a:pPr>
            <a:r>
              <a:rPr lang="en-US" sz="2000" dirty="0">
                <a:solidFill>
                  <a:schemeClr val="tx1"/>
                </a:solidFill>
              </a:rPr>
              <a:t> of shape </a:t>
            </a:r>
            <a:pPr indent="0" marL="0">
              <a:buNone/>
            </a:pPr>
            <a:r>
              <a:rPr lang="en-US" sz="2000" i="1" dirty="0">
                <a:solidFill>
                  <a:schemeClr val="tx1"/>
                </a:solidFill>
              </a:rPr>
              <a:t>n</a:t>
            </a:r>
            <a:pPr indent="0" marL="0">
              <a:buNone/>
            </a:pPr>
            <a:r>
              <a:rPr lang="en-US" sz="2000" dirty="0">
                <a:solidFill>
                  <a:schemeClr val="tx1"/>
                </a:solidFill>
              </a:rPr>
              <a:t> × </a:t>
            </a:r>
            <a:pPr indent="0" marL="0">
              <a:buNone/>
            </a:pPr>
            <a:r>
              <a:rPr lang="en-US" sz="2000" i="1" dirty="0">
                <a:solidFill>
                  <a:schemeClr val="tx1"/>
                </a:solidFill>
              </a:rPr>
              <a:t>d</a:t>
            </a:r>
            <a:pPr indent="0" marL="0">
              <a:buNone/>
            </a:pPr>
            <a:r>
              <a:rPr lang="en-US" sz="2000" dirty="0">
                <a:solidFill>
                  <a:schemeClr val="tx1"/>
                </a:solidFill>
              </a:rPr>
              <a:t> (samples × features) and targets in a vector </a:t>
            </a:r>
            <a:pPr indent="0" marL="0">
              <a:buNone/>
            </a:pPr>
            <a:r>
              <a:rPr lang="en-US" sz="2000" b="1" dirty="0">
                <a:solidFill>
                  <a:schemeClr val="tx1"/>
                </a:solidFill>
              </a:rPr>
              <a:t>y</a:t>
            </a:r>
            <a:pPr indent="0" marL="0">
              <a:buNone/>
            </a:pPr>
            <a:r>
              <a:rPr lang="en-US" sz="2000" dirty="0">
                <a:solidFill>
                  <a:schemeClr val="tx1"/>
                </a:solidFill>
              </a:rPr>
              <a:t> of length </a:t>
            </a:r>
            <a:pPr indent="0" marL="0">
              <a:buNone/>
            </a:pPr>
            <a:r>
              <a:rPr lang="en-US" sz="2000" i="1" dirty="0">
                <a:solidFill>
                  <a:schemeClr val="tx1"/>
                </a:solidFill>
              </a:rPr>
              <a:t>n</a:t>
            </a:r>
            <a:pPr indent="0" marL="0">
              <a:buNone/>
            </a:pPr>
            <a:r>
              <a:rPr lang="en-US" sz="2000" dirty="0">
                <a:solidFill>
                  <a:schemeClr val="tx1"/>
                </a:solidFill>
              </a:rPr>
              <a:t>.</a:t>
            </a:r>
            <a:endParaRPr lang="en-US" sz="2000" dirty="0"/>
          </a:p>
          <a:p>
            <a:pPr algn="ctr" indent="0" marL="0">
              <a:spcAft>
                <a:spcPts val="800"/>
              </a:spcAft>
              <a:buNone/>
            </a:pPr>
            <a:r>
              <a:rPr lang="en-US" sz="2000" b="1" dirty="0">
                <a:solidFill>
                  <a:schemeClr val="tx1"/>
                </a:solidFill>
              </a:rPr>
              <a:t>X</a:t>
            </a:r>
            <a:pPr algn="ctr" indent="0" marL="0">
              <a:buNone/>
            </a:pPr>
            <a:r>
              <a:rPr lang="en-US" sz="2000" dirty="0">
                <a:solidFill>
                  <a:schemeClr val="tx1"/>
                </a:solidFill>
              </a:rPr>
              <a:t> = [ </a:t>
            </a:r>
            <a:pPr algn="ctr" indent="0" marL="0">
              <a:buNone/>
            </a:pPr>
            <a:r>
              <a:rPr lang="en-US" sz="2000" b="1" dirty="0">
                <a:solidFill>
                  <a:schemeClr val="tx1"/>
                </a:solidFill>
              </a:rPr>
              <a:t>x</a:t>
            </a:r>
            <a:pPr algn="ctr" indent="0" marL="0">
              <a:buNone/>
            </a:pPr>
            <a:r>
              <a:rPr lang="en-US" sz="2000" baseline="-40000" dirty="0">
                <a:solidFill>
                  <a:schemeClr val="tx1"/>
                </a:solidFill>
              </a:rPr>
              <a:t>1</a:t>
            </a:r>
            <a:pPr algn="ctr" indent="0" marL="0">
              <a:buNone/>
            </a:pPr>
            <a:r>
              <a:rPr lang="en-US" sz="2000" baseline="30000" dirty="0">
                <a:solidFill>
                  <a:schemeClr val="tx1"/>
                </a:solidFill>
              </a:rPr>
              <a:t>T</a:t>
            </a:r>
            <a:pPr algn="ctr" indent="0" marL="0">
              <a:buNone/>
            </a:pPr>
            <a:r>
              <a:rPr lang="en-US" sz="2000" dirty="0">
                <a:solidFill>
                  <a:schemeClr val="tx1"/>
                </a:solidFill>
              </a:rPr>
              <a:t> ; … ; </a:t>
            </a:r>
            <a:pPr algn="ctr" indent="0" marL="0">
              <a:buNone/>
            </a:pPr>
            <a:r>
              <a:rPr lang="en-US" sz="2000" b="1" dirty="0">
                <a:solidFill>
                  <a:schemeClr val="tx1"/>
                </a:solidFill>
              </a:rPr>
              <a:t>x</a:t>
            </a:r>
            <a:pPr algn="ctr" indent="0" marL="0">
              <a:buNone/>
            </a:pPr>
            <a:r>
              <a:rPr lang="en-US" sz="2000" i="1" baseline="-40000" dirty="0">
                <a:solidFill>
                  <a:schemeClr val="tx1"/>
                </a:solidFill>
              </a:rPr>
              <a:t>n</a:t>
            </a:r>
            <a:pPr algn="ctr" indent="0" marL="0">
              <a:buNone/>
            </a:pPr>
            <a:r>
              <a:rPr lang="en-US" sz="2000" baseline="30000" dirty="0">
                <a:solidFill>
                  <a:schemeClr val="tx1"/>
                </a:solidFill>
              </a:rPr>
              <a:t>T</a:t>
            </a:r>
            <a:pPr algn="ctr" indent="0" marL="0">
              <a:buNone/>
            </a:pPr>
            <a:r>
              <a:rPr lang="en-US" sz="2000" dirty="0">
                <a:solidFill>
                  <a:schemeClr val="tx1"/>
                </a:solidFill>
              </a:rPr>
              <a:t> ] ∈ ℝ</a:t>
            </a:r>
            <a:pPr algn="ctr" indent="0" marL="0">
              <a:buNone/>
            </a:pPr>
            <a:r>
              <a:rPr lang="en-US" sz="2000" i="1" baseline="30000" dirty="0">
                <a:solidFill>
                  <a:schemeClr val="tx1"/>
                </a:solidFill>
              </a:rPr>
              <a:t>n</a:t>
            </a:r>
            <a:pPr algn="ctr" indent="0" marL="0">
              <a:buNone/>
            </a:pPr>
            <a:r>
              <a:rPr lang="en-US" sz="2000" baseline="30000" dirty="0">
                <a:solidFill>
                  <a:schemeClr val="tx1"/>
                </a:solidFill>
              </a:rPr>
              <a:t>×</a:t>
            </a:r>
            <a:pPr algn="ctr" indent="0" marL="0">
              <a:buNone/>
            </a:pPr>
            <a:r>
              <a:rPr lang="en-US" sz="2000" i="1" baseline="30000" dirty="0">
                <a:solidFill>
                  <a:schemeClr val="tx1"/>
                </a:solidFill>
              </a:rPr>
              <a:t>d</a:t>
            </a:r>
            <a:pPr algn="ctr" indent="0" marL="0">
              <a:buNone/>
            </a:pPr>
            <a:r>
              <a:rPr lang="en-US" sz="2000" dirty="0">
                <a:solidFill>
                  <a:schemeClr val="tx1"/>
                </a:solidFill>
              </a:rPr>
              <a:t>, </a:t>
            </a:r>
            <a:pPr algn="ctr" indent="0" marL="0">
              <a:buNone/>
            </a:pPr>
            <a:r>
              <a:rPr lang="en-US" sz="2000" b="1" dirty="0">
                <a:solidFill>
                  <a:schemeClr val="tx1"/>
                </a:solidFill>
              </a:rPr>
              <a:t>y</a:t>
            </a:r>
            <a:pPr algn="ctr" indent="0" marL="0">
              <a:buNone/>
            </a:pPr>
            <a:r>
              <a:rPr lang="en-US" sz="2000" dirty="0">
                <a:solidFill>
                  <a:schemeClr val="tx1"/>
                </a:solidFill>
              </a:rPr>
              <a:t> ∈ ℝ</a:t>
            </a:r>
            <a:pPr algn="ctr" indent="0" marL="0">
              <a:buNone/>
            </a:pPr>
            <a:r>
              <a:rPr lang="en-US" sz="2000" i="1" baseline="30000" dirty="0">
                <a:solidFill>
                  <a:schemeClr val="tx1"/>
                </a:solidFill>
              </a:rPr>
              <a:t>n</a:t>
            </a:r>
            <a:endParaRPr lang="en-US" sz="2000" dirty="0"/>
          </a:p>
          <a:p>
            <a:pPr indent="0" marL="0">
              <a:buNone/>
            </a:pPr>
            <a:r>
              <a:rPr lang="en-US" sz="2000" dirty="0">
                <a:solidFill>
                  <a:schemeClr val="tx1"/>
                </a:solidFill>
              </a:rPr>
              <a:t>For the heat sink, </a:t>
            </a:r>
            <a:pPr indent="0" marL="0">
              <a:buNone/>
            </a:pPr>
            <a:r>
              <a:rPr lang="en-US" sz="2000" i="1" dirty="0">
                <a:solidFill>
                  <a:schemeClr val="tx1"/>
                </a:solidFill>
              </a:rPr>
              <a:t>d</a:t>
            </a:r>
            <a:pPr indent="0" marL="0">
              <a:buNone/>
            </a:pPr>
            <a:r>
              <a:rPr lang="en-US" sz="2000" dirty="0">
                <a:solidFill>
                  <a:schemeClr val="tx1"/>
                </a:solidFill>
              </a:rPr>
              <a:t> = 2 (s, t) and </a:t>
            </a:r>
            <a:pPr indent="0" marL="0">
              <a:buNone/>
            </a:pPr>
            <a:r>
              <a:rPr lang="en-US" sz="2000" i="1" dirty="0">
                <a:solidFill>
                  <a:schemeClr val="tx1"/>
                </a:solidFill>
              </a:rPr>
              <a:t>y</a:t>
            </a:r>
            <a:pPr indent="0" marL="0">
              <a:buNone/>
            </a:pPr>
            <a:r>
              <a:rPr lang="en-US" sz="2000" dirty="0">
                <a:solidFill>
                  <a:schemeClr val="tx1"/>
                </a:solidFill>
              </a:rPr>
              <a:t> = </a:t>
            </a:r>
            <a:pPr indent="0" marL="0">
              <a:buNone/>
            </a:pPr>
            <a:r>
              <a:rPr lang="en-US" sz="2000" i="1" dirty="0">
                <a:solidFill>
                  <a:schemeClr val="tx1"/>
                </a:solidFill>
              </a:rPr>
              <a:t>R</a:t>
            </a:r>
            <a:pPr indent="0" marL="0">
              <a:buNone/>
            </a:pPr>
            <a:r>
              <a:rPr lang="en-US" sz="2000" dirty="0">
                <a:solidFill>
                  <a:schemeClr val="tx1"/>
                </a:solidFill>
              </a:rPr>
              <a:t> in K/W.</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Regression vs classification; features, targets, samples, parameters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The vocabulary of a dataset</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In a structural study the features might be plate thickness (mm) and rib height (mm); the target the tip deflection (mm). Parameters are internal to the model (e.g., regression coefficients) — they are </a:t>
            </a:r>
            <a:pPr indent="0" marL="0">
              <a:spcAft>
                <a:spcPts val="600"/>
              </a:spcAft>
              <a:buNone/>
            </a:pPr>
            <a:r>
              <a:rPr lang="en-US" sz="2000" i="1" dirty="0">
                <a:solidFill>
                  <a:schemeClr val="tx1"/>
                </a:solidFill>
              </a:rPr>
              <a:t>not</a:t>
            </a:r>
            <a:pPr indent="0" marL="0">
              <a:spcAft>
                <a:spcPts val="600"/>
              </a:spcAft>
              <a:buNone/>
            </a:pPr>
            <a:r>
              <a:rPr lang="en-US" sz="2000" dirty="0">
                <a:solidFill>
                  <a:schemeClr val="tx1"/>
                </a:solidFill>
              </a:rPr>
              <a:t> design variables.</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Put units in column names (</a:t>
            </a:r>
            <a:pPr indent="0" marL="0">
              <a:spcAft>
                <a:spcPts val="600"/>
              </a:spcAft>
              <a:buNone/>
            </a:pPr>
            <a:r>
              <a:rPr lang="en-US" sz="2000" dirty="0">
                <a:solidFill>
                  <a:schemeClr val="tx1"/>
                </a:solidFill>
                <a:latin typeface="Courier New" pitchFamily="34" charset="0"/>
                <a:ea typeface="Courier New" pitchFamily="34" charset="-122"/>
                <a:cs typeface="Courier New" pitchFamily="34" charset="-120"/>
              </a:rPr>
              <a:t>s_mm</a:t>
            </a:r>
            <a:pPr indent="0" marL="0">
              <a:spcAft>
                <a:spcPts val="600"/>
              </a:spcAft>
              <a:buNone/>
            </a:pPr>
            <a:r>
              <a:rPr lang="en-US" sz="2000" dirty="0">
                <a:solidFill>
                  <a:schemeClr val="tx1"/>
                </a:solidFill>
              </a:rPr>
              <a:t>, </a:t>
            </a:r>
            <a:pPr indent="0" marL="0">
              <a:spcAft>
                <a:spcPts val="600"/>
              </a:spcAft>
              <a:buNone/>
            </a:pPr>
            <a:r>
              <a:rPr lang="en-US" sz="2000" dirty="0">
                <a:solidFill>
                  <a:schemeClr val="tx1"/>
                </a:solidFill>
                <a:latin typeface="Courier New" pitchFamily="34" charset="0"/>
                <a:ea typeface="Courier New" pitchFamily="34" charset="-122"/>
                <a:cs typeface="Courier New" pitchFamily="34" charset="-120"/>
              </a:rPr>
              <a:t>R_KperW</a:t>
            </a:r>
            <a:pPr indent="0" marL="0">
              <a:spcAft>
                <a:spcPts val="600"/>
              </a:spcAft>
              <a:buNone/>
            </a:pPr>
            <a:r>
              <a:rPr lang="en-US" sz="2000" dirty="0">
                <a:solidFill>
                  <a:schemeClr val="tx1"/>
                </a:solidFill>
              </a:rPr>
              <a:t>). It prevents the most common engineering ML bug: mixed units.</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Regression vs classification; features, targets, samples, parameters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In the heat-sink table, is the fin thickness t a parameter or a feature?</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Regression vs classification; features, targets, samples, parameters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In the heat-sink table, is the fin thickness t a parameter or a feature?</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A feature (and design variable). Parameters are the numbers inside the fitted model, such as polynomial coefficients.</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Regression vs classification; features, targets, samples, parameters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The vocabulary of a dataset</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“Parameters” and “design variables” are interchangeable.</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In this course, design variables are inputs you choose; parameters are fitted model coefficients. (Some texts use “design parameters” for inputs — always check the context.)</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Rows = samples; input columns = features/design variables; output column = target; fitted coefficients = parameters.</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Regression vs classification; features, targets, samples, parameters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Regression versus classification</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005840"/>
          </a:xfrm>
          <a:prstGeom prst="rect">
            <a:avLst/>
          </a:prstGeom>
          <a:noFill/>
          <a:ln/>
        </p:spPr>
        <p:txBody>
          <a:bodyPr wrap="square" lIns="1270" tIns="1270" rIns="1270" bIns="1270" rtlCol="0" anchor="t"/>
          <a:lstStyle/>
          <a:p>
            <a:pPr indent="0" marL="0">
              <a:spcAft>
                <a:spcPts val="600"/>
              </a:spcAft>
              <a:buNone/>
            </a:pPr>
            <a:r>
              <a:rPr lang="en-US" sz="1600" b="1" dirty="0">
                <a:solidFill>
                  <a:schemeClr val="tx1"/>
                </a:solidFill>
              </a:rPr>
              <a:t>Regression</a:t>
            </a:r>
            <a:pPr indent="0" marL="0">
              <a:spcAft>
                <a:spcPts val="600"/>
              </a:spcAft>
              <a:buNone/>
            </a:pPr>
            <a:r>
              <a:rPr lang="en-US" sz="1600" dirty="0">
                <a:solidFill>
                  <a:schemeClr val="tx1"/>
                </a:solidFill>
              </a:rPr>
              <a:t> predicts a continuous number (thermal resistance, stress, efficiency). </a:t>
            </a:r>
            <a:pPr indent="0" marL="0">
              <a:spcAft>
                <a:spcPts val="600"/>
              </a:spcAft>
              <a:buNone/>
            </a:pPr>
            <a:r>
              <a:rPr lang="en-US" sz="1600" b="1" dirty="0">
                <a:solidFill>
                  <a:schemeClr val="tx1"/>
                </a:solidFill>
              </a:rPr>
              <a:t>Classification</a:t>
            </a:r>
            <a:pPr indent="0" marL="0">
              <a:spcAft>
                <a:spcPts val="600"/>
              </a:spcAft>
              <a:buNone/>
            </a:pPr>
            <a:r>
              <a:rPr lang="en-US" sz="1600" dirty="0">
                <a:solidFill>
                  <a:schemeClr val="tx1"/>
                </a:solidFill>
              </a:rPr>
              <a:t> predicts a category (feasible/infeasible, defect/no defect, failure mode). Surrogates of simulator outputs are almost always regression; feasibility can be treated either way.</a:t>
            </a:r>
            <a:endParaRPr lang="en-US" sz="1600" dirty="0"/>
          </a:p>
        </p:txBody>
      </p:sp>
      <p:pic>
        <p:nvPicPr>
          <p:cNvPr id="8" name="figure" descr="Left plot: a smooth curve of thermal resistance versus fin gap with sample points. Right plot: scattered designs in the s–t plane marked as feasible (circles) or infeasible (crosses).">    </p:cNvPr>
          <p:cNvPicPr>
            <a:picLocks noChangeAspect="1"/>
          </p:cNvPicPr>
          <p:nvPr/>
        </p:nvPicPr>
        <p:blipFill>
          <a:blip r:embed="rId2"/>
          <a:stretch>
            <a:fillRect/>
          </a:stretch>
        </p:blipFill>
        <p:spPr>
          <a:xfrm>
            <a:off x="2117645" y="2743200"/>
            <a:ext cx="7956404" cy="2880360"/>
          </a:xfrm>
          <a:prstGeom prst="rect">
            <a:avLst/>
          </a:prstGeom>
        </p:spPr>
      </p:pic>
      <p:sp>
        <p:nvSpPr>
          <p:cNvPr id="9" name="Text 4"/>
          <p:cNvSpPr txBox="1"/>
          <p:nvPr/>
        </p:nvSpPr>
        <p:spPr>
          <a:xfrm>
            <a:off x="548640" y="5669280"/>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Left: regression predicts R as a number. Right: classification labels designs as feasible or infeasible.</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Regression vs classification; features, targets, samples, parameters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Regression versus classification</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894080"/>
          </a:xfrm>
          <a:prstGeom prst="roundRect">
            <a:avLst>
              <a:gd name="adj" fmla="val 12273"/>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802640"/>
          </a:xfrm>
          <a:prstGeom prst="rect">
            <a:avLst/>
          </a:prstGeom>
          <a:noFill/>
          <a:ln/>
        </p:spPr>
        <p:txBody>
          <a:bodyPr wrap="square" lIns="1270" tIns="1270" rIns="1270" bIns="1270" rtlCol="0" anchor="ctr"/>
          <a:lstStyle/>
          <a:p>
            <a:pPr indent="0" marL="0">
              <a:buNone/>
            </a:pPr>
            <a:r>
              <a:rPr lang="en-US" sz="2000" dirty="0">
                <a:solidFill>
                  <a:schemeClr val="tx1"/>
                </a:solidFill>
              </a:rPr>
              <a:t>Regression: </a:t>
            </a:r>
            <a:pPr indent="0" marL="0">
              <a:buNone/>
            </a:pPr>
            <a:r>
              <a:rPr lang="en-US" sz="2000" i="1" dirty="0">
                <a:solidFill>
                  <a:schemeClr val="tx1"/>
                </a:solidFill>
              </a:rPr>
              <a:t>ŷ</a:t>
            </a:r>
            <a:pPr indent="0" marL="0">
              <a:buNone/>
            </a:pPr>
            <a:r>
              <a:rPr lang="en-US" sz="2000" dirty="0">
                <a:solidFill>
                  <a:schemeClr val="tx1"/>
                </a:solidFill>
              </a:rPr>
              <a:t> ∈ ℝ, often trained with squared-error loss. Classification: </a:t>
            </a:r>
            <a:pPr indent="0" marL="0">
              <a:buNone/>
            </a:pPr>
            <a:r>
              <a:rPr lang="en-US" sz="2000" i="1" dirty="0">
                <a:solidFill>
                  <a:schemeClr val="tx1"/>
                </a:solidFill>
              </a:rPr>
              <a:t>ŷ</a:t>
            </a:r>
            <a:pPr indent="0" marL="0">
              <a:buNone/>
            </a:pPr>
            <a:r>
              <a:rPr lang="en-US" sz="2000" dirty="0">
                <a:solidFill>
                  <a:schemeClr val="tx1"/>
                </a:solidFill>
              </a:rPr>
              <a:t> ∈ {class 1, …, class K}, often trained to output class probabilities.</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Regression vs classification; features, targets, samples, parameters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Regression versus classification</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Heat sink: predicting </a:t>
            </a:r>
            <a:pPr indent="0" marL="0">
              <a:spcAft>
                <a:spcPts val="600"/>
              </a:spcAft>
              <a:buNone/>
            </a:pPr>
            <a:r>
              <a:rPr lang="en-US" sz="2000" i="1" dirty="0">
                <a:solidFill>
                  <a:schemeClr val="tx1"/>
                </a:solidFill>
              </a:rPr>
              <a:t>R</a:t>
            </a:r>
            <a:pPr indent="0" marL="0">
              <a:spcAft>
                <a:spcPts val="600"/>
              </a:spcAft>
              <a:buNone/>
            </a:pPr>
            <a:r>
              <a:rPr lang="en-US" sz="2000" dirty="0">
                <a:solidFill>
                  <a:schemeClr val="tx1"/>
                </a:solidFill>
              </a:rPr>
              <a:t> is regression. Predicting whether a design meets the mass limit is classification — but since mass is a simple formula we compute it exactly instead. Machining: predicting </a:t>
            </a:r>
            <a:pPr indent="0" marL="0">
              <a:spcAft>
                <a:spcPts val="600"/>
              </a:spcAft>
              <a:buNone/>
            </a:pPr>
            <a:r>
              <a:rPr lang="en-US" sz="2000" i="1" dirty="0">
                <a:solidFill>
                  <a:schemeClr val="tx1"/>
                </a:solidFill>
              </a:rPr>
              <a:t>R</a:t>
            </a:r>
            <a:pPr indent="0" marL="0">
              <a:spcAft>
                <a:spcPts val="600"/>
              </a:spcAft>
              <a:buNone/>
            </a:pPr>
            <a:r>
              <a:rPr lang="en-US" sz="2000" baseline="-40000" dirty="0">
                <a:solidFill>
                  <a:schemeClr val="tx1"/>
                </a:solidFill>
              </a:rPr>
              <a:t>a</a:t>
            </a:r>
            <a:pPr indent="0" marL="0">
              <a:spcAft>
                <a:spcPts val="600"/>
              </a:spcAft>
              <a:buNone/>
            </a:pPr>
            <a:r>
              <a:rPr lang="en-US" sz="2000" dirty="0">
                <a:solidFill>
                  <a:schemeClr val="tx1"/>
                </a:solidFill>
              </a:rPr>
              <a:t> (µm) is regression; predicting chatter / no chatter is classification.</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If a constraint can be predicted as a continuous margin (e.g., stress − allowable), regress the margin rather than a yes/no label: you keep information about how close to the limit you are.</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Regression vs classification; features, targets, samples, parameters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Predicting the number of cycles to fatigue failure of a welded joint — regression or classification?</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Regression vs classification; features, targets, samples, parameters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Predicting the number of cycles to fatigue failure of a welded joint — regression or classification?</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Regression (a positive number, often modelled on a log scale). Predicting “survives 10⁶ cycles: yes/no” would be classification.</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Regression vs classification; features, targets, samples, parameters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Regression versus classification</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If outputs are integers, it must be classification.</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Counts like cycles to failure are numbers with order and magnitude; regression is appropriate.</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Number → regression; category → classification. Surrogate optimization is mainly regression.</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The vocabulary of a dataset</a:t>
            </a:r>
            <a:endParaRPr lang="en-US" sz="2100" dirty="0"/>
          </a:p>
          <a:p>
            <a:pPr indent="0" marL="0">
              <a:buNone/>
            </a:pPr>
            <a:r>
              <a:rPr lang="en-US" sz="2100" dirty="0">
                <a:solidFill>
                  <a:schemeClr val="tx1"/>
                </a:solidFill>
              </a:rPr>
              <a:t>Rows = samples; input columns = features/design variables; output column = target; fitted coefficients = parameters.</a:t>
            </a:r>
            <a:endParaRPr lang="en-US" sz="2100" dirty="0"/>
          </a:p>
        </p:txBody>
      </p:sp>
      <p:sp>
        <p:nvSpPr>
          <p:cNvPr id="8" name="takeaway-2"/>
          <p:cNvSpPr/>
          <p:nvPr/>
        </p:nvSpPr>
        <p:spPr>
          <a:xfrm>
            <a:off x="6255868"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9" name="Text 6"/>
          <p:cNvSpPr txBox="1"/>
          <p:nvPr/>
        </p:nvSpPr>
        <p:spPr>
          <a:xfrm>
            <a:off x="6420460"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6941668"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Regression versus classification</a:t>
            </a:r>
            <a:endParaRPr lang="en-US" sz="2100" dirty="0"/>
          </a:p>
          <a:p>
            <a:pPr indent="0" marL="0">
              <a:buNone/>
            </a:pPr>
            <a:r>
              <a:rPr lang="en-US" sz="2100" dirty="0">
                <a:solidFill>
                  <a:schemeClr val="tx1"/>
                </a:solidFill>
              </a:rPr>
              <a:t>Number → regression; category → classification. Surrogate optimization is mainly regression.</a:t>
            </a:r>
            <a:endParaRPr lang="en-US" sz="2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1.4</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When ML is useful — and when it is unnecessary</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Next in Module 1: Lesson 4. Mark this lesson complete in the course before continuing.</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Lesson 3: Regression vs classification; features, targets, samples, parameters</dc:title>
  <dc:subject>Machine Learning Fundamentals for Surrogate-Based Engineering Optimization</dc:subject>
  <dc:creator>Prof. Mazharul Islam</dc:creator>
  <cp:lastModifiedBy>Prof. Mazharul Islam</cp:lastModifiedBy>
  <cp:revision>1</cp:revision>
  <dcterms:created xsi:type="dcterms:W3CDTF">2026-10-07T01:12:30Z</dcterms:created>
  <dcterms:modified xsi:type="dcterms:W3CDTF">2026-10-07T01:12:30Z</dcterms:modified>
</cp:coreProperties>
</file>