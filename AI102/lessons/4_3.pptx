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6a22a0-de4b-bddb-7209-94cc8a5ab9b2}">
          <p14:sldIdLst>
            <p14:sldId id="256"/>
          </p14:sldIdLst>
        </p14:section>
        <p14:section name="Lesson 3: Interpreting coefficients and comparing with baselines" id="{f378fb87-c83b-601e-8816-ef6d873342ca}">
          <p14:sldIdLst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ummary" id="{eb772f0b-0c0b-d216-7fbc-ffe88f8b3d15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4, Lesson 3 of the self-paced course Machine Learning Fundamentals for Surrogate-Based Engineering Optimization: Interpreting coefficients and comparing with baselines. This lesson belongs to the module Your first regression model and takes about 9 minutes. In this lesson: Coefficients have units — and a model needs a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Coefficients have units — and a model needs a baseline. A coefficient tells you how much the prediction changes per unit change of a feature, holding others fixed — so it carries units. A model is only useful if it beats simple alternatives: a constant baseline (always predict the training mean) and, when available, a physics-based estimate. Look at the figure. Predicted vs measured temperature rise on held-out points for a constant baseline, a physics estimate, and fitted linear regression. Parity plot: measured ΔT on the x-axis, predicted on the y-axis, with a dashed 45° line. Constant-baseline squares form a horizontal band; physics-estimate diamonds lie near but slightly off the diagonal; regression circles lie closest to it. Test RMSE values are printed.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mathematics. ŷ = b_0 + b_1x_1 + b_2x_2 ⇒ (∂ŷ)/(∂x_1) = b_1 [units of y per unit of x_1] If features are scaled, coefficients are per scaled unit; convert back before interpreting physically.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does this matter in engineering? Bench test: b_1 ≈ 0.6 K/W is the sink’s effective resistance; comparing with a datasheet value is a physics sanity check. Manufacturing: in R_a = b_0 + b_1·feed, b_1 has units µm per (mm/rev). Note: correlated features make individual coefficients unstable even when predictions are good. A practical tip: Start every study with a constant baseline and the best simple physics estimate. Report how much your model improves on them on the same test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to predict. A model of fan power (W) has coefficient 0.8 on rotational speed in rpm. A colleague says “speed barely matters because 0.8 is small”. Correct? Pause here and commit to an answer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answer. No. 0.8 W per rpm over a range of, say, 1 000 rpm is 800 W. Coefficient size depends on units; multiply by the realistic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common misconception is this: A complex model with low training error does not need a baseline. In fact: Without a baseline you cannot tell whether the model adds value. Sometimes the constant or physics baseline is nearly as good — and simpler. The takeaway: Coefficients mean “change in ŷ per unit x” and carry units; always compare against constant and physics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 up this lesson. Coefficients have units — and a model needs a baseline: Coefficients mean “change in ŷ per unit x” and carry units; always compare against constant and physics baselines.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completes Lesson 3 of Module 4: Interpreting coefficients and comparing with baselines. This was the last lesson of the module, so review the flashcards and take the Module 4 quiz in the course. Next comes Module 5, Generalization and trustworthy validation, starting with Training, validation and test 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2F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58064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Machine Learning Fundamentals for Surrogate-Based Engineering Optimization · course version 3.0.0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548640" y="6126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6"/>
                </a:solidFill>
              </a:rPr>
              <a:t>© 2026 Prof. Mazharul Islam · CC BY 4.0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dirty="0">
                <a:solidFill>
                  <a:srgbClr val="F2C14E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9319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3ECF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</a:rPr>
              <a:t>Module 4, Lesson 3 · Interpreting coefficients and comparing with baselines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Module 4, Lesson 3 · Interpreting coefficients and comparing with baselines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7223760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2"/>
                </a:solidFill>
              </a:rPr>
              <a:t>© 2026 Prof. Mazharul Islam · CC BY 4.0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MODULE 04 · LESSON 3 OF 3 · ≈ 9 MIN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Interpreting coefficients and comparing with baselines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D6E2F0"/>
                </a:solidFill>
              </a:rPr>
              <a:t>Module 4: Your first regression model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D6E2F0"/>
                </a:solidFill>
              </a:rPr>
              <a:t>Coefficients have units — and a model needs a baseline</a:t>
            </a:r>
            <a:endParaRPr lang="en-US" sz="1800" dirty="0"/>
          </a:p>
        </p:txBody>
      </p:sp>
      <p:sp>
        <p:nvSpPr>
          <p:cNvPr id="5" name="lesson-number-ring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sp>
        <p:nvSpPr>
          <p:cNvPr id="6" name="lesson-number"/>
          <p:cNvSpPr txBox="1"/>
          <p:nvPr/>
        </p:nvSpPr>
        <p:spPr>
          <a:xfrm>
            <a:off x="8732520" y="141732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chemeClr val="bg1"/>
                </a:solidFill>
              </a:rPr>
              <a:t>4.3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Interpreting coefficients and comparing with baselines · Intuition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Coefficients have units — and a model needs a baseline</a:t>
            </a:r>
            <a:endParaRPr lang="en-US" sz="2500" dirty="0"/>
          </a:p>
        </p:txBody>
      </p:sp>
      <p:sp>
        <p:nvSpPr>
          <p:cNvPr id="5" name="intuition-card"/>
          <p:cNvSpPr/>
          <p:nvPr/>
        </p:nvSpPr>
        <p:spPr>
          <a:xfrm>
            <a:off x="54864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icon-bg-intu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-intu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95221"/>
            <a:ext cx="261518" cy="261518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685800" y="2468880"/>
            <a:ext cx="4846320" cy="3611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 coefficient tells you how much the prediction changes per unit change of a feature, holding others fixed — so it carries units. A model is only useful if it beats simple alternatives: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constant baseline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(always predict the training mean) and, when available, a </a:t>
            </a:r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physics-based estimate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pic>
        <p:nvPicPr>
          <p:cNvPr id="9" name="figure" descr="Parity plot: measured ΔT on the x-axis, predicted on the y-axis, with a dashed 45° line. Constant-baseline squares form a horizontal band; physics-estimate diamonds lie near but slightly off the diagonal; regression circles lie closest to it. Test RMSE values are printed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653735" cy="33888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989320" y="5126246"/>
            <a:ext cx="5653735" cy="1091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6525F"/>
                </a:solidFill>
              </a:rPr>
              <a:t>Predicted vs measured temperature rise on held-out points for a constant baseline, a physics estimate, and fitted linear regression.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Interpreting coefficients and comparing with baselines · The mathematics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Coefficients have units — and a model needs a baseline</a:t>
            </a:r>
            <a:endParaRPr lang="en-US" sz="2500" dirty="0"/>
          </a:p>
        </p:txBody>
      </p:sp>
      <p:sp>
        <p:nvSpPr>
          <p:cNvPr id="5" name="icon-bg-math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mat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766621"/>
            <a:ext cx="261518" cy="261518"/>
          </a:xfrm>
          <a:prstGeom prst="rect">
            <a:avLst/>
          </a:prstGeom>
        </p:spPr>
      </p:pic>
      <p:sp>
        <p:nvSpPr>
          <p:cNvPr id="7" name="math-card"/>
          <p:cNvSpPr/>
          <p:nvPr/>
        </p:nvSpPr>
        <p:spPr>
          <a:xfrm>
            <a:off x="1143000" y="1600200"/>
            <a:ext cx="10500055" cy="1305560"/>
          </a:xfrm>
          <a:prstGeom prst="roundRect">
            <a:avLst>
              <a:gd name="adj" fmla="val 8405"/>
            </a:avLst>
          </a:prstGeom>
          <a:solidFill>
            <a:schemeClr val="bg2"/>
          </a:solidFill>
          <a:ln w="12700">
            <a:solidFill>
              <a:schemeClr val="bg2">
                <a:alpha val="30000"/>
              </a:schemeClr>
            </a:solidFill>
            <a:prstDash val="solid"/>
          </a:ln>
        </p:spPr>
      </p:sp>
      <p:sp>
        <p:nvSpPr>
          <p:cNvPr id="8" name="math-text"/>
          <p:cNvSpPr txBox="1"/>
          <p:nvPr/>
        </p:nvSpPr>
        <p:spPr>
          <a:xfrm>
            <a:off x="1234440" y="1645920"/>
            <a:ext cx="10408615" cy="12141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2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⇒ (∂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ŷ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)/(∂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 =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[units of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y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per unit of </a:t>
            </a:r>
            <a:pPr algn="ctr" indent="0" marL="0">
              <a:buNone/>
            </a:pPr>
            <a:r>
              <a:rPr lang="en-US" sz="2000" i="1" dirty="0">
                <a:solidFill>
                  <a:schemeClr val="tx1"/>
                </a:solidFill>
              </a:rPr>
              <a:t>x</a:t>
            </a:r>
            <a:pPr algn="ctr" indent="0" marL="0"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]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If features are scaled, coefficients are per scaled unit; convert back before interpreting physically.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Interpreting coefficients and comparing with baselines · In engineering practice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Coefficients have units — and a model needs a baseline</a:t>
            </a:r>
            <a:endParaRPr lang="en-US" sz="2500" dirty="0"/>
          </a:p>
        </p:txBody>
      </p:sp>
      <p:sp>
        <p:nvSpPr>
          <p:cNvPr id="5" name="Engineering application"/>
          <p:cNvSpPr/>
          <p:nvPr/>
        </p:nvSpPr>
        <p:spPr>
          <a:xfrm>
            <a:off x="548640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6" name="icon-bg-app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icon-ap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Engineering application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Bench test: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≈ 0.6 K/W is the sink’s effective resistance; comparing with a datasheet value is a physics sanity check. Manufacturing: in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R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a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=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0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+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·feed, </a:t>
            </a:r>
            <a:pPr indent="0" marL="0"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tx1"/>
                </a:solidFill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2000" baseline="-40000" dirty="0">
                <a:solidFill>
                  <a:schemeClr val="tx1"/>
                </a:solidFill>
              </a:rPr>
              <a:t>1</a:t>
            </a:r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has units µm per (mm/rev). Note: correlated features make individual coefficients unstable even when predictions are good.</a:t>
            </a:r>
            <a:endParaRPr lang="en-US" sz="2000" dirty="0"/>
          </a:p>
        </p:txBody>
      </p:sp>
      <p:sp>
        <p:nvSpPr>
          <p:cNvPr id="10" name="Practical tip"/>
          <p:cNvSpPr/>
          <p:nvPr/>
        </p:nvSpPr>
        <p:spPr>
          <a:xfrm>
            <a:off x="6278728" y="1691640"/>
            <a:ext cx="5364328" cy="4480560"/>
          </a:xfrm>
          <a:prstGeom prst="roundRect">
            <a:avLst>
              <a:gd name="adj" fmla="val 2449"/>
            </a:avLst>
          </a:prstGeom>
          <a:solidFill>
            <a:schemeClr val="accent4">
              <a:alpha val="10000"/>
            </a:schemeClr>
          </a:solidFill>
          <a:ln w="12700">
            <a:solidFill>
              <a:schemeClr val="accent4">
                <a:alpha val="30000"/>
              </a:schemeClr>
            </a:solidFill>
            <a:prstDash val="solid"/>
          </a:ln>
        </p:spPr>
      </p:sp>
      <p:sp>
        <p:nvSpPr>
          <p:cNvPr id="11" name="icon-bg-tip"/>
          <p:cNvSpPr/>
          <p:nvPr/>
        </p:nvSpPr>
        <p:spPr>
          <a:xfrm>
            <a:off x="6553048" y="1920240"/>
            <a:ext cx="566928" cy="56692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2" name="icon-t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110" y="2056303"/>
            <a:ext cx="294803" cy="29480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65960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Practical tip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697480"/>
            <a:ext cx="4907128" cy="33375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Start every study with a constant baseline and the best simple physics estimate. Report how much your model improves on them on the same test data.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Interpreting coefficients and comparing with baselines · Predict before you look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Pause and predict</a:t>
            </a:r>
            <a:endParaRPr lang="en-US" sz="3200" dirty="0"/>
          </a:p>
        </p:txBody>
      </p:sp>
      <p:sp>
        <p:nvSpPr>
          <p:cNvPr id="5" name="question-card"/>
          <p:cNvSpPr/>
          <p:nvPr/>
        </p:nvSpPr>
        <p:spPr>
          <a:xfrm>
            <a:off x="548640" y="1737360"/>
            <a:ext cx="11094415" cy="3291840"/>
          </a:xfrm>
          <a:prstGeom prst="roundRect">
            <a:avLst>
              <a:gd name="adj" fmla="val 3333"/>
            </a:avLst>
          </a:prstGeom>
          <a:solidFill>
            <a:schemeClr val="accent2">
              <a:alpha val="9000"/>
            </a:schemeClr>
          </a:solidFill>
          <a:ln w="12700">
            <a:solidFill>
              <a:schemeClr val="accent2">
                <a:alpha val="30000"/>
              </a:schemeClr>
            </a:solidFill>
            <a:prstDash val="solid"/>
          </a:ln>
        </p:spPr>
      </p:sp>
      <p:sp>
        <p:nvSpPr>
          <p:cNvPr id="6" name="icon-bg-predict"/>
          <p:cNvSpPr/>
          <p:nvPr/>
        </p:nvSpPr>
        <p:spPr>
          <a:xfrm>
            <a:off x="868680" y="201168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con-predic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187245"/>
            <a:ext cx="380390" cy="380390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874520" y="1965960"/>
            <a:ext cx="9448495" cy="28346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model of fan power (W) has coefficient 0.8 on rotational speed in rpm. A colleague says “speed barely matters because 0.8 is small”. Correct?</a:t>
            </a:r>
            <a:endParaRPr lang="en-US" sz="2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6525F"/>
                </a:solidFill>
              </a:rPr>
              <a:t>Write down your answer, then continue to the next slide.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Interpreting coefficients and comparing with baselines · Answer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happens, and why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6525F"/>
                </a:solidFill>
              </a:rPr>
              <a:t>Question: </a:t>
            </a:r>
            <a:pPr indent="0" marL="0">
              <a:buNone/>
            </a:pPr>
            <a:r>
              <a:rPr lang="en-US" sz="1400" dirty="0">
                <a:solidFill>
                  <a:srgbClr val="46525F"/>
                </a:solidFill>
              </a:rPr>
              <a:t>A model of fan power (W) has coefficient 0.8 on rotational speed in rpm. A colleague says “speed barely matters because 0.8 is small”. Correct?</a:t>
            </a:r>
            <a:endParaRPr lang="en-US" sz="1400" dirty="0"/>
          </a:p>
        </p:txBody>
      </p:sp>
      <p:sp>
        <p:nvSpPr>
          <p:cNvPr id="6" name="answer-card"/>
          <p:cNvSpPr/>
          <p:nvPr/>
        </p:nvSpPr>
        <p:spPr>
          <a:xfrm>
            <a:off x="548640" y="2606040"/>
            <a:ext cx="11094415" cy="3566160"/>
          </a:xfrm>
          <a:prstGeom prst="roundRect">
            <a:avLst>
              <a:gd name="adj" fmla="val 3077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7" name="icon-bg-answer"/>
          <p:cNvSpPr/>
          <p:nvPr/>
        </p:nvSpPr>
        <p:spPr>
          <a:xfrm>
            <a:off x="868680" y="2880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con-answ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3055925"/>
            <a:ext cx="380390" cy="380390"/>
          </a:xfrm>
          <a:prstGeom prst="rect">
            <a:avLst/>
          </a:prstGeom>
        </p:spPr>
      </p:pic>
      <p:sp>
        <p:nvSpPr>
          <p:cNvPr id="9" name="text"/>
          <p:cNvSpPr txBox="1"/>
          <p:nvPr/>
        </p:nvSpPr>
        <p:spPr>
          <a:xfrm>
            <a:off x="1874520" y="2788920"/>
            <a:ext cx="9448495" cy="32004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No. 0.8 W per rpm over a range of, say, 1 000 rpm is 800 W. Coefficient size depends on units; multiply by the realistic range.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Lesson 3 · Interpreting coefficients and comparing with baselines · Common misconception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chemeClr val="tx2"/>
                </a:solidFill>
              </a:rPr>
              <a:t>Coefficients have units — and a model needs a baseline</a:t>
            </a:r>
            <a:endParaRPr lang="en-US" sz="2500" dirty="0"/>
          </a:p>
        </p:txBody>
      </p:sp>
      <p:sp>
        <p:nvSpPr>
          <p:cNvPr id="5" name="Misconception"/>
          <p:cNvSpPr/>
          <p:nvPr/>
        </p:nvSpPr>
        <p:spPr>
          <a:xfrm>
            <a:off x="548640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6">
              <a:alpha val="9000"/>
            </a:schemeClr>
          </a:solidFill>
          <a:ln w="12700">
            <a:solidFill>
              <a:schemeClr val="accent6">
                <a:alpha val="30000"/>
              </a:schemeClr>
            </a:solidFill>
            <a:prstDash val="solid"/>
          </a:ln>
        </p:spPr>
      </p:sp>
      <p:sp>
        <p:nvSpPr>
          <p:cNvPr id="6" name="icon-bg-mis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7" name="icon-mi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200619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Misconception</a:t>
            </a:r>
            <a:endParaRPr lang="en-US" sz="2000" dirty="0"/>
          </a:p>
        </p:txBody>
      </p:sp>
      <p:sp>
        <p:nvSpPr>
          <p:cNvPr id="9" name="text"/>
          <p:cNvSpPr txBox="1"/>
          <p:nvPr/>
        </p:nvSpPr>
        <p:spPr>
          <a:xfrm>
            <a:off x="777240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A complex model with low training error does not need a baseline.</a:t>
            </a:r>
            <a:endParaRPr lang="en-US" sz="2000" dirty="0"/>
          </a:p>
        </p:txBody>
      </p:sp>
      <p:sp>
        <p:nvSpPr>
          <p:cNvPr id="10" name="What is actually true"/>
          <p:cNvSpPr/>
          <p:nvPr/>
        </p:nvSpPr>
        <p:spPr>
          <a:xfrm>
            <a:off x="6278728" y="1691640"/>
            <a:ext cx="5364328" cy="2971800"/>
          </a:xfrm>
          <a:prstGeom prst="roundRect">
            <a:avLst>
              <a:gd name="adj" fmla="val 3692"/>
            </a:avLst>
          </a:prstGeom>
          <a:solidFill>
            <a:schemeClr val="accent3">
              <a:alpha val="9000"/>
            </a:schemeClr>
          </a:solidFill>
          <a:ln w="12700">
            <a:solidFill>
              <a:schemeClr val="accent3">
                <a:alpha val="30000"/>
              </a:schemeClr>
            </a:solidFill>
            <a:prstDash val="solid"/>
          </a:ln>
        </p:spPr>
      </p:sp>
      <p:sp>
        <p:nvSpPr>
          <p:cNvPr id="11" name="icon-bg-cor"/>
          <p:cNvSpPr/>
          <p:nvPr/>
        </p:nvSpPr>
        <p:spPr>
          <a:xfrm>
            <a:off x="6553048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2" name="icon-co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721" y="200619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238848" y="1901952"/>
            <a:ext cx="4175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actually true</a:t>
            </a:r>
            <a:endParaRPr lang="en-US" sz="2000" dirty="0"/>
          </a:p>
        </p:txBody>
      </p:sp>
      <p:sp>
        <p:nvSpPr>
          <p:cNvPr id="14" name="text"/>
          <p:cNvSpPr txBox="1"/>
          <p:nvPr/>
        </p:nvSpPr>
        <p:spPr>
          <a:xfrm>
            <a:off x="6507328" y="2560320"/>
            <a:ext cx="4907128" cy="2011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Without a baseline you cannot tell whether the model adds value. Sometimes the constant or physics baseline is nearly as good — and simpler.</a:t>
            </a:r>
            <a:endParaRPr lang="en-US" sz="2000" dirty="0"/>
          </a:p>
        </p:txBody>
      </p:sp>
      <p:sp>
        <p:nvSpPr>
          <p:cNvPr id="15" name="takeaway"/>
          <p:cNvSpPr/>
          <p:nvPr/>
        </p:nvSpPr>
        <p:spPr>
          <a:xfrm>
            <a:off x="548640" y="489204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icon-bg-take"/>
          <p:cNvSpPr/>
          <p:nvPr/>
        </p:nvSpPr>
        <p:spPr>
          <a:xfrm>
            <a:off x="822960" y="5257800"/>
            <a:ext cx="548640" cy="5486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icon-tak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53894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54480" y="4983480"/>
            <a:ext cx="9859975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C14E"/>
                </a:solidFill>
              </a:rPr>
              <a:t>Takeaway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Coefficients mean “change in ŷ per unit x” and carry units; always compare against constant and physics baselines.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Summary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takeaways from this lesson</a:t>
            </a:r>
            <a:endParaRPr lang="en-US" sz="3200" dirty="0"/>
          </a:p>
        </p:txBody>
      </p:sp>
      <p:sp>
        <p:nvSpPr>
          <p:cNvPr id="5" name="takeaway-1"/>
          <p:cNvSpPr/>
          <p:nvPr/>
        </p:nvSpPr>
        <p:spPr>
          <a:xfrm>
            <a:off x="548640" y="1645920"/>
            <a:ext cx="5387188" cy="2103120"/>
          </a:xfrm>
          <a:prstGeom prst="roundRect">
            <a:avLst>
              <a:gd name="adj" fmla="val 5217"/>
            </a:avLst>
          </a:prstGeom>
          <a:solidFill>
            <a:schemeClr val="accent1">
              <a:alpha val="7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" y="181051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719072"/>
            <a:ext cx="4564228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Coefficients have units — and a model needs a baseline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Coefficients mean “change in ŷ per unit x” and carry units; always compare against constant and physics baselines.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6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143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2C14E"/>
                </a:solidFill>
              </a:rPr>
              <a:t>UP NEXT · LESSON 5.1</a:t>
            </a:r>
            <a:endParaRPr lang="en-US" sz="18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9164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Training, validation and test sets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6E2F0"/>
                </a:solidFill>
              </a:rPr>
              <a:t>That completes Module 4. Before moving on, review the Module 4 flashcards and take its quiz in the course (pass mark 70%). Next: Module 5, Generalization and trustworthy validation.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732520" y="1417320"/>
            <a:ext cx="2926080" cy="2926080"/>
          </a:xfrm>
          <a:prstGeom prst="ellipse">
            <a:avLst/>
          </a:prstGeom>
          <a:solidFill>
            <a:schemeClr val="bg1">
              <a:alpha val="12000"/>
            </a:schemeClr>
          </a:solidFill>
          <a:ln w="38100">
            <a:solidFill>
              <a:srgbClr val="F2C14E"/>
            </a:solidFill>
            <a:prstDash val="solid"/>
          </a:ln>
        </p:spPr>
      </p:sp>
      <p:pic>
        <p:nvPicPr>
          <p:cNvPr id="6" name="icon-nex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33172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LSO Course">
  <a:themeElements>
    <a:clrScheme name="MLSO Course">
      <a:dk1>
        <a:srgbClr val="18212B"/>
      </a:dk1>
      <a:lt1>
        <a:srgbClr val="FFFFFF"/>
      </a:lt1>
      <a:dk2>
        <a:srgbClr val="123B6B"/>
      </a:dk2>
      <a:lt2>
        <a:srgbClr val="EEF2F7"/>
      </a:lt2>
      <a:accent1>
        <a:srgbClr val="1F5FA8"/>
      </a:accent1>
      <a:accent2>
        <a:srgbClr val="C2500A"/>
      </a:accent2>
      <a:accent3>
        <a:srgbClr val="1A6E3D"/>
      </a:accent3>
      <a:accent4>
        <a:srgbClr val="B98500"/>
      </a:accent4>
      <a:accent5>
        <a:srgbClr val="7A3FB0"/>
      </a:accent5>
      <a:accent6>
        <a:srgbClr val="B3261E"/>
      </a:accent6>
      <a:hlink>
        <a:srgbClr val="1F5FA8"/>
      </a:hlink>
      <a:folHlink>
        <a:srgbClr val="7A3FB0"/>
      </a:folHlink>
    </a:clrScheme>
    <a:fontScheme name="MLSO Cours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Self-paced course (CC BY 4.0)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4, Lesson 3: Interpreting coefficients and comparing with baselines</dc:title>
  <dc:subject>Machine Learning Fundamentals for Surrogate-Based Engineering Optimization</dc:subject>
  <dc:creator>Prof. Mazharul Islam</dc:creator>
  <cp:lastModifiedBy>Prof. Mazharul Islam</cp:lastModifiedBy>
  <cp:revision>1</cp:revision>
  <dcterms:created xsi:type="dcterms:W3CDTF">2026-10-07T01:12:30Z</dcterms:created>
  <dcterms:modified xsi:type="dcterms:W3CDTF">2026-10-07T01:12:30Z</dcterms:modified>
</cp:coreProperties>
</file>