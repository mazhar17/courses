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1611dafd-19e9-5ab9-ad93-5e225374457c}">
          <p14:sldIdLst>
            <p14:sldId id="256"/>
          </p14:sldIdLst>
        </p14:section>
        <p14:section name="Lesson 1: Linear regression, residuals and least squares" id="{8cfc1df5-cf43-ffac-d8c6-5f1c228857f0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Summary" id="{4cdb8977-5732-20e4-145a-140f9da14f03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Module 4, Lesson 1 of the self-paced course Machine Learning Fundamentals for Surrogate-Based Engineering Optimization: Linear regression, residuals and least squares. This lesson belongs to the module Your first regression model and takes about 10 minutes. In this lesson: Fitting a line by minimizing squared residuals.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Fitting a line by minimizing squared residuals. On a test bench, a heater dissipates power P into a heat sink and we measure the temperature rise ΔT. Physics suggests ΔT ≈ R P. Measurements scatter. Linear regression finds the line that best follows the points. Each vertical gap between a point and the line is a residual. Least squares chooses the line that makes the sum of squared residuals as small as possible. Look at the figure. Adjust intercept and slope; residuals (dashed red) and error metrics update; snap to the least-squares solution. Scatter of temperature rise versus heater power with a fitted line and vertical dashed residual segments. Sliders set intercept and slope; the readout shows SSE, MAE, RMSE, R² and the least-squares coefficients.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the mathematics. ŷ_i = b_0 + b_1 x_i, e_i = y_i − ŷ_i, SSE = Σ e_i^2 b_1 = (Σ(x_i − x̄)(y_i − ȳ))/(Σ(x_i − x̄)^2), b_0 = ȳ − b_1x̄ x = P is the heater power (feature), in W. y = ΔT is the measured temperature rise (target), in K. b_0 is the intercept: predicted ΔT at P = 0, in K. b_1 is the slope: K per W, i.e. a thermal resistance, in K/W. e_i is the residual, in 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Continuing. These formulas come from setting ∂SSE/∂b_0 = ∂SSE/∂b_1 = 0. With many features, the same idea gives β̂ = arg min ‖y − Xβ‖², solved by linear algebra (QR factorization in this page’s demos).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does this matter in engineering? The fitted slope estimates the thermal resistance of the tested sink in K/W; the intercept captures an offset (e.g., sensor bias or ambient drift) in K. The same least-squares machinery fits polynomial response surfaces in Module 8: “linear” refers to linearity in the coefficients, not in x. A practical tip: Always plot the data with the fitted line and the residuals. Patterns in residuals (curvature, funnel shape) reveal model inadequacy that a single number hides.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 to predict. Points: (P, ΔT) = (10 W, 7 K), (20 W, 13 K), (30 W, 19 K). What are the least-squares b₁ and b₀? Pause here and commit to an answer before moving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the answer. The points are exactly collinear: b₁ = 6 K / 10 W = 0.6 K/W, b₀ = 7 − 0.6 × 10 = 1 K. All residuals are zero.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common misconception is this: Least squares minimizes the perpendicular distances to the line. In fact: Ordinary least squares minimizes vertical distances (errors in y), assuming x is known accurately. The takeaway: Least squares picks coefficients minimizing Σ residual²; the slope of ΔT vs P is a resistance in K/W.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sum up this lesson. Fitting a line by minimizing squared residuals: Least squares picks coefficients minimizing Σ residual²; the slope of ΔT vs P is a resistance in K/W.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That completes Lesson 1 of Module 4: Linear regression, residuals and least squares. Next comes Lesson 2: Measuring error: MAE, RMSE and R².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76809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b="1" spc="200" kern="0" dirty="0">
                <a:solidFill>
                  <a:srgbClr val="F2C14E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768096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886200"/>
            <a:ext cx="768096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D6E2F0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580644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6"/>
                </a:solidFill>
              </a:rPr>
              <a:t>Machine Learning Fundamentals for Surrogate-Based Engineering Optimization · course version 3.0.0</a:t>
            </a:r>
            <a:endParaRPr lang="en-US" sz="1200" dirty="0"/>
          </a:p>
        </p:txBody>
      </p:sp>
      <p:sp>
        <p:nvSpPr>
          <p:cNvPr id="6" name="Text 1"/>
          <p:cNvSpPr/>
          <p:nvPr/>
        </p:nvSpPr>
        <p:spPr>
          <a:xfrm>
            <a:off x="548640" y="61264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6"/>
                </a:solidFill>
              </a:rPr>
              <a:t>© 2026 Prof. Mazharul Islam · CC BY 4.0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10058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b="1" dirty="0">
                <a:solidFill>
                  <a:srgbClr val="F2C14E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331720"/>
            <a:ext cx="10515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931920"/>
            <a:ext cx="1051560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E3ECF7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2F0"/>
                </a:solidFill>
              </a:rPr>
              <a:t>Module 4, Lesson 1 · Linear regression, residuals and least squares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6E2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72"/>
                </a:solidFill>
              </a:rPr>
              <a:t>Module 4, Lesson 1 · Linear regression, residuals and least squares</a:t>
            </a:r>
            <a:endParaRPr lang="en-US" sz="1000" dirty="0"/>
          </a:p>
        </p:txBody>
      </p:sp>
      <p:sp>
        <p:nvSpPr>
          <p:cNvPr id="5" name="Text 1"/>
          <p:cNvSpPr/>
          <p:nvPr/>
        </p:nvSpPr>
        <p:spPr>
          <a:xfrm>
            <a:off x="7223760" y="6400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72"/>
                </a:solidFill>
              </a:rPr>
              <a:t>© 2026 Prof. Mazharul Islam · CC BY 4.0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6E2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2C14E"/>
                </a:solidFill>
              </a:rPr>
              <a:t>MODULE 04 · LESSON 1 OF 3 · ≈ 10 MIN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Linear regression, residuals and least squares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88620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D6E2F0"/>
                </a:solidFill>
              </a:rPr>
              <a:t>Module 4: Your first regression model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D6E2F0"/>
                </a:solidFill>
              </a:rPr>
              <a:t>Fitting a line by minimizing squared residuals</a:t>
            </a:r>
            <a:endParaRPr lang="en-US" sz="1800" dirty="0"/>
          </a:p>
        </p:txBody>
      </p:sp>
      <p:sp>
        <p:nvSpPr>
          <p:cNvPr id="5" name="lesson-number-ring"/>
          <p:cNvSpPr/>
          <p:nvPr/>
        </p:nvSpPr>
        <p:spPr>
          <a:xfrm>
            <a:off x="8732520" y="1417320"/>
            <a:ext cx="2926080" cy="2926080"/>
          </a:xfrm>
          <a:prstGeom prst="ellipse">
            <a:avLst/>
          </a:prstGeom>
          <a:solidFill>
            <a:schemeClr val="bg1">
              <a:alpha val="12000"/>
            </a:schemeClr>
          </a:solidFill>
          <a:ln w="38100">
            <a:solidFill>
              <a:srgbClr val="F2C14E"/>
            </a:solidFill>
            <a:prstDash val="solid"/>
          </a:ln>
        </p:spPr>
      </p:sp>
      <p:sp>
        <p:nvSpPr>
          <p:cNvPr id="6" name="lesson-number"/>
          <p:cNvSpPr txBox="1"/>
          <p:nvPr/>
        </p:nvSpPr>
        <p:spPr>
          <a:xfrm>
            <a:off x="8732520" y="1417320"/>
            <a:ext cx="29260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chemeClr val="bg1"/>
                </a:solidFill>
              </a:rPr>
              <a:t>4.1</a:t>
            </a:r>
            <a:endParaRPr lang="en-US" sz="8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1 · Linear regression, residuals and least squares · Intuition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chemeClr val="tx2"/>
                </a:solidFill>
              </a:rPr>
              <a:t>Fitting a line by minimizing squared residuals</a:t>
            </a:r>
            <a:endParaRPr lang="en-US" sz="2900" dirty="0"/>
          </a:p>
        </p:txBody>
      </p:sp>
      <p:sp>
        <p:nvSpPr>
          <p:cNvPr id="5" name="intuition-card"/>
          <p:cNvSpPr/>
          <p:nvPr/>
        </p:nvSpPr>
        <p:spPr>
          <a:xfrm>
            <a:off x="548640" y="1691640"/>
            <a:ext cx="5120640" cy="4480560"/>
          </a:xfrm>
          <a:prstGeom prst="roundRect">
            <a:avLst>
              <a:gd name="adj" fmla="val 2449"/>
            </a:avLst>
          </a:prstGeom>
          <a:solidFill>
            <a:schemeClr val="accent1">
              <a:alpha val="7000"/>
            </a:schemeClr>
          </a:solidFill>
          <a:ln w="12700">
            <a:solidFill>
              <a:schemeClr val="accent1">
                <a:alpha val="30000"/>
              </a:schemeClr>
            </a:solidFill>
            <a:prstDash val="solid"/>
          </a:ln>
        </p:spPr>
      </p:sp>
      <p:sp>
        <p:nvSpPr>
          <p:cNvPr id="6" name="icon-bg-intu"/>
          <p:cNvSpPr/>
          <p:nvPr/>
        </p:nvSpPr>
        <p:spPr>
          <a:xfrm>
            <a:off x="777240" y="18745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on-intu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995221"/>
            <a:ext cx="261518" cy="261518"/>
          </a:xfrm>
          <a:prstGeom prst="rect">
            <a:avLst/>
          </a:prstGeom>
        </p:spPr>
      </p:pic>
      <p:sp>
        <p:nvSpPr>
          <p:cNvPr id="8" name="text"/>
          <p:cNvSpPr txBox="1"/>
          <p:nvPr/>
        </p:nvSpPr>
        <p:spPr>
          <a:xfrm>
            <a:off x="685800" y="2468880"/>
            <a:ext cx="4846320" cy="36118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On a test bench, a heater dissipates power </a:t>
            </a:r>
            <a:pPr indent="0" marL="0"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tx1"/>
                </a:solidFill>
              </a:rPr>
              <a:t>P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into a heat sink and we measure the temperature rise Δ</a:t>
            </a:r>
            <a:pPr indent="0" marL="0"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tx1"/>
                </a:solidFill>
              </a:rPr>
              <a:t>T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. Physics suggests Δ</a:t>
            </a:r>
            <a:pPr indent="0" marL="0"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tx1"/>
                </a:solidFill>
              </a:rPr>
              <a:t>T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≈ </a:t>
            </a:r>
            <a:pPr indent="0" marL="0"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tx1"/>
                </a:solidFill>
              </a:rPr>
              <a:t>R P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. Measurements scatter. Linear regression finds the line that best follows the points. Each vertical gap between a point and the line is a </a:t>
            </a:r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residual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. </a:t>
            </a:r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Least squares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chooses the line that makes the sum of squared residuals as small as possible.</a:t>
            </a:r>
            <a:endParaRPr lang="en-US" sz="2000" dirty="0"/>
          </a:p>
        </p:txBody>
      </p:sp>
      <p:pic>
        <p:nvPicPr>
          <p:cNvPr id="9" name="figure" descr="Scatter of temperature rise versus heater power with a fitted line and vertical dashed residual segments. Sliders set intercept and slope; the readout shows SSE, MAE, RMSE, R² and the least-squares coefficients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691640"/>
            <a:ext cx="5653735" cy="3397274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989320" y="5134634"/>
            <a:ext cx="5653735" cy="1083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6525F"/>
                </a:solidFill>
              </a:rPr>
              <a:t>Adjust intercept and slope; residuals (dashed red) and error metrics update; snap to the least-squares solution. (Interactive in the online course.)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1 · Linear regression, residuals and least squares · The mathematics (1/2)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chemeClr val="tx2"/>
                </a:solidFill>
              </a:rPr>
              <a:t>Fitting a line by minimizing squared residuals</a:t>
            </a:r>
            <a:endParaRPr lang="en-US" sz="2900" dirty="0"/>
          </a:p>
        </p:txBody>
      </p:sp>
      <p:sp>
        <p:nvSpPr>
          <p:cNvPr id="5" name="icon-bg-math"/>
          <p:cNvSpPr/>
          <p:nvPr/>
        </p:nvSpPr>
        <p:spPr>
          <a:xfrm>
            <a:off x="54864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-mat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1766621"/>
            <a:ext cx="261518" cy="261518"/>
          </a:xfrm>
          <a:prstGeom prst="rect">
            <a:avLst/>
          </a:prstGeom>
        </p:spPr>
      </p:pic>
      <p:sp>
        <p:nvSpPr>
          <p:cNvPr id="7" name="math-card"/>
          <p:cNvSpPr/>
          <p:nvPr/>
        </p:nvSpPr>
        <p:spPr>
          <a:xfrm>
            <a:off x="1143000" y="1600200"/>
            <a:ext cx="10500055" cy="995680"/>
          </a:xfrm>
          <a:prstGeom prst="roundRect">
            <a:avLst>
              <a:gd name="adj" fmla="val 11020"/>
            </a:avLst>
          </a:prstGeom>
          <a:solidFill>
            <a:schemeClr val="bg2"/>
          </a:solidFill>
          <a:ln w="12700">
            <a:solidFill>
              <a:schemeClr val="bg2">
                <a:alpha val="30000"/>
              </a:schemeClr>
            </a:solidFill>
            <a:prstDash val="solid"/>
          </a:ln>
        </p:spPr>
      </p:sp>
      <p:sp>
        <p:nvSpPr>
          <p:cNvPr id="8" name="math-text"/>
          <p:cNvSpPr txBox="1"/>
          <p:nvPr/>
        </p:nvSpPr>
        <p:spPr>
          <a:xfrm>
            <a:off x="1234440" y="1645920"/>
            <a:ext cx="10408615" cy="9042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2000" i="1" dirty="0">
                <a:solidFill>
                  <a:schemeClr val="tx1"/>
                </a:solidFill>
              </a:rPr>
              <a:t>ŷ</a:t>
            </a:r>
            <a:pPr algn="ctr" indent="0" marL="0">
              <a:buNone/>
            </a:pPr>
            <a:r>
              <a:rPr lang="en-US" sz="2000" i="1" baseline="-40000" dirty="0">
                <a:solidFill>
                  <a:schemeClr val="tx1"/>
                </a:solidFill>
              </a:rPr>
              <a:t>i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= 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b</a:t>
            </a:r>
            <a:pPr algn="ctr" indent="0" marL="0">
              <a:buNone/>
            </a:pPr>
            <a:r>
              <a:rPr lang="en-US" sz="2000" baseline="-40000" dirty="0">
                <a:solidFill>
                  <a:schemeClr val="tx1"/>
                </a:solidFill>
              </a:rPr>
              <a:t>0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+ 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b</a:t>
            </a:r>
            <a:pPr algn="ctr" indent="0" marL="0">
              <a:buNone/>
            </a:pPr>
            <a:r>
              <a:rPr lang="en-US" sz="2000" baseline="-40000" dirty="0">
                <a:solidFill>
                  <a:schemeClr val="tx1"/>
                </a:solidFill>
              </a:rPr>
              <a:t>1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x</a:t>
            </a:r>
            <a:pPr algn="ctr" indent="0" marL="0">
              <a:buNone/>
            </a:pPr>
            <a:r>
              <a:rPr lang="en-US" sz="2000" i="1" baseline="-40000" dirty="0">
                <a:solidFill>
                  <a:schemeClr val="tx1"/>
                </a:solidFill>
              </a:rPr>
              <a:t>i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, 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e</a:t>
            </a:r>
            <a:pPr algn="ctr" indent="0" marL="0">
              <a:buNone/>
            </a:pPr>
            <a:r>
              <a:rPr lang="en-US" sz="2000" i="1" baseline="-40000" dirty="0">
                <a:solidFill>
                  <a:schemeClr val="tx1"/>
                </a:solidFill>
              </a:rPr>
              <a:t>i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= 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y</a:t>
            </a:r>
            <a:pPr algn="ctr" indent="0" marL="0">
              <a:buNone/>
            </a:pPr>
            <a:r>
              <a:rPr lang="en-US" sz="2000" i="1" baseline="-40000" dirty="0">
                <a:solidFill>
                  <a:schemeClr val="tx1"/>
                </a:solidFill>
              </a:rPr>
              <a:t>i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− 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ŷ</a:t>
            </a:r>
            <a:pPr algn="ctr" indent="0" marL="0">
              <a:buNone/>
            </a:pPr>
            <a:r>
              <a:rPr lang="en-US" sz="2000" i="1" baseline="-40000" dirty="0">
                <a:solidFill>
                  <a:schemeClr val="tx1"/>
                </a:solidFill>
              </a:rPr>
              <a:t>i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, SSE = Σ 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e</a:t>
            </a:r>
            <a:pPr algn="ctr" indent="0" marL="0">
              <a:buNone/>
            </a:pPr>
            <a:r>
              <a:rPr lang="en-US" sz="2000" i="1" baseline="-40000" dirty="0">
                <a:solidFill>
                  <a:schemeClr val="tx1"/>
                </a:solidFill>
              </a:rPr>
              <a:t>i</a:t>
            </a:r>
            <a:pPr algn="ctr" indent="0" marL="0">
              <a:buNone/>
            </a:pPr>
            <a:r>
              <a:rPr lang="en-US" sz="2000" baseline="30000" dirty="0">
                <a:solidFill>
                  <a:schemeClr val="tx1"/>
                </a:solidFill>
              </a:rPr>
              <a:t>2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b</a:t>
            </a:r>
            <a:pPr algn="ctr" indent="0" marL="0">
              <a:buNone/>
            </a:pPr>
            <a:r>
              <a:rPr lang="en-US" sz="2000" baseline="-40000" dirty="0">
                <a:solidFill>
                  <a:schemeClr val="tx1"/>
                </a:solidFill>
              </a:rPr>
              <a:t>1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= (Σ(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x</a:t>
            </a:r>
            <a:pPr algn="ctr" indent="0" marL="0">
              <a:buNone/>
            </a:pPr>
            <a:r>
              <a:rPr lang="en-US" sz="2000" i="1" baseline="-40000" dirty="0">
                <a:solidFill>
                  <a:schemeClr val="tx1"/>
                </a:solidFill>
              </a:rPr>
              <a:t>i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− 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x̄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)(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y</a:t>
            </a:r>
            <a:pPr algn="ctr" indent="0" marL="0">
              <a:buNone/>
            </a:pPr>
            <a:r>
              <a:rPr lang="en-US" sz="2000" i="1" baseline="-40000" dirty="0">
                <a:solidFill>
                  <a:schemeClr val="tx1"/>
                </a:solidFill>
              </a:rPr>
              <a:t>i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− 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ȳ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))/(Σ(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x</a:t>
            </a:r>
            <a:pPr algn="ctr" indent="0" marL="0">
              <a:buNone/>
            </a:pPr>
            <a:r>
              <a:rPr lang="en-US" sz="2000" i="1" baseline="-40000" dirty="0">
                <a:solidFill>
                  <a:schemeClr val="tx1"/>
                </a:solidFill>
              </a:rPr>
              <a:t>i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− 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x̄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)</a:t>
            </a:r>
            <a:pPr algn="ctr" indent="0" marL="0">
              <a:buNone/>
            </a:pPr>
            <a:r>
              <a:rPr lang="en-US" sz="2000" baseline="30000" dirty="0">
                <a:solidFill>
                  <a:schemeClr val="tx1"/>
                </a:solidFill>
              </a:rPr>
              <a:t>2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), 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b</a:t>
            </a:r>
            <a:pPr algn="ctr" indent="0" marL="0">
              <a:buNone/>
            </a:pPr>
            <a:r>
              <a:rPr lang="en-US" sz="2000" baseline="-40000" dirty="0">
                <a:solidFill>
                  <a:schemeClr val="tx1"/>
                </a:solidFill>
              </a:rPr>
              <a:t>0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= 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ȳ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− 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b</a:t>
            </a:r>
            <a:pPr algn="ctr" indent="0" marL="0">
              <a:buNone/>
            </a:pPr>
            <a:r>
              <a:rPr lang="en-US" sz="2000" baseline="-40000" dirty="0">
                <a:solidFill>
                  <a:schemeClr val="tx1"/>
                </a:solidFill>
              </a:rPr>
              <a:t>1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x̄</a:t>
            </a:r>
            <a:endParaRPr lang="en-US" sz="2000" dirty="0"/>
          </a:p>
        </p:txBody>
      </p:sp>
      <p:graphicFrame>
        <p:nvGraphicFramePr>
          <p:cNvPr id="4" name="math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34440" y="2778760"/>
          <a:ext cx="10408615" cy="914400"/>
        </p:xfrm>
        <a:graphic>
          <a:graphicData uri="http://schemas.openxmlformats.org/drawingml/2006/table">
            <a:tbl>
              <a:tblPr/>
              <a:tblGrid>
                <a:gridCol w="2289895"/>
                <a:gridCol w="6036997"/>
                <a:gridCol w="2081723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Symbol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Meaning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Unit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A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x = P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heater power (feature)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W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y = ΔT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measured temperature rise (target)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K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b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8212B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intercept: predicted ΔT at P = 0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K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b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8212B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slope: K per W, i.e. a thermal resistance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K/W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e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8212B"/>
                          </a:solidFill>
                        </a:rPr>
                        <a:t>i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residual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K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1 · Linear regression, residuals and least squares · The mathematics (2/2)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chemeClr val="tx2"/>
                </a:solidFill>
              </a:rPr>
              <a:t>Fitting a line by minimizing squared residuals</a:t>
            </a:r>
            <a:endParaRPr lang="en-US" sz="2900" dirty="0"/>
          </a:p>
        </p:txBody>
      </p:sp>
      <p:sp>
        <p:nvSpPr>
          <p:cNvPr id="5" name="icon-bg-math"/>
          <p:cNvSpPr/>
          <p:nvPr/>
        </p:nvSpPr>
        <p:spPr>
          <a:xfrm>
            <a:off x="54864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-mat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1766621"/>
            <a:ext cx="261518" cy="261518"/>
          </a:xfrm>
          <a:prstGeom prst="rect">
            <a:avLst/>
          </a:prstGeom>
        </p:spPr>
      </p:pic>
      <p:sp>
        <p:nvSpPr>
          <p:cNvPr id="7" name="math-card"/>
          <p:cNvSpPr/>
          <p:nvPr/>
        </p:nvSpPr>
        <p:spPr>
          <a:xfrm>
            <a:off x="1143000" y="1600200"/>
            <a:ext cx="10500055" cy="1203960"/>
          </a:xfrm>
          <a:prstGeom prst="roundRect">
            <a:avLst>
              <a:gd name="adj" fmla="val 9114"/>
            </a:avLst>
          </a:prstGeom>
          <a:solidFill>
            <a:schemeClr val="bg2"/>
          </a:solidFill>
          <a:ln w="12700">
            <a:solidFill>
              <a:schemeClr val="bg2">
                <a:alpha val="30000"/>
              </a:schemeClr>
            </a:solidFill>
            <a:prstDash val="solid"/>
          </a:ln>
        </p:spPr>
      </p:sp>
      <p:sp>
        <p:nvSpPr>
          <p:cNvPr id="8" name="math-text"/>
          <p:cNvSpPr txBox="1"/>
          <p:nvPr/>
        </p:nvSpPr>
        <p:spPr>
          <a:xfrm>
            <a:off x="1234440" y="1645920"/>
            <a:ext cx="10408615" cy="11125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These formulas come from setting ∂SSE/∂</a:t>
            </a:r>
            <a:pPr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b</a:t>
            </a:r>
            <a:pPr indent="0" marL="0">
              <a:buNone/>
            </a:pPr>
            <a:r>
              <a:rPr lang="en-US" sz="2000" baseline="-40000" dirty="0">
                <a:solidFill>
                  <a:schemeClr val="tx1"/>
                </a:solidFill>
              </a:rPr>
              <a:t>0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= ∂SSE/∂</a:t>
            </a:r>
            <a:pPr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b</a:t>
            </a:r>
            <a:pPr indent="0" marL="0">
              <a:buNone/>
            </a:pPr>
            <a:r>
              <a:rPr lang="en-US" sz="2000" baseline="-40000" dirty="0">
                <a:solidFill>
                  <a:schemeClr val="tx1"/>
                </a:solidFill>
              </a:rPr>
              <a:t>1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= 0. With many features, the same idea gives 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β̂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= arg min ‖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y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− 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Xβ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‖², solved by linear algebra (QR factorization in this page’s demos).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1 · Linear regression, residuals and least squares · In engineering practice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chemeClr val="tx2"/>
                </a:solidFill>
              </a:rPr>
              <a:t>Fitting a line by minimizing squared residuals</a:t>
            </a:r>
            <a:endParaRPr lang="en-US" sz="2900" dirty="0"/>
          </a:p>
        </p:txBody>
      </p:sp>
      <p:sp>
        <p:nvSpPr>
          <p:cNvPr id="5" name="Engineering application"/>
          <p:cNvSpPr/>
          <p:nvPr/>
        </p:nvSpPr>
        <p:spPr>
          <a:xfrm>
            <a:off x="548640" y="1691640"/>
            <a:ext cx="5364328" cy="4480560"/>
          </a:xfrm>
          <a:prstGeom prst="roundRect">
            <a:avLst>
              <a:gd name="adj" fmla="val 2449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>
                <a:alpha val="30000"/>
              </a:schemeClr>
            </a:solidFill>
            <a:prstDash val="solid"/>
          </a:ln>
        </p:spPr>
      </p:sp>
      <p:sp>
        <p:nvSpPr>
          <p:cNvPr id="6" name="icon-bg-app"/>
          <p:cNvSpPr/>
          <p:nvPr/>
        </p:nvSpPr>
        <p:spPr>
          <a:xfrm>
            <a:off x="822960" y="1920240"/>
            <a:ext cx="566928" cy="5669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7" name="icon-app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023" y="2056303"/>
            <a:ext cx="294803" cy="29480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1965960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Engineering application</a:t>
            </a:r>
            <a:endParaRPr lang="en-US" sz="2000" dirty="0"/>
          </a:p>
        </p:txBody>
      </p:sp>
      <p:sp>
        <p:nvSpPr>
          <p:cNvPr id="9" name="text"/>
          <p:cNvSpPr txBox="1"/>
          <p:nvPr/>
        </p:nvSpPr>
        <p:spPr>
          <a:xfrm>
            <a:off x="777240" y="2697480"/>
            <a:ext cx="4907128" cy="33375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The fitted slope estimates the thermal resistance of the tested sink in K/W; the intercept captures an offset (e.g., sensor bias or ambient drift) in K. The same least-squares machinery fits polynomial response surfaces in Module 8: “linear” refers to linearity in the </a:t>
            </a:r>
            <a:pPr indent="0" marL="0"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tx1"/>
                </a:solidFill>
              </a:rPr>
              <a:t>coefficients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, not in </a:t>
            </a:r>
            <a:pPr indent="0" marL="0"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tx1"/>
                </a:solidFill>
              </a:rPr>
              <a:t>x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.</a:t>
            </a:r>
            <a:endParaRPr lang="en-US" sz="2000" dirty="0"/>
          </a:p>
        </p:txBody>
      </p:sp>
      <p:sp>
        <p:nvSpPr>
          <p:cNvPr id="10" name="Practical tip"/>
          <p:cNvSpPr/>
          <p:nvPr/>
        </p:nvSpPr>
        <p:spPr>
          <a:xfrm>
            <a:off x="6278728" y="1691640"/>
            <a:ext cx="5364328" cy="4480560"/>
          </a:xfrm>
          <a:prstGeom prst="roundRect">
            <a:avLst>
              <a:gd name="adj" fmla="val 2449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>
                <a:alpha val="30000"/>
              </a:schemeClr>
            </a:solidFill>
            <a:prstDash val="solid"/>
          </a:ln>
        </p:spPr>
      </p:sp>
      <p:sp>
        <p:nvSpPr>
          <p:cNvPr id="11" name="icon-bg-tip"/>
          <p:cNvSpPr/>
          <p:nvPr/>
        </p:nvSpPr>
        <p:spPr>
          <a:xfrm>
            <a:off x="6553048" y="1920240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2" name="icon-tip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9110" y="2056303"/>
            <a:ext cx="294803" cy="29480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238848" y="1965960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Practical tip</a:t>
            </a:r>
            <a:endParaRPr lang="en-US" sz="2000" dirty="0"/>
          </a:p>
        </p:txBody>
      </p:sp>
      <p:sp>
        <p:nvSpPr>
          <p:cNvPr id="14" name="text"/>
          <p:cNvSpPr txBox="1"/>
          <p:nvPr/>
        </p:nvSpPr>
        <p:spPr>
          <a:xfrm>
            <a:off x="6507328" y="2697480"/>
            <a:ext cx="4907128" cy="33375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Always plot the data with the fitted line and the residuals. Patterns in residuals (curvature, funnel shape) reveal model inadequacy that a single number hides.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1 · Linear regression, residuals and least squares · Predict before you look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Pause and predict</a:t>
            </a:r>
            <a:endParaRPr lang="en-US" sz="3200" dirty="0"/>
          </a:p>
        </p:txBody>
      </p:sp>
      <p:sp>
        <p:nvSpPr>
          <p:cNvPr id="5" name="question-card"/>
          <p:cNvSpPr/>
          <p:nvPr/>
        </p:nvSpPr>
        <p:spPr>
          <a:xfrm>
            <a:off x="548640" y="1737360"/>
            <a:ext cx="11094415" cy="3291840"/>
          </a:xfrm>
          <a:prstGeom prst="roundRect">
            <a:avLst>
              <a:gd name="adj" fmla="val 3333"/>
            </a:avLst>
          </a:prstGeom>
          <a:solidFill>
            <a:schemeClr val="accent2">
              <a:alpha val="9000"/>
            </a:schemeClr>
          </a:solidFill>
          <a:ln w="12700">
            <a:solidFill>
              <a:schemeClr val="accent2">
                <a:alpha val="30000"/>
              </a:schemeClr>
            </a:solidFill>
            <a:prstDash val="solid"/>
          </a:ln>
        </p:spPr>
      </p:sp>
      <p:sp>
        <p:nvSpPr>
          <p:cNvPr id="6" name="icon-bg-predict"/>
          <p:cNvSpPr/>
          <p:nvPr/>
        </p:nvSpPr>
        <p:spPr>
          <a:xfrm>
            <a:off x="868680" y="201168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" name="icon-predic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5" y="2187245"/>
            <a:ext cx="380390" cy="380390"/>
          </a:xfrm>
          <a:prstGeom prst="rect">
            <a:avLst/>
          </a:prstGeom>
        </p:spPr>
      </p:pic>
      <p:sp>
        <p:nvSpPr>
          <p:cNvPr id="8" name="text"/>
          <p:cNvSpPr txBox="1"/>
          <p:nvPr/>
        </p:nvSpPr>
        <p:spPr>
          <a:xfrm>
            <a:off x="1874520" y="1965960"/>
            <a:ext cx="9448495" cy="28346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Points: (P, ΔT) = (10 W, 7 K), (20 W, 13 K), (30 W, 19 K). What are the least-squares b₁ and b₀?</a:t>
            </a:r>
            <a:endParaRPr lang="en-US" sz="28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3035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6525F"/>
                </a:solidFill>
              </a:rPr>
              <a:t>Write down your answer, then continue to the next slide.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1 · Linear regression, residuals and least squares · Answer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What happens, and why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0020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6525F"/>
                </a:solidFill>
              </a:rPr>
              <a:t>Question: </a:t>
            </a:r>
            <a:pPr indent="0" marL="0">
              <a:buNone/>
            </a:pPr>
            <a:r>
              <a:rPr lang="en-US" sz="1400" dirty="0">
                <a:solidFill>
                  <a:srgbClr val="46525F"/>
                </a:solidFill>
              </a:rPr>
              <a:t>Points: (P, ΔT) = (10 W, 7 K), (20 W, 13 K), (30 W, 19 K). What are the least-squares b₁ and b₀?</a:t>
            </a:r>
            <a:endParaRPr lang="en-US" sz="1400" dirty="0"/>
          </a:p>
        </p:txBody>
      </p:sp>
      <p:sp>
        <p:nvSpPr>
          <p:cNvPr id="6" name="answer-card"/>
          <p:cNvSpPr/>
          <p:nvPr/>
        </p:nvSpPr>
        <p:spPr>
          <a:xfrm>
            <a:off x="548640" y="2606040"/>
            <a:ext cx="11094415" cy="3566160"/>
          </a:xfrm>
          <a:prstGeom prst="roundRect">
            <a:avLst>
              <a:gd name="adj" fmla="val 3077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>
                <a:alpha val="30000"/>
              </a:schemeClr>
            </a:solidFill>
            <a:prstDash val="solid"/>
          </a:ln>
        </p:spPr>
      </p:sp>
      <p:sp>
        <p:nvSpPr>
          <p:cNvPr id="7" name="icon-bg-answer"/>
          <p:cNvSpPr/>
          <p:nvPr/>
        </p:nvSpPr>
        <p:spPr>
          <a:xfrm>
            <a:off x="868680" y="288036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8" name="icon-answer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5" y="3055925"/>
            <a:ext cx="380390" cy="380390"/>
          </a:xfrm>
          <a:prstGeom prst="rect">
            <a:avLst/>
          </a:prstGeom>
        </p:spPr>
      </p:pic>
      <p:sp>
        <p:nvSpPr>
          <p:cNvPr id="9" name="text"/>
          <p:cNvSpPr txBox="1"/>
          <p:nvPr/>
        </p:nvSpPr>
        <p:spPr>
          <a:xfrm>
            <a:off x="1874520" y="2788920"/>
            <a:ext cx="9448495" cy="32004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The points are exactly collinear: b₁ = 6 K / 10 W = 0.6 K/W, b₀ = 7 − 0.6 × 10 = 1 K. All residuals are zero.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1 · Linear regression, residuals and least squares · Common misconception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chemeClr val="tx2"/>
                </a:solidFill>
              </a:rPr>
              <a:t>Fitting a line by minimizing squared residuals</a:t>
            </a:r>
            <a:endParaRPr lang="en-US" sz="2900" dirty="0"/>
          </a:p>
        </p:txBody>
      </p:sp>
      <p:sp>
        <p:nvSpPr>
          <p:cNvPr id="5" name="Misconception"/>
          <p:cNvSpPr/>
          <p:nvPr/>
        </p:nvSpPr>
        <p:spPr>
          <a:xfrm>
            <a:off x="548640" y="1691640"/>
            <a:ext cx="5364328" cy="2971800"/>
          </a:xfrm>
          <a:prstGeom prst="roundRect">
            <a:avLst>
              <a:gd name="adj" fmla="val 3692"/>
            </a:avLst>
          </a:prstGeom>
          <a:solidFill>
            <a:schemeClr val="accent6">
              <a:alpha val="9000"/>
            </a:schemeClr>
          </a:solidFill>
          <a:ln w="12700">
            <a:solidFill>
              <a:schemeClr val="accent6">
                <a:alpha val="30000"/>
              </a:schemeClr>
            </a:solidFill>
            <a:prstDash val="solid"/>
          </a:ln>
        </p:spPr>
      </p:sp>
      <p:sp>
        <p:nvSpPr>
          <p:cNvPr id="6" name="icon-bg-mis"/>
          <p:cNvSpPr/>
          <p:nvPr/>
        </p:nvSpPr>
        <p:spPr>
          <a:xfrm>
            <a:off x="822960" y="1874520"/>
            <a:ext cx="548640" cy="5486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7" name="icon-mi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2006194"/>
            <a:ext cx="285293" cy="28529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1901952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Misconception</a:t>
            </a:r>
            <a:endParaRPr lang="en-US" sz="2000" dirty="0"/>
          </a:p>
        </p:txBody>
      </p:sp>
      <p:sp>
        <p:nvSpPr>
          <p:cNvPr id="9" name="text"/>
          <p:cNvSpPr txBox="1"/>
          <p:nvPr/>
        </p:nvSpPr>
        <p:spPr>
          <a:xfrm>
            <a:off x="777240" y="2560320"/>
            <a:ext cx="4907128" cy="20116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Least squares minimizes the perpendicular distances to the line.</a:t>
            </a:r>
            <a:endParaRPr lang="en-US" sz="2000" dirty="0"/>
          </a:p>
        </p:txBody>
      </p:sp>
      <p:sp>
        <p:nvSpPr>
          <p:cNvPr id="10" name="What is actually true"/>
          <p:cNvSpPr/>
          <p:nvPr/>
        </p:nvSpPr>
        <p:spPr>
          <a:xfrm>
            <a:off x="6278728" y="1691640"/>
            <a:ext cx="5364328" cy="2971800"/>
          </a:xfrm>
          <a:prstGeom prst="roundRect">
            <a:avLst>
              <a:gd name="adj" fmla="val 3692"/>
            </a:avLst>
          </a:prstGeom>
          <a:solidFill>
            <a:schemeClr val="accent3">
              <a:alpha val="9000"/>
            </a:schemeClr>
          </a:solidFill>
          <a:ln w="12700">
            <a:solidFill>
              <a:schemeClr val="accent3">
                <a:alpha val="30000"/>
              </a:schemeClr>
            </a:solidFill>
            <a:prstDash val="solid"/>
          </a:ln>
        </p:spPr>
      </p:sp>
      <p:sp>
        <p:nvSpPr>
          <p:cNvPr id="11" name="icon-bg-cor"/>
          <p:cNvSpPr/>
          <p:nvPr/>
        </p:nvSpPr>
        <p:spPr>
          <a:xfrm>
            <a:off x="6553048" y="187452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2" name="icon-co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4721" y="2006194"/>
            <a:ext cx="285293" cy="28529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238848" y="1901952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What is actually true</a:t>
            </a:r>
            <a:endParaRPr lang="en-US" sz="2000" dirty="0"/>
          </a:p>
        </p:txBody>
      </p:sp>
      <p:sp>
        <p:nvSpPr>
          <p:cNvPr id="14" name="text"/>
          <p:cNvSpPr txBox="1"/>
          <p:nvPr/>
        </p:nvSpPr>
        <p:spPr>
          <a:xfrm>
            <a:off x="6507328" y="2560320"/>
            <a:ext cx="4907128" cy="20116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Ordinary least squares minimizes </a:t>
            </a:r>
            <a:pPr indent="0" marL="0"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tx1"/>
                </a:solidFill>
              </a:rPr>
              <a:t>vertical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distances (errors in y), assuming x is known accurately.</a:t>
            </a:r>
            <a:endParaRPr lang="en-US" sz="2000" dirty="0"/>
          </a:p>
        </p:txBody>
      </p:sp>
      <p:sp>
        <p:nvSpPr>
          <p:cNvPr id="15" name="takeaway"/>
          <p:cNvSpPr/>
          <p:nvPr/>
        </p:nvSpPr>
        <p:spPr>
          <a:xfrm>
            <a:off x="548640" y="4892040"/>
            <a:ext cx="11094415" cy="128016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icon-bg-take"/>
          <p:cNvSpPr/>
          <p:nvPr/>
        </p:nvSpPr>
        <p:spPr>
          <a:xfrm>
            <a:off x="822960" y="525780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7" name="icon-tak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34" y="5389474"/>
            <a:ext cx="285293" cy="285293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554480" y="4983480"/>
            <a:ext cx="9859975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C14E"/>
                </a:solidFill>
              </a:rPr>
              <a:t>Takeaway  </a:t>
            </a:r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Least squares picks coefficients minimizing Σ residual²; the slope of ΔT vs P is a resistance in K/W.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Summary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Key takeaways from this lesson</a:t>
            </a:r>
            <a:endParaRPr lang="en-US" sz="3200" dirty="0"/>
          </a:p>
        </p:txBody>
      </p:sp>
      <p:sp>
        <p:nvSpPr>
          <p:cNvPr id="5" name="takeaway-1"/>
          <p:cNvSpPr/>
          <p:nvPr/>
        </p:nvSpPr>
        <p:spPr>
          <a:xfrm>
            <a:off x="548640" y="1645920"/>
            <a:ext cx="5387188" cy="2103120"/>
          </a:xfrm>
          <a:prstGeom prst="roundRect">
            <a:avLst>
              <a:gd name="adj" fmla="val 5217"/>
            </a:avLst>
          </a:prstGeom>
          <a:solidFill>
            <a:schemeClr val="accent1">
              <a:alpha val="7000"/>
            </a:schemeClr>
          </a:solidFill>
          <a:ln w="12700">
            <a:solidFill>
              <a:schemeClr val="accent1">
                <a:alpha val="30000"/>
              </a:scheme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13232" y="181051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1719072"/>
            <a:ext cx="4564228" cy="1956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Fitting a line by minimizing squared residuals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Least squares picks coefficients minimizing Σ residual²; the slope of ΔT vs P is a resistance in K/W.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2C14E"/>
                </a:solidFill>
              </a:rPr>
              <a:t>UP NEXT · LESSON 4.2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Measuring error: MAE, RMSE and R²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88620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6E2F0"/>
                </a:solidFill>
              </a:rPr>
              <a:t>Next in Module 4: Lesson 2. Mark this lesson complete in the course before continuing.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732520" y="1417320"/>
            <a:ext cx="2926080" cy="2926080"/>
          </a:xfrm>
          <a:prstGeom prst="ellipse">
            <a:avLst/>
          </a:prstGeom>
          <a:solidFill>
            <a:schemeClr val="bg1">
              <a:alpha val="12000"/>
            </a:schemeClr>
          </a:solidFill>
          <a:ln w="38100">
            <a:solidFill>
              <a:srgbClr val="F2C14E"/>
            </a:solidFill>
            <a:prstDash val="solid"/>
          </a:ln>
        </p:spPr>
      </p:sp>
      <p:pic>
        <p:nvPicPr>
          <p:cNvPr id="6" name="icon-nex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33172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LSO Course">
  <a:themeElements>
    <a:clrScheme name="MLSO Course">
      <a:dk1>
        <a:srgbClr val="18212B"/>
      </a:dk1>
      <a:lt1>
        <a:srgbClr val="FFFFFF"/>
      </a:lt1>
      <a:dk2>
        <a:srgbClr val="123B6B"/>
      </a:dk2>
      <a:lt2>
        <a:srgbClr val="EEF2F7"/>
      </a:lt2>
      <a:accent1>
        <a:srgbClr val="1F5FA8"/>
      </a:accent1>
      <a:accent2>
        <a:srgbClr val="C2500A"/>
      </a:accent2>
      <a:accent3>
        <a:srgbClr val="1A6E3D"/>
      </a:accent3>
      <a:accent4>
        <a:srgbClr val="B98500"/>
      </a:accent4>
      <a:accent5>
        <a:srgbClr val="7A3FB0"/>
      </a:accent5>
      <a:accent6>
        <a:srgbClr val="B3261E"/>
      </a:accent6>
      <a:hlink>
        <a:srgbClr val="1F5FA8"/>
      </a:hlink>
      <a:folHlink>
        <a:srgbClr val="7A3FB0"/>
      </a:folHlink>
    </a:clrScheme>
    <a:fontScheme name="MLSO Cours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Self-paced course (CC BY 4.0)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4, Lesson 1: Linear regression, residuals and least squares</dc:title>
  <dc:subject>Machine Learning Fundamentals for Surrogate-Based Engineering Optimization</dc:subject>
  <dc:creator>Prof. Mazharul Islam</dc:creator>
  <cp:lastModifiedBy>Prof. Mazharul Islam</cp:lastModifiedBy>
  <cp:revision>1</cp:revision>
  <dcterms:created xsi:type="dcterms:W3CDTF">2026-10-07T01:12:30Z</dcterms:created>
  <dcterms:modified xsi:type="dcterms:W3CDTF">2026-10-07T01:12:30Z</dcterms:modified>
</cp:coreProperties>
</file>