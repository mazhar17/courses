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e789f53-95a6-bd5e-7532-8855521c75ea}">
          <p14:sldIdLst>
            <p14:sldId id="256"/>
          </p14:sldIdLst>
        </p14:section>
        <p14:section name="Lesson 4: Scaling, normalization and sensitivity" id="{eec71009-71b0-f1cc-d5e6-2b4204d8ba12}">
          <p14:sldIdLst>
            <p14:sldId id="257"/>
            <p14:sldId id="258"/>
            <p14:sldId id="259"/>
            <p14:sldId id="260"/>
            <p14:sldId id="261"/>
            <p14:sldId id="262"/>
            <p14:sldId id="263"/>
            <p14:sldId id="264"/>
            <p14:sldId id="265"/>
            <p14:sldId id="266"/>
            <p14:sldId id="267"/>
            <p14:sldId id="268"/>
          </p14:sldIdLst>
        </p14:section>
        <p14:section name="Summary" id="{be35e2a8-503a-0834-c0d5-6836f4d993ff}">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3, Lesson 4 of the self-paced course Machine Learning Fundamentals for Surrogate-Based Engineering Optimization: Scaling, normalization and sensitivity. This lesson belongs to the module Mathematics and data intuition and takes about 10 minutes. In this lesson: Why scale variables?; Sensitivity of an engineering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scale variables?. Many methods use distances between designs (nearest neighbours, RBFs, Gaussian processes) or penalize coefficient sizes. If one variable is measured in millimetres (range 2.2) and another in kilograms (range 0.1), the larger-range variable dominates the distance purely because of units. Scaling puts variables on comparable ranges. Look at the figure. The nearest neighbour of a query design changes after both variables are scaled to [0, 1]. Scatter of six designs in fin gap (mm) versus mass (kg) with a query point. In raw units the nearest neighbour is chosen almost entirely by fin gap. After min–max scaling, a different neighbour is closest because both variables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mathematics. min–max: z = (x − x_{min})/(x_{max} − x_{min}) ∈ [0, 1], standardization: z = (x − μ)/(σ) x_{min}, x_{max} is the design-variable bounds (preferred for design spaces), in units of x. μ, σ is the mean and standard deviation of the TRAINING data, in units of x. z is the scaled variable, in dimensionless. For bounded design spaces, scaling by the bounds is natural and does not depend on data. For data-based scaling, compute μ, σ from training data only (Module 5: leakage).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this matter in engineering? The heat sink in scaled units: z_s = (s − 0.8)/2.2, z_t = (t − 0.2)/1.3. All surrogates in this course are fitted in these scaled units. A practical tip: Keep the scaling in your model pipeline and record it; reverse it when reporting designs in physical units.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to predict. Does scaling change which design has the lowest R? Pause here and commit to an answer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answer. No. Scaling is a change of coordinates; the physical optimum is the same. It changes how methods that use distances or step sizes behave.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misconception is this: Scaling is cosmetic and never changes results. In fact: It changes distance-based models (GP, RBF, k-NN), regularized regression and optimizer step sizes — often dramatically. The takeaway: Scale inputs (by bounds or training statistics) before distance-based modelling; report results in physical units.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Sensitivity of an engineering response. Local sensitivity asks: if I nudge one variable, how much does the response change? Raw derivatives depend on units; elasticities (percentage change per percentage change) or range-scaled derivatives allow fair comparison. Look at the figure. Elasticities and range-scaled sensitivities of R to s and t at a chosen design. Bar chart with four bars: elasticity with respect to s and t, and range-scaled sensitivities. Sliders choose s and t. At small gaps, R is very sensitive to s; near the valley, sensitivity to s is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mathematics. elasticity E_x = (∂R)/(∂x) · (x)/(R), range-scaled S_x = (∂R)/(∂x) · (x_{max} − x_{min}) E_x is dimensionless; S_x has the units of R (K/W).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this matter in engineering? Structural design: tip deflection of a cantilever, δ = F L³/(3EI), has elasticity 3 with respect to length and −1 with respect to modulus: a 1% longer beam deflects about 3% more. Such insight tells you which tolerances matter. A practical tip: Sensitivities are local: they change across the design space. Evaluate them at several points or use global methods (beyond this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to predict. For δ = F L³/(3 E I), what is the elasticity of δ with respect to F? Pause here and commit to an answer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answer. Exactly 1: deflection is proportional to load, so a 1% load increase gives 1% more deflection.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misconception is this: A large derivative always means an important variable. In fact: Importance depends on how much the variable can actually vary (its range or tolerance). Multiply by the range, or use elasticities. The takeaway: Use elasticities or range-scaled derivatives to compare sensitivities across variables with different units and ranges.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this lesson. Why scale variables?: Scale inputs (by bounds or training statistics) before distance-based modelling; report results in physical units. Sensitivity of an engineering response: Use elasticities or range-scaled derivatives to compare sensitivities across variables with different units and ranges.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completes Lesson 4 of Module 3: Scaling, normalization and sensitivity. This was the last lesson of the module, so review the flashcards and take the Module 3 quiz in the course. Next comes Module 4, Your first regression model, starting with Linear regression, residuals and least squares.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rtlCol="0"/>
          <a:lstStyle>
            <a:lvl1pPr indent="0" marL="0">
              <a:buNone/>
              <a:defRPr lang="en-US" sz="1800" b="1" spc="200" kern="0" dirty="0">
                <a:solidFill>
                  <a:srgbClr val="F2C14E"/>
                </a:solidFill>
              </a:defRPr>
            </a:lvl1pPr>
          </a:lstStyle>
          <a:p>
            <a:pPr indent="0" marL="0">
              <a:buNone/>
            </a:pP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rtlCol="0"/>
          <a:lstStyle>
            <a:lvl1pPr indent="0" marL="0">
              <a:buNone/>
              <a:defRPr lang="en-US" sz="1800" dirty="0">
                <a:solidFill>
                  <a:srgbClr val="D6E2F0"/>
                </a:solidFill>
              </a:defRPr>
            </a:lvl1pPr>
          </a:lstStyle>
          <a:p>
            <a:pPr indent="0" marL="0">
              <a:buNone/>
            </a:pPr>
            <a:endParaRPr lang="en-US" sz="1800" dirty="0"/>
          </a:p>
        </p:txBody>
      </p:sp>
      <p:sp>
        <p:nvSpPr>
          <p:cNvPr id="5" name="Text 0"/>
          <p:cNvSpPr/>
          <p:nvPr/>
        </p:nvSpPr>
        <p:spPr>
          <a:xfrm>
            <a:off x="548640" y="5806440"/>
            <a:ext cx="8686800" cy="320040"/>
          </a:xfrm>
          <a:prstGeom prst="rect">
            <a:avLst/>
          </a:prstGeom>
          <a:noFill/>
          <a:ln/>
        </p:spPr>
        <p:txBody>
          <a:bodyPr wrap="square" lIns="0" tIns="0" rIns="0" bIns="0" rtlCol="0" anchor="ctr"/>
          <a:lstStyle/>
          <a:p>
            <a:pPr indent="0" marL="0">
              <a:buNone/>
            </a:pPr>
            <a:r>
              <a:rPr lang="en-US" sz="1200" dirty="0">
                <a:solidFill>
                  <a:srgbClr val="C9D6E6"/>
                </a:solidFill>
              </a:rPr>
              <a:t>Machine Learning Fundamentals for Surrogate-Based Engineering Optimization · course version 3.0.0</a:t>
            </a:r>
            <a:endParaRPr lang="en-US" sz="1200" dirty="0"/>
          </a:p>
        </p:txBody>
      </p:sp>
      <p:sp>
        <p:nvSpPr>
          <p:cNvPr id="6" name="Text 1"/>
          <p:cNvSpPr/>
          <p:nvPr/>
        </p:nvSpPr>
        <p:spPr>
          <a:xfrm>
            <a:off x="548640" y="6126480"/>
            <a:ext cx="8686800" cy="320040"/>
          </a:xfrm>
          <a:prstGeom prst="rect">
            <a:avLst/>
          </a:prstGeom>
          <a:noFill/>
          <a:ln/>
        </p:spPr>
        <p:txBody>
          <a:bodyPr wrap="square" lIns="0" tIns="0" rIns="0" bIns="0" rtlCol="0" anchor="ctr"/>
          <a:lstStyle/>
          <a:p>
            <a:pPr indent="0" marL="0">
              <a:buNone/>
            </a:pPr>
            <a:r>
              <a:rPr lang="en-US" sz="1200" dirty="0">
                <a:solidFill>
                  <a:srgbClr val="C9D6E6"/>
                </a:solidFill>
              </a:rPr>
              <a:t>© 2026 Prof. Mazharul Islam · CC BY 4.0</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10058400" cy="457200"/>
          </a:xfrm>
          <a:prstGeom prst="rect">
            <a:avLst/>
          </a:prstGeom>
          <a:noFill/>
          <a:ln/>
        </p:spPr>
        <p:txBody>
          <a:bodyPr wrap="square" rtlCol="0"/>
          <a:lstStyle>
            <a:lvl1pPr indent="0" marL="0">
              <a:buNone/>
              <a:defRPr lang="en-US" sz="1800" b="1" dirty="0">
                <a:solidFill>
                  <a:srgbClr val="F2C14E"/>
                </a:solidFill>
              </a:defRPr>
            </a:lvl1pPr>
          </a:lstStyle>
          <a:p>
            <a:pPr indent="0" marL="0">
              <a:buNone/>
            </a:pPr>
            <a:endParaRPr lang="en-US" sz="1800" dirty="0"/>
          </a:p>
        </p:txBody>
      </p:sp>
      <p:sp>
        <p:nvSpPr>
          <p:cNvPr id="3" name="Text 0"/>
          <p:cNvSpPr/>
          <p:nvPr>
            <p:ph idx="101" type="title" hasCustomPrompt="1"/>
          </p:nvPr>
        </p:nvSpPr>
        <p:spPr>
          <a:xfrm>
            <a:off x="548640" y="2331720"/>
            <a:ext cx="10515600"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548640" y="3931920"/>
            <a:ext cx="10515600" cy="2011680"/>
          </a:xfrm>
          <a:prstGeom prst="rect">
            <a:avLst/>
          </a:prstGeom>
          <a:noFill/>
          <a:ln/>
        </p:spPr>
        <p:txBody>
          <a:bodyPr wrap="square" rtlCol="0"/>
          <a:lstStyle>
            <a:lvl1pPr indent="0" marL="0">
              <a:buNone/>
              <a:defRPr lang="en-US" sz="1800" dirty="0">
                <a:solidFill>
                  <a:srgbClr val="E3ECF7"/>
                </a:solidFill>
              </a:defRPr>
            </a:lvl1pPr>
          </a:lstStyle>
          <a:p>
            <a:pPr indent="0" marL="0">
              <a:buNone/>
            </a:pPr>
            <a:endParaRPr lang="en-US" sz="1800" dirty="0"/>
          </a:p>
        </p:txBody>
      </p:sp>
      <p:sp>
        <p:nvSpPr>
          <p:cNvPr id="5" name="Text 0"/>
          <p:cNvSpPr/>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rgbClr val="D6E2F0"/>
                </a:solidFill>
              </a:rPr>
              <a:t>Module 3, Lesson 4 · Scaling, normalization and sensitivity</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rtlCol="0"/>
          <a:lstStyle>
            <a:lvl1pPr indent="0" marL="0">
              <a:buNone/>
              <a:defRPr lang="en-US" sz="1400" b="1" dirty="0">
                <a:solidFill>
                  <a:schemeClr val="accent2"/>
                </a:solidFill>
              </a:defRPr>
            </a:lvl1pPr>
          </a:lstStyle>
          <a:p>
            <a:pPr indent="0" marL="0">
              <a:buNone/>
            </a:pP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rtlCol="0"/>
          <a:lstStyle>
            <a:lvl1pPr algn="l" indent="0" marL="0">
              <a:buNone/>
              <a:defRPr lang="en-US" b="1" dirty="0">
                <a:solidFill>
                  <a:schemeClr val="tx2"/>
                </a:solidFill>
              </a:defRPr>
            </a:lvl1pPr>
          </a:lstStyle>
          <a:p>
            <a:pPr algn="l" indent="0" marL="0">
              <a:buNone/>
            </a:pPr>
            <a:endParaRPr lang="en-US" dirty="0"/>
          </a:p>
        </p:txBody>
      </p:sp>
      <p:sp>
        <p:nvSpPr>
          <p:cNvPr id="4" name="Text 0"/>
          <p:cNvSpPr/>
          <p:nvPr/>
        </p:nvSpPr>
        <p:spPr>
          <a:xfrm>
            <a:off x="548640" y="6400800"/>
            <a:ext cx="6583680" cy="274320"/>
          </a:xfrm>
          <a:prstGeom prst="rect">
            <a:avLst/>
          </a:prstGeom>
          <a:noFill/>
          <a:ln/>
        </p:spPr>
        <p:txBody>
          <a:bodyPr wrap="square" lIns="0" tIns="0" rIns="0" bIns="0" rtlCol="0" anchor="ctr"/>
          <a:lstStyle/>
          <a:p>
            <a:pPr indent="0" marL="0">
              <a:buNone/>
            </a:pPr>
            <a:r>
              <a:rPr lang="en-US" sz="1000" dirty="0">
                <a:solidFill>
                  <a:srgbClr val="5A6672"/>
                </a:solidFill>
              </a:rPr>
              <a:t>Module 3, Lesson 4 · Scaling, normalization and sensitivity</a:t>
            </a:r>
            <a:endParaRPr lang="en-US" sz="1000" dirty="0"/>
          </a:p>
        </p:txBody>
      </p:sp>
      <p:sp>
        <p:nvSpPr>
          <p:cNvPr id="5" name="Text 1"/>
          <p:cNvSpPr/>
          <p:nvPr/>
        </p:nvSpPr>
        <p:spPr>
          <a:xfrm>
            <a:off x="7223760" y="6400800"/>
            <a:ext cx="3840480" cy="274320"/>
          </a:xfrm>
          <a:prstGeom prst="rect">
            <a:avLst/>
          </a:prstGeom>
          <a:noFill/>
          <a:ln/>
        </p:spPr>
        <p:txBody>
          <a:bodyPr wrap="square" lIns="0" tIns="0" rIns="0" bIns="0" rtlCol="0" anchor="ctr"/>
          <a:lstStyle/>
          <a:p>
            <a:pPr algn="r" indent="0" marL="0">
              <a:buNone/>
            </a:pPr>
            <a:r>
              <a:rPr lang="en-US" sz="1000" dirty="0">
                <a:solidFill>
                  <a:srgbClr val="5A6672"/>
                </a:solidFill>
              </a:rPr>
              <a:t>© 2026 Prof. Mazharul Islam · CC BY 4.0</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4.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lIns="0" tIns="0" rIns="0" bIns="0" rtlCol="0"/>
          <a:lstStyle/>
          <a:p>
            <a:pPr indent="0" marL="0">
              <a:buNone/>
            </a:pPr>
            <a:r>
              <a:rPr lang="en-US" sz="1800" b="1" spc="200" kern="0" dirty="0">
                <a:solidFill>
                  <a:srgbClr val="F2C14E"/>
                </a:solidFill>
              </a:rPr>
              <a:t>MODULE 03 · LESSON 4 OF 4 · ≈ 10 MIN</a:t>
            </a: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lIns="0" tIns="0" rIns="0" bIns="0" rtlCol="0" anchor="t"/>
          <a:lstStyle/>
          <a:p>
            <a:pPr algn="l" indent="0" marL="0">
              <a:buNone/>
            </a:pPr>
            <a:r>
              <a:rPr lang="en-US" sz="4400" b="1" dirty="0">
                <a:solidFill>
                  <a:schemeClr val="bg1"/>
                </a:solidFill>
              </a:rPr>
              <a:t>Scaling, normalization and sensitivity</a:t>
            </a: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lIns="0" tIns="0" rIns="0" bIns="0" rtlCol="0" anchor="t"/>
          <a:lstStyle/>
          <a:p>
            <a:pPr indent="0" marL="0">
              <a:spcAft>
                <a:spcPts val="800"/>
              </a:spcAft>
              <a:buNone/>
            </a:pPr>
            <a:r>
              <a:rPr lang="en-US" sz="1800" b="1" dirty="0">
                <a:solidFill>
                  <a:srgbClr val="D6E2F0"/>
                </a:solidFill>
              </a:rPr>
              <a:t>Module 3: Mathematics and data intuition</a:t>
            </a:r>
            <a:endParaRPr lang="en-US" sz="1800" dirty="0"/>
          </a:p>
          <a:p>
            <a:pPr marL="342900" indent="-342900">
              <a:buSzPct val="100000"/>
              <a:buChar char="•"/>
            </a:pPr>
            <a:r>
              <a:rPr lang="en-US" sz="1800" dirty="0">
                <a:solidFill>
                  <a:srgbClr val="D6E2F0"/>
                </a:solidFill>
              </a:rPr>
              <a:t>Why scale variables?</a:t>
            </a:r>
            <a:endParaRPr lang="en-US" sz="1800" dirty="0"/>
          </a:p>
          <a:p>
            <a:pPr marL="342900" indent="-342900">
              <a:buSzPct val="100000"/>
              <a:buChar char="•"/>
            </a:pPr>
            <a:r>
              <a:rPr lang="en-US" sz="1800" dirty="0">
                <a:solidFill>
                  <a:srgbClr val="D6E2F0"/>
                </a:solidFill>
              </a:rPr>
              <a:t>Sensitivity of an engineering response</a:t>
            </a:r>
            <a:endParaRPr lang="en-US" sz="1800" dirty="0"/>
          </a:p>
        </p:txBody>
      </p:sp>
      <p:sp>
        <p:nvSpPr>
          <p:cNvPr id="5" name="lesson-number-ring"/>
          <p:cNvSpPr/>
          <p:nvPr/>
        </p:nvSpPr>
        <p:spPr>
          <a:xfrm>
            <a:off x="8732520" y="1417320"/>
            <a:ext cx="2926080" cy="2926080"/>
          </a:xfrm>
          <a:prstGeom prst="ellipse">
            <a:avLst/>
          </a:prstGeom>
          <a:solidFill>
            <a:schemeClr val="bg1">
              <a:alpha val="12000"/>
            </a:schemeClr>
          </a:solidFill>
          <a:ln w="38100">
            <a:solidFill>
              <a:srgbClr val="F2C14E"/>
            </a:solidFill>
            <a:prstDash val="solid"/>
          </a:ln>
        </p:spPr>
      </p:sp>
      <p:sp>
        <p:nvSpPr>
          <p:cNvPr id="6" name="lesson-number"/>
          <p:cNvSpPr txBox="1"/>
          <p:nvPr/>
        </p:nvSpPr>
        <p:spPr>
          <a:xfrm>
            <a:off x="8732520" y="1417320"/>
            <a:ext cx="2926080" cy="2926080"/>
          </a:xfrm>
          <a:prstGeom prst="rect">
            <a:avLst/>
          </a:prstGeom>
          <a:noFill/>
          <a:ln/>
        </p:spPr>
        <p:txBody>
          <a:bodyPr wrap="square" rtlCol="0" anchor="ctr"/>
          <a:lstStyle/>
          <a:p>
            <a:pPr algn="ctr" indent="0" marL="0">
              <a:buNone/>
            </a:pPr>
            <a:r>
              <a:rPr lang="en-US" sz="8000" b="1" dirty="0">
                <a:solidFill>
                  <a:schemeClr val="bg1"/>
                </a:solidFill>
              </a:rPr>
              <a:t>3.4</a:t>
            </a:r>
            <a:endParaRPr lang="en-US" sz="8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4 · Scaling, normalization and sensitivity · Intuition</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Why scale variables?</a:t>
            </a:r>
            <a:endParaRPr lang="en-US" sz="3200" dirty="0"/>
          </a:p>
        </p:txBody>
      </p:sp>
      <p:sp>
        <p:nvSpPr>
          <p:cNvPr id="5" name="intuition-card"/>
          <p:cNvSpPr/>
          <p:nvPr/>
        </p:nvSpPr>
        <p:spPr>
          <a:xfrm>
            <a:off x="548640" y="1691640"/>
            <a:ext cx="5120640" cy="4480560"/>
          </a:xfrm>
          <a:prstGeom prst="roundRect">
            <a:avLst>
              <a:gd name="adj" fmla="val 2449"/>
            </a:avLst>
          </a:prstGeom>
          <a:solidFill>
            <a:schemeClr val="accent1">
              <a:alpha val="7000"/>
            </a:schemeClr>
          </a:solidFill>
          <a:ln w="12700">
            <a:solidFill>
              <a:schemeClr val="accent1">
                <a:alpha val="30000"/>
              </a:schemeClr>
            </a:solidFill>
            <a:prstDash val="solid"/>
          </a:ln>
        </p:spPr>
      </p:sp>
      <p:sp>
        <p:nvSpPr>
          <p:cNvPr id="6" name="icon-bg-intu"/>
          <p:cNvSpPr/>
          <p:nvPr/>
        </p:nvSpPr>
        <p:spPr>
          <a:xfrm>
            <a:off x="777240" y="1874520"/>
            <a:ext cx="502920" cy="502920"/>
          </a:xfrm>
          <a:prstGeom prst="ellipse">
            <a:avLst/>
          </a:prstGeom>
          <a:solidFill>
            <a:schemeClr val="accent1"/>
          </a:solidFill>
          <a:ln w="12700">
            <a:solidFill>
              <a:schemeClr val="accent1"/>
            </a:solidFill>
            <a:prstDash val="solid"/>
          </a:ln>
        </p:spPr>
      </p:sp>
      <p:pic>
        <p:nvPicPr>
          <p:cNvPr id="7" name="icon-intu" descr="preencoded.png">    </p:cNvPr>
          <p:cNvPicPr>
            <a:picLocks noChangeAspect="1"/>
          </p:cNvPicPr>
          <p:nvPr/>
        </p:nvPicPr>
        <p:blipFill>
          <a:blip r:embed="rId1"/>
          <a:stretch>
            <a:fillRect/>
          </a:stretch>
        </p:blipFill>
        <p:spPr>
          <a:xfrm>
            <a:off x="897941" y="1995221"/>
            <a:ext cx="261518" cy="261518"/>
          </a:xfrm>
          <a:prstGeom prst="rect">
            <a:avLst/>
          </a:prstGeom>
        </p:spPr>
      </p:pic>
      <p:sp>
        <p:nvSpPr>
          <p:cNvPr id="8" name="text"/>
          <p:cNvSpPr txBox="1"/>
          <p:nvPr/>
        </p:nvSpPr>
        <p:spPr>
          <a:xfrm>
            <a:off x="685800" y="2468880"/>
            <a:ext cx="4846320" cy="361188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Many methods use distances between designs (nearest neighbours, RBFs, Gaussian processes) or penalize coefficient sizes. If one variable is measured in millimetres (range 2.2) and another in kilograms (range 0.1), the larger-range variable dominates the distance purely because of units. </a:t>
            </a:r>
            <a:pPr indent="0" marL="0">
              <a:spcAft>
                <a:spcPts val="600"/>
              </a:spcAft>
              <a:buNone/>
            </a:pPr>
            <a:r>
              <a:rPr lang="en-US" sz="2000" b="1" dirty="0">
                <a:solidFill>
                  <a:schemeClr val="tx1"/>
                </a:solidFill>
              </a:rPr>
              <a:t>Scaling</a:t>
            </a:r>
            <a:pPr indent="0" marL="0">
              <a:spcAft>
                <a:spcPts val="600"/>
              </a:spcAft>
              <a:buNone/>
            </a:pPr>
            <a:r>
              <a:rPr lang="en-US" sz="2000" dirty="0">
                <a:solidFill>
                  <a:schemeClr val="tx1"/>
                </a:solidFill>
              </a:rPr>
              <a:t> puts variables on comparable ranges.</a:t>
            </a:r>
            <a:endParaRPr lang="en-US" sz="2000" dirty="0"/>
          </a:p>
        </p:txBody>
      </p:sp>
      <p:pic>
        <p:nvPicPr>
          <p:cNvPr id="9" name="figure" descr="Scatter of six designs in fin gap (mm) versus mass (kg) with a query point. In raw units the nearest neighbour is chosen almost entirely by fin gap. After min–max scaling, a different neighbour is closest because both variables count.">    </p:cNvPr>
          <p:cNvPicPr>
            <a:picLocks noChangeAspect="1"/>
          </p:cNvPicPr>
          <p:nvPr/>
        </p:nvPicPr>
        <p:blipFill>
          <a:blip r:embed="rId2"/>
          <a:stretch>
            <a:fillRect/>
          </a:stretch>
        </p:blipFill>
        <p:spPr>
          <a:xfrm>
            <a:off x="5989320" y="1691640"/>
            <a:ext cx="5653735" cy="2659101"/>
          </a:xfrm>
          <a:prstGeom prst="rect">
            <a:avLst/>
          </a:prstGeom>
        </p:spPr>
      </p:pic>
      <p:sp>
        <p:nvSpPr>
          <p:cNvPr id="10" name="Text 5"/>
          <p:cNvSpPr txBox="1"/>
          <p:nvPr/>
        </p:nvSpPr>
        <p:spPr>
          <a:xfrm>
            <a:off x="5989320" y="4396461"/>
            <a:ext cx="5653735" cy="1821459"/>
          </a:xfrm>
          <a:prstGeom prst="rect">
            <a:avLst/>
          </a:prstGeom>
          <a:noFill/>
          <a:ln/>
        </p:spPr>
        <p:txBody>
          <a:bodyPr wrap="square" lIns="0" tIns="0" rIns="0" bIns="0" rtlCol="0" anchor="t"/>
          <a:lstStyle/>
          <a:p>
            <a:pPr indent="0" marL="0">
              <a:buNone/>
            </a:pPr>
            <a:r>
              <a:rPr lang="en-US" sz="1200" i="1" dirty="0">
                <a:solidFill>
                  <a:srgbClr val="46525F"/>
                </a:solidFill>
              </a:rPr>
              <a:t>The nearest neighbour of a query design changes after both variables are scaled to [0, 1]. (Interactive in the online course.)</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4 · Scaling, normalization and sensitivity · The mathematics</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Why scale variables?</a:t>
            </a:r>
            <a:endParaRPr lang="en-US" sz="3200" dirty="0"/>
          </a:p>
        </p:txBody>
      </p:sp>
      <p:sp>
        <p:nvSpPr>
          <p:cNvPr id="5" name="icon-bg-math"/>
          <p:cNvSpPr/>
          <p:nvPr/>
        </p:nvSpPr>
        <p:spPr>
          <a:xfrm>
            <a:off x="548640" y="1645920"/>
            <a:ext cx="502920" cy="502920"/>
          </a:xfrm>
          <a:prstGeom prst="ellipse">
            <a:avLst/>
          </a:prstGeom>
          <a:solidFill>
            <a:schemeClr val="accent1"/>
          </a:solidFill>
          <a:ln w="12700">
            <a:solidFill>
              <a:schemeClr val="accent1"/>
            </a:solidFill>
            <a:prstDash val="solid"/>
          </a:ln>
        </p:spPr>
      </p:sp>
      <p:pic>
        <p:nvPicPr>
          <p:cNvPr id="6" name="icon-math" descr="preencoded.png">    </p:cNvPr>
          <p:cNvPicPr>
            <a:picLocks noChangeAspect="1"/>
          </p:cNvPicPr>
          <p:nvPr/>
        </p:nvPicPr>
        <p:blipFill>
          <a:blip r:embed="rId1"/>
          <a:stretch>
            <a:fillRect/>
          </a:stretch>
        </p:blipFill>
        <p:spPr>
          <a:xfrm>
            <a:off x="669341" y="1766621"/>
            <a:ext cx="261518" cy="261518"/>
          </a:xfrm>
          <a:prstGeom prst="rect">
            <a:avLst/>
          </a:prstGeom>
        </p:spPr>
      </p:pic>
      <p:sp>
        <p:nvSpPr>
          <p:cNvPr id="7" name="math-card"/>
          <p:cNvSpPr/>
          <p:nvPr/>
        </p:nvSpPr>
        <p:spPr>
          <a:xfrm>
            <a:off x="1143000" y="1600200"/>
            <a:ext cx="10500055" cy="894080"/>
          </a:xfrm>
          <a:prstGeom prst="roundRect">
            <a:avLst>
              <a:gd name="adj" fmla="val 12273"/>
            </a:avLst>
          </a:prstGeom>
          <a:solidFill>
            <a:schemeClr val="bg2"/>
          </a:solidFill>
          <a:ln w="12700">
            <a:solidFill>
              <a:schemeClr val="bg2">
                <a:alpha val="30000"/>
              </a:schemeClr>
            </a:solidFill>
            <a:prstDash val="solid"/>
          </a:ln>
        </p:spPr>
      </p:sp>
      <p:sp>
        <p:nvSpPr>
          <p:cNvPr id="8" name="math-text"/>
          <p:cNvSpPr txBox="1"/>
          <p:nvPr/>
        </p:nvSpPr>
        <p:spPr>
          <a:xfrm>
            <a:off x="1234440" y="1645920"/>
            <a:ext cx="10408615" cy="802640"/>
          </a:xfrm>
          <a:prstGeom prst="rect">
            <a:avLst/>
          </a:prstGeom>
          <a:noFill/>
          <a:ln/>
        </p:spPr>
        <p:txBody>
          <a:bodyPr wrap="square" lIns="1270" tIns="1270" rIns="1270" bIns="1270" rtlCol="0" anchor="ctr"/>
          <a:lstStyle/>
          <a:p>
            <a:pPr algn="ctr" indent="0" marL="0">
              <a:buNone/>
            </a:pPr>
            <a:r>
              <a:rPr lang="en-US" sz="2000" dirty="0">
                <a:solidFill>
                  <a:schemeClr val="tx1"/>
                </a:solidFill>
              </a:rPr>
              <a:t>min–max: </a:t>
            </a:r>
            <a:pPr algn="ctr" indent="0" marL="0">
              <a:buNone/>
            </a:pPr>
            <a:r>
              <a:rPr lang="en-US" sz="2000" i="1" dirty="0">
                <a:solidFill>
                  <a:schemeClr val="tx1"/>
                </a:solidFill>
              </a:rPr>
              <a:t>z</a:t>
            </a:r>
            <a:pPr algn="ctr" indent="0" marL="0">
              <a:buNone/>
            </a:pPr>
            <a:r>
              <a:rPr lang="en-US" sz="2000" dirty="0">
                <a:solidFill>
                  <a:schemeClr val="tx1"/>
                </a:solidFill>
              </a:rPr>
              <a:t> = (</a:t>
            </a:r>
            <a:pPr algn="ctr" indent="0" marL="0">
              <a:buNone/>
            </a:pPr>
            <a:r>
              <a:rPr lang="en-US" sz="2000" i="1" dirty="0">
                <a:solidFill>
                  <a:schemeClr val="tx1"/>
                </a:solidFill>
              </a:rPr>
              <a:t>x</a:t>
            </a:r>
            <a:pPr algn="ctr" indent="0" marL="0">
              <a:buNone/>
            </a:pPr>
            <a:r>
              <a:rPr lang="en-US" sz="2000" dirty="0">
                <a:solidFill>
                  <a:schemeClr val="tx1"/>
                </a:solidFill>
              </a:rPr>
              <a:t> − </a:t>
            </a:r>
            <a:pPr algn="ctr" indent="0" marL="0">
              <a:buNone/>
            </a:pPr>
            <a:r>
              <a:rPr lang="en-US" sz="2000" i="1" dirty="0">
                <a:solidFill>
                  <a:schemeClr val="tx1"/>
                </a:solidFill>
              </a:rPr>
              <a:t>x</a:t>
            </a:r>
            <a:pPr algn="ctr" indent="0" marL="0">
              <a:buNone/>
            </a:pPr>
            <a:r>
              <a:rPr lang="en-US" sz="2000" baseline="-40000" dirty="0">
                <a:solidFill>
                  <a:schemeClr val="tx1"/>
                </a:solidFill>
              </a:rPr>
              <a:t>min</a:t>
            </a:r>
            <a:pPr algn="ctr" indent="0" marL="0">
              <a:buNone/>
            </a:pPr>
            <a:r>
              <a:rPr lang="en-US" sz="2000" dirty="0">
                <a:solidFill>
                  <a:schemeClr val="tx1"/>
                </a:solidFill>
              </a:rPr>
              <a:t>)/(</a:t>
            </a:r>
            <a:pPr algn="ctr" indent="0" marL="0">
              <a:buNone/>
            </a:pPr>
            <a:r>
              <a:rPr lang="en-US" sz="2000" i="1" dirty="0">
                <a:solidFill>
                  <a:schemeClr val="tx1"/>
                </a:solidFill>
              </a:rPr>
              <a:t>x</a:t>
            </a:r>
            <a:pPr algn="ctr" indent="0" marL="0">
              <a:buNone/>
            </a:pPr>
            <a:r>
              <a:rPr lang="en-US" sz="2000" baseline="-40000" dirty="0">
                <a:solidFill>
                  <a:schemeClr val="tx1"/>
                </a:solidFill>
              </a:rPr>
              <a:t>max</a:t>
            </a:r>
            <a:pPr algn="ctr" indent="0" marL="0">
              <a:buNone/>
            </a:pPr>
            <a:r>
              <a:rPr lang="en-US" sz="2000" dirty="0">
                <a:solidFill>
                  <a:schemeClr val="tx1"/>
                </a:solidFill>
              </a:rPr>
              <a:t> − </a:t>
            </a:r>
            <a:pPr algn="ctr" indent="0" marL="0">
              <a:buNone/>
            </a:pPr>
            <a:r>
              <a:rPr lang="en-US" sz="2000" i="1" dirty="0">
                <a:solidFill>
                  <a:schemeClr val="tx1"/>
                </a:solidFill>
              </a:rPr>
              <a:t>x</a:t>
            </a:r>
            <a:pPr algn="ctr" indent="0" marL="0">
              <a:buNone/>
            </a:pPr>
            <a:r>
              <a:rPr lang="en-US" sz="2000" baseline="-40000" dirty="0">
                <a:solidFill>
                  <a:schemeClr val="tx1"/>
                </a:solidFill>
              </a:rPr>
              <a:t>min</a:t>
            </a:r>
            <a:pPr algn="ctr" indent="0" marL="0">
              <a:buNone/>
            </a:pPr>
            <a:r>
              <a:rPr lang="en-US" sz="2000" dirty="0">
                <a:solidFill>
                  <a:schemeClr val="tx1"/>
                </a:solidFill>
              </a:rPr>
              <a:t>) ∈ [0, 1], standardization: </a:t>
            </a:r>
            <a:pPr algn="ctr" indent="0" marL="0">
              <a:buNone/>
            </a:pPr>
            <a:r>
              <a:rPr lang="en-US" sz="2000" i="1" dirty="0">
                <a:solidFill>
                  <a:schemeClr val="tx1"/>
                </a:solidFill>
              </a:rPr>
              <a:t>z</a:t>
            </a:r>
            <a:pPr algn="ctr" indent="0" marL="0">
              <a:buNone/>
            </a:pPr>
            <a:r>
              <a:rPr lang="en-US" sz="2000" dirty="0">
                <a:solidFill>
                  <a:schemeClr val="tx1"/>
                </a:solidFill>
              </a:rPr>
              <a:t> = (</a:t>
            </a:r>
            <a:pPr algn="ctr" indent="0" marL="0">
              <a:buNone/>
            </a:pPr>
            <a:r>
              <a:rPr lang="en-US" sz="2000" i="1" dirty="0">
                <a:solidFill>
                  <a:schemeClr val="tx1"/>
                </a:solidFill>
              </a:rPr>
              <a:t>x</a:t>
            </a:r>
            <a:pPr algn="ctr" indent="0" marL="0">
              <a:buNone/>
            </a:pPr>
            <a:r>
              <a:rPr lang="en-US" sz="2000" dirty="0">
                <a:solidFill>
                  <a:schemeClr val="tx1"/>
                </a:solidFill>
              </a:rPr>
              <a:t> − </a:t>
            </a:r>
            <a:pPr algn="ctr" indent="0" marL="0">
              <a:buNone/>
            </a:pPr>
            <a:r>
              <a:rPr lang="en-US" sz="2000" i="1" dirty="0">
                <a:solidFill>
                  <a:schemeClr val="tx1"/>
                </a:solidFill>
              </a:rPr>
              <a:t>μ</a:t>
            </a:r>
            <a:pPr algn="ctr" indent="0" marL="0">
              <a:buNone/>
            </a:pPr>
            <a:r>
              <a:rPr lang="en-US" sz="2000" dirty="0">
                <a:solidFill>
                  <a:schemeClr val="tx1"/>
                </a:solidFill>
              </a:rPr>
              <a:t>)/(</a:t>
            </a:r>
            <a:pPr algn="ctr" indent="0" marL="0">
              <a:buNone/>
            </a:pPr>
            <a:r>
              <a:rPr lang="en-US" sz="2000" i="1" dirty="0">
                <a:solidFill>
                  <a:schemeClr val="tx1"/>
                </a:solidFill>
              </a:rPr>
              <a:t>σ</a:t>
            </a:r>
            <a:pPr algn="ctr" indent="0" marL="0">
              <a:buNone/>
            </a:pPr>
            <a:r>
              <a:rPr lang="en-US" sz="2000" dirty="0">
                <a:solidFill>
                  <a:schemeClr val="tx1"/>
                </a:solidFill>
              </a:rPr>
              <a:t>)</a:t>
            </a:r>
            <a:endParaRPr lang="en-US" sz="2000" dirty="0"/>
          </a:p>
        </p:txBody>
      </p:sp>
      <p:graphicFrame>
        <p:nvGraphicFramePr>
          <p:cNvPr id="4" name="math-table"/>
          <p:cNvGraphicFramePr>
            <a:graphicFrameLocks noGrp="1"/>
          </p:cNvGraphicFramePr>
          <p:nvPr>
            <p:extLst>
              <p:ext uri="{D42A27DB-BD31-4B8C-83A1-F6EECF244321}">
                <p14:modId xmlns:p14="http://schemas.microsoft.com/office/powerpoint/2010/main" val="1579011935"/>
              </p:ext>
            </p:extLst>
          </p:nvPr>
        </p:nvGraphicFramePr>
        <p:xfrm>
          <a:off x="1234440" y="2677160"/>
          <a:ext cx="10408615" cy="914400"/>
        </p:xfrm>
        <a:graphic>
          <a:graphicData uri="http://schemas.openxmlformats.org/drawingml/2006/table">
            <a:tbl>
              <a:tblPr/>
              <a:tblGrid>
                <a:gridCol w="2289895"/>
                <a:gridCol w="6036997"/>
                <a:gridCol w="2081723"/>
              </a:tblGrid>
              <a:tr h="0">
                <a:tc>
                  <a:txBody>
                    <a:bodyPr/>
                    <a:lstStyle/>
                    <a:p>
                      <a:pPr indent="0" marL="0">
                        <a:buNone/>
                      </a:pPr>
                      <a:r>
                        <a:rPr lang="en-US" sz="1400" b="1" dirty="0">
                          <a:solidFill>
                            <a:srgbClr val="FFFFFF"/>
                          </a:solidFill>
                        </a:rPr>
                        <a:t>Symbol</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1F5FA8"/>
                    </a:solidFill>
                  </a:tcPr>
                </a:tc>
                <a:tc>
                  <a:txBody>
                    <a:bodyPr/>
                    <a:lstStyle/>
                    <a:p>
                      <a:pPr indent="0" marL="0">
                        <a:buNone/>
                      </a:pPr>
                      <a:r>
                        <a:rPr lang="en-US" sz="1400" b="1" dirty="0">
                          <a:solidFill>
                            <a:srgbClr val="FFFFFF"/>
                          </a:solidFill>
                        </a:rPr>
                        <a:t>Meaning</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1F5FA8"/>
                    </a:solidFill>
                  </a:tcPr>
                </a:tc>
                <a:tc>
                  <a:txBody>
                    <a:bodyPr/>
                    <a:lstStyle/>
                    <a:p>
                      <a:pPr indent="0" marL="0">
                        <a:buNone/>
                      </a:pPr>
                      <a:r>
                        <a:rPr lang="en-US" sz="1400" b="1" dirty="0">
                          <a:solidFill>
                            <a:srgbClr val="FFFFFF"/>
                          </a:solidFill>
                        </a:rPr>
                        <a:t>Unit</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1F5FA8"/>
                    </a:solidFill>
                  </a:tcPr>
                </a:tc>
              </a:tr>
              <a:tr h="0">
                <a:tc>
                  <a:txBody>
                    <a:bodyPr/>
                    <a:lstStyle/>
                    <a:p>
                      <a:pPr indent="0" marL="0">
                        <a:buNone/>
                      </a:pPr>
                      <a:r>
                        <a:rPr lang="en-US" sz="1400" dirty="0">
                          <a:solidFill>
                            <a:srgbClr val="18212B"/>
                          </a:solidFill>
                        </a:rPr>
                        <a:t>x</a:t>
                      </a:r>
                      <a:pPr indent="0" marL="0">
                        <a:buNone/>
                      </a:pPr>
                      <a:r>
                        <a:rPr lang="en-US" sz="1400" baseline="-40000" dirty="0">
                          <a:solidFill>
                            <a:srgbClr val="18212B"/>
                          </a:solidFill>
                        </a:rPr>
                        <a:t>min</a:t>
                      </a:r>
                      <a:pPr indent="0" marL="0">
                        <a:buNone/>
                      </a:pPr>
                      <a:r>
                        <a:rPr lang="en-US" sz="1400" dirty="0">
                          <a:solidFill>
                            <a:srgbClr val="18212B"/>
                          </a:solidFill>
                        </a:rPr>
                        <a:t>, x</a:t>
                      </a:r>
                      <a:pPr indent="0" marL="0">
                        <a:buNone/>
                      </a:pPr>
                      <a:r>
                        <a:rPr lang="en-US" sz="1400" baseline="-40000" dirty="0">
                          <a:solidFill>
                            <a:srgbClr val="18212B"/>
                          </a:solidFill>
                        </a:rPr>
                        <a:t>max</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400" dirty="0">
                          <a:solidFill>
                            <a:srgbClr val="18212B"/>
                          </a:solidFill>
                        </a:rPr>
                        <a:t>design-variable bounds (preferred for design spaces)</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400" dirty="0">
                          <a:solidFill>
                            <a:srgbClr val="18212B"/>
                          </a:solidFill>
                        </a:rPr>
                        <a:t>units of x</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8212B"/>
                          </a:solidFill>
                        </a:rPr>
                        <a:t>μ, σ</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400" dirty="0">
                          <a:solidFill>
                            <a:srgbClr val="18212B"/>
                          </a:solidFill>
                        </a:rPr>
                        <a:t>mean and standard deviation of the TRAINING data</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400" dirty="0">
                          <a:solidFill>
                            <a:srgbClr val="18212B"/>
                          </a:solidFill>
                        </a:rPr>
                        <a:t>units of x</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3F6FA"/>
                    </a:solidFill>
                  </a:tcPr>
                </a:tc>
              </a:tr>
              <a:tr h="0">
                <a:tc>
                  <a:txBody>
                    <a:bodyPr/>
                    <a:lstStyle/>
                    <a:p>
                      <a:pPr indent="0" marL="0">
                        <a:buNone/>
                      </a:pPr>
                      <a:r>
                        <a:rPr lang="en-US" sz="1400" dirty="0">
                          <a:solidFill>
                            <a:srgbClr val="18212B"/>
                          </a:solidFill>
                        </a:rPr>
                        <a:t>z</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400" dirty="0">
                          <a:solidFill>
                            <a:srgbClr val="18212B"/>
                          </a:solidFill>
                        </a:rPr>
                        <a:t>scaled variable</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400" dirty="0">
                          <a:solidFill>
                            <a:srgbClr val="18212B"/>
                          </a:solidFill>
                        </a:rPr>
                        <a:t>dimensionless</a:t>
                      </a:r>
                      <a:endParaRPr lang="en-US" sz="1400" dirty="0"/>
                    </a:p>
                  </a:txBody>
                  <a:tcPr marL="76200" marR="76200" marT="38100" marB="3810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r>
            </a:tbl>
          </a:graphicData>
        </a:graphic>
      </p:graphicFrame>
      <p:sp>
        <p:nvSpPr>
          <p:cNvPr id="10" name="math-card"/>
          <p:cNvSpPr/>
          <p:nvPr/>
        </p:nvSpPr>
        <p:spPr>
          <a:xfrm>
            <a:off x="1143000" y="5109464"/>
            <a:ext cx="10500055" cy="832104"/>
          </a:xfrm>
          <a:prstGeom prst="roundRect">
            <a:avLst>
              <a:gd name="adj" fmla="val 13187"/>
            </a:avLst>
          </a:prstGeom>
          <a:solidFill>
            <a:schemeClr val="bg2"/>
          </a:solidFill>
          <a:ln w="12700">
            <a:solidFill>
              <a:schemeClr val="bg2">
                <a:alpha val="30000"/>
              </a:schemeClr>
            </a:solidFill>
            <a:prstDash val="solid"/>
          </a:ln>
        </p:spPr>
      </p:sp>
      <p:sp>
        <p:nvSpPr>
          <p:cNvPr id="11" name="math-text"/>
          <p:cNvSpPr txBox="1"/>
          <p:nvPr/>
        </p:nvSpPr>
        <p:spPr>
          <a:xfrm>
            <a:off x="1234440" y="5155184"/>
            <a:ext cx="10408615" cy="740664"/>
          </a:xfrm>
          <a:prstGeom prst="rect">
            <a:avLst/>
          </a:prstGeom>
          <a:noFill/>
          <a:ln/>
        </p:spPr>
        <p:txBody>
          <a:bodyPr wrap="square" lIns="1270" tIns="1270" rIns="1270" bIns="1270" rtlCol="0" anchor="ctr"/>
          <a:lstStyle/>
          <a:p>
            <a:pPr indent="0" marL="0">
              <a:buNone/>
            </a:pPr>
            <a:r>
              <a:rPr lang="en-US" sz="1800" dirty="0">
                <a:solidFill>
                  <a:schemeClr val="tx1"/>
                </a:solidFill>
              </a:rPr>
              <a:t>For bounded design spaces, scaling by the bounds is natural and does not depend on data. For data-based scaling, compute μ, σ from training data only (Module 5: leakage).</a:t>
            </a:r>
            <a:endParaRPr lang="en-US" sz="18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4 · Scaling, normalization and sensitivity · In engineering practice</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Why scale variables?</a:t>
            </a:r>
            <a:endParaRPr lang="en-US" sz="3200" dirty="0"/>
          </a:p>
        </p:txBody>
      </p:sp>
      <p:sp>
        <p:nvSpPr>
          <p:cNvPr id="5" name="Engineering application"/>
          <p:cNvSpPr/>
          <p:nvPr/>
        </p:nvSpPr>
        <p:spPr>
          <a:xfrm>
            <a:off x="548640" y="1691640"/>
            <a:ext cx="5364328" cy="4480560"/>
          </a:xfrm>
          <a:prstGeom prst="roundRect">
            <a:avLst>
              <a:gd name="adj" fmla="val 2449"/>
            </a:avLst>
          </a:prstGeom>
          <a:solidFill>
            <a:schemeClr val="accent3">
              <a:alpha val="10000"/>
            </a:schemeClr>
          </a:solidFill>
          <a:ln w="12700">
            <a:solidFill>
              <a:schemeClr val="accent3">
                <a:alpha val="30000"/>
              </a:schemeClr>
            </a:solidFill>
            <a:prstDash val="solid"/>
          </a:ln>
        </p:spPr>
      </p:sp>
      <p:sp>
        <p:nvSpPr>
          <p:cNvPr id="6" name="icon-bg-app"/>
          <p:cNvSpPr/>
          <p:nvPr/>
        </p:nvSpPr>
        <p:spPr>
          <a:xfrm>
            <a:off x="822960" y="1920240"/>
            <a:ext cx="566928" cy="566928"/>
          </a:xfrm>
          <a:prstGeom prst="ellipse">
            <a:avLst/>
          </a:prstGeom>
          <a:solidFill>
            <a:schemeClr val="accent3"/>
          </a:solidFill>
          <a:ln w="12700">
            <a:solidFill>
              <a:schemeClr val="accent3"/>
            </a:solidFill>
            <a:prstDash val="solid"/>
          </a:ln>
        </p:spPr>
      </p:sp>
      <p:pic>
        <p:nvPicPr>
          <p:cNvPr id="7" name="icon-app" descr="preencoded.png">    </p:cNvPr>
          <p:cNvPicPr>
            <a:picLocks noChangeAspect="1"/>
          </p:cNvPicPr>
          <p:nvPr/>
        </p:nvPicPr>
        <p:blipFill>
          <a:blip r:embed="rId1"/>
          <a:stretch>
            <a:fillRect/>
          </a:stretch>
        </p:blipFill>
        <p:spPr>
          <a:xfrm>
            <a:off x="959023" y="2056303"/>
            <a:ext cx="294803" cy="294803"/>
          </a:xfrm>
          <a:prstGeom prst="rect">
            <a:avLst/>
          </a:prstGeom>
        </p:spPr>
      </p:pic>
      <p:sp>
        <p:nvSpPr>
          <p:cNvPr id="8" name="Text 4"/>
          <p:cNvSpPr txBox="1"/>
          <p:nvPr/>
        </p:nvSpPr>
        <p:spPr>
          <a:xfrm>
            <a:off x="1508760" y="1965960"/>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Engineering application</a:t>
            </a:r>
            <a:endParaRPr lang="en-US" sz="2000" dirty="0"/>
          </a:p>
        </p:txBody>
      </p:sp>
      <p:sp>
        <p:nvSpPr>
          <p:cNvPr id="9" name="text"/>
          <p:cNvSpPr txBox="1"/>
          <p:nvPr/>
        </p:nvSpPr>
        <p:spPr>
          <a:xfrm>
            <a:off x="777240" y="2697480"/>
            <a:ext cx="4907128" cy="333756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The heat sink in scaled units: </a:t>
            </a:r>
            <a:pPr indent="0" marL="0">
              <a:spcAft>
                <a:spcPts val="600"/>
              </a:spcAft>
              <a:buNone/>
            </a:pPr>
            <a:r>
              <a:rPr lang="en-US" sz="2000" i="1" dirty="0">
                <a:solidFill>
                  <a:schemeClr val="tx1"/>
                </a:solidFill>
              </a:rPr>
              <a:t>z</a:t>
            </a:r>
            <a:pPr indent="0" marL="0">
              <a:spcAft>
                <a:spcPts val="600"/>
              </a:spcAft>
              <a:buNone/>
            </a:pPr>
            <a:r>
              <a:rPr lang="en-US" sz="2000" baseline="-40000" dirty="0">
                <a:solidFill>
                  <a:schemeClr val="tx1"/>
                </a:solidFill>
              </a:rPr>
              <a:t>s</a:t>
            </a:r>
            <a:pPr indent="0" marL="0">
              <a:spcAft>
                <a:spcPts val="600"/>
              </a:spcAft>
              <a:buNone/>
            </a:pPr>
            <a:r>
              <a:rPr lang="en-US" sz="2000" dirty="0">
                <a:solidFill>
                  <a:schemeClr val="tx1"/>
                </a:solidFill>
              </a:rPr>
              <a:t> = (</a:t>
            </a:r>
            <a:pPr indent="0" marL="0">
              <a:spcAft>
                <a:spcPts val="600"/>
              </a:spcAft>
              <a:buNone/>
            </a:pPr>
            <a:r>
              <a:rPr lang="en-US" sz="2000" i="1" dirty="0">
                <a:solidFill>
                  <a:schemeClr val="tx1"/>
                </a:solidFill>
              </a:rPr>
              <a:t>s</a:t>
            </a:r>
            <a:pPr indent="0" marL="0">
              <a:spcAft>
                <a:spcPts val="600"/>
              </a:spcAft>
              <a:buNone/>
            </a:pPr>
            <a:r>
              <a:rPr lang="en-US" sz="2000" dirty="0">
                <a:solidFill>
                  <a:schemeClr val="tx1"/>
                </a:solidFill>
              </a:rPr>
              <a:t> − 0.8)/2.2, </a:t>
            </a:r>
            <a:pPr indent="0" marL="0">
              <a:spcAft>
                <a:spcPts val="600"/>
              </a:spcAft>
              <a:buNone/>
            </a:pPr>
            <a:r>
              <a:rPr lang="en-US" sz="2000" i="1" dirty="0">
                <a:solidFill>
                  <a:schemeClr val="tx1"/>
                </a:solidFill>
              </a:rPr>
              <a:t>z</a:t>
            </a:r>
            <a:pPr indent="0" marL="0">
              <a:spcAft>
                <a:spcPts val="600"/>
              </a:spcAft>
              <a:buNone/>
            </a:pPr>
            <a:r>
              <a:rPr lang="en-US" sz="2000" baseline="-40000" dirty="0">
                <a:solidFill>
                  <a:schemeClr val="tx1"/>
                </a:solidFill>
              </a:rPr>
              <a:t>t</a:t>
            </a:r>
            <a:pPr indent="0" marL="0">
              <a:spcAft>
                <a:spcPts val="600"/>
              </a:spcAft>
              <a:buNone/>
            </a:pPr>
            <a:r>
              <a:rPr lang="en-US" sz="2000" dirty="0">
                <a:solidFill>
                  <a:schemeClr val="tx1"/>
                </a:solidFill>
              </a:rPr>
              <a:t> = (</a:t>
            </a:r>
            <a:pPr indent="0" marL="0">
              <a:spcAft>
                <a:spcPts val="600"/>
              </a:spcAft>
              <a:buNone/>
            </a:pPr>
            <a:r>
              <a:rPr lang="en-US" sz="2000" i="1" dirty="0">
                <a:solidFill>
                  <a:schemeClr val="tx1"/>
                </a:solidFill>
              </a:rPr>
              <a:t>t</a:t>
            </a:r>
            <a:pPr indent="0" marL="0">
              <a:spcAft>
                <a:spcPts val="600"/>
              </a:spcAft>
              <a:buNone/>
            </a:pPr>
            <a:r>
              <a:rPr lang="en-US" sz="2000" dirty="0">
                <a:solidFill>
                  <a:schemeClr val="tx1"/>
                </a:solidFill>
              </a:rPr>
              <a:t> − 0.2)/1.3. All surrogates in this course are fitted in these scaled units.</a:t>
            </a:r>
            <a:endParaRPr lang="en-US" sz="2000" dirty="0"/>
          </a:p>
        </p:txBody>
      </p:sp>
      <p:sp>
        <p:nvSpPr>
          <p:cNvPr id="10" name="Practical tip"/>
          <p:cNvSpPr/>
          <p:nvPr/>
        </p:nvSpPr>
        <p:spPr>
          <a:xfrm>
            <a:off x="6278728" y="1691640"/>
            <a:ext cx="5364328" cy="4480560"/>
          </a:xfrm>
          <a:prstGeom prst="roundRect">
            <a:avLst>
              <a:gd name="adj" fmla="val 2449"/>
            </a:avLst>
          </a:prstGeom>
          <a:solidFill>
            <a:schemeClr val="accent4">
              <a:alpha val="10000"/>
            </a:schemeClr>
          </a:solidFill>
          <a:ln w="12700">
            <a:solidFill>
              <a:schemeClr val="accent4">
                <a:alpha val="30000"/>
              </a:schemeClr>
            </a:solidFill>
            <a:prstDash val="solid"/>
          </a:ln>
        </p:spPr>
      </p:sp>
      <p:sp>
        <p:nvSpPr>
          <p:cNvPr id="11" name="icon-bg-tip"/>
          <p:cNvSpPr/>
          <p:nvPr/>
        </p:nvSpPr>
        <p:spPr>
          <a:xfrm>
            <a:off x="6553048" y="1920240"/>
            <a:ext cx="566928" cy="566928"/>
          </a:xfrm>
          <a:prstGeom prst="ellipse">
            <a:avLst/>
          </a:prstGeom>
          <a:solidFill>
            <a:schemeClr val="accent4"/>
          </a:solidFill>
          <a:ln w="12700">
            <a:solidFill>
              <a:schemeClr val="accent4"/>
            </a:solidFill>
            <a:prstDash val="solid"/>
          </a:ln>
        </p:spPr>
      </p:sp>
      <p:pic>
        <p:nvPicPr>
          <p:cNvPr id="12" name="icon-tip" descr="preencoded.png">    </p:cNvPr>
          <p:cNvPicPr>
            <a:picLocks noChangeAspect="1"/>
          </p:cNvPicPr>
          <p:nvPr/>
        </p:nvPicPr>
        <p:blipFill>
          <a:blip r:embed="rId2"/>
          <a:stretch>
            <a:fillRect/>
          </a:stretch>
        </p:blipFill>
        <p:spPr>
          <a:xfrm>
            <a:off x="6689110" y="2056303"/>
            <a:ext cx="294803" cy="294803"/>
          </a:xfrm>
          <a:prstGeom prst="rect">
            <a:avLst/>
          </a:prstGeom>
        </p:spPr>
      </p:pic>
      <p:sp>
        <p:nvSpPr>
          <p:cNvPr id="13" name="Text 8"/>
          <p:cNvSpPr txBox="1"/>
          <p:nvPr/>
        </p:nvSpPr>
        <p:spPr>
          <a:xfrm>
            <a:off x="7238848" y="1965960"/>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Practical tip</a:t>
            </a:r>
            <a:endParaRPr lang="en-US" sz="2000" dirty="0"/>
          </a:p>
        </p:txBody>
      </p:sp>
      <p:sp>
        <p:nvSpPr>
          <p:cNvPr id="14" name="text"/>
          <p:cNvSpPr txBox="1"/>
          <p:nvPr/>
        </p:nvSpPr>
        <p:spPr>
          <a:xfrm>
            <a:off x="6507328" y="2697480"/>
            <a:ext cx="4907128" cy="333756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Keep the scaling in your model pipeline and record it; reverse it when reporting designs in physical units.</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4 · Scaling, normalization and sensitivity · Predict before you look</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Pause and predict</a:t>
            </a:r>
            <a:endParaRPr lang="en-US" sz="3200" dirty="0"/>
          </a:p>
        </p:txBody>
      </p:sp>
      <p:sp>
        <p:nvSpPr>
          <p:cNvPr id="5" name="question-card"/>
          <p:cNvSpPr/>
          <p:nvPr/>
        </p:nvSpPr>
        <p:spPr>
          <a:xfrm>
            <a:off x="548640" y="1737360"/>
            <a:ext cx="11094415" cy="3291840"/>
          </a:xfrm>
          <a:prstGeom prst="roundRect">
            <a:avLst>
              <a:gd name="adj" fmla="val 3333"/>
            </a:avLst>
          </a:prstGeom>
          <a:solidFill>
            <a:schemeClr val="accent2">
              <a:alpha val="9000"/>
            </a:schemeClr>
          </a:solidFill>
          <a:ln w="12700">
            <a:solidFill>
              <a:schemeClr val="accent2">
                <a:alpha val="30000"/>
              </a:schemeClr>
            </a:solidFill>
            <a:prstDash val="solid"/>
          </a:ln>
        </p:spPr>
      </p:sp>
      <p:sp>
        <p:nvSpPr>
          <p:cNvPr id="6" name="icon-bg-predict"/>
          <p:cNvSpPr/>
          <p:nvPr/>
        </p:nvSpPr>
        <p:spPr>
          <a:xfrm>
            <a:off x="868680" y="2011680"/>
            <a:ext cx="731520" cy="731520"/>
          </a:xfrm>
          <a:prstGeom prst="ellipse">
            <a:avLst/>
          </a:prstGeom>
          <a:solidFill>
            <a:schemeClr val="accent2"/>
          </a:solidFill>
          <a:ln w="12700">
            <a:solidFill>
              <a:schemeClr val="accent2"/>
            </a:solidFill>
            <a:prstDash val="solid"/>
          </a:ln>
        </p:spPr>
      </p:sp>
      <p:pic>
        <p:nvPicPr>
          <p:cNvPr id="7" name="icon-predict" descr="preencoded.png">    </p:cNvPr>
          <p:cNvPicPr>
            <a:picLocks noChangeAspect="1"/>
          </p:cNvPicPr>
          <p:nvPr/>
        </p:nvPicPr>
        <p:blipFill>
          <a:blip r:embed="rId1"/>
          <a:stretch>
            <a:fillRect/>
          </a:stretch>
        </p:blipFill>
        <p:spPr>
          <a:xfrm>
            <a:off x="1044245" y="2187245"/>
            <a:ext cx="380390" cy="380390"/>
          </a:xfrm>
          <a:prstGeom prst="rect">
            <a:avLst/>
          </a:prstGeom>
        </p:spPr>
      </p:pic>
      <p:sp>
        <p:nvSpPr>
          <p:cNvPr id="8" name="text"/>
          <p:cNvSpPr txBox="1"/>
          <p:nvPr/>
        </p:nvSpPr>
        <p:spPr>
          <a:xfrm>
            <a:off x="1874520" y="1965960"/>
            <a:ext cx="9448495" cy="2834640"/>
          </a:xfrm>
          <a:prstGeom prst="rect">
            <a:avLst/>
          </a:prstGeom>
          <a:noFill/>
          <a:ln/>
        </p:spPr>
        <p:txBody>
          <a:bodyPr wrap="square" lIns="1270" tIns="1270" rIns="1270" bIns="1270" rtlCol="0" anchor="ctr"/>
          <a:lstStyle/>
          <a:p>
            <a:pPr indent="0" marL="0">
              <a:spcAft>
                <a:spcPts val="600"/>
              </a:spcAft>
              <a:buNone/>
            </a:pPr>
            <a:r>
              <a:rPr lang="en-US" sz="2800" dirty="0">
                <a:solidFill>
                  <a:schemeClr val="tx1"/>
                </a:solidFill>
              </a:rPr>
              <a:t>Does scaling change which design has the lowest R?</a:t>
            </a:r>
            <a:endParaRPr lang="en-US" sz="2800" dirty="0"/>
          </a:p>
        </p:txBody>
      </p:sp>
      <p:sp>
        <p:nvSpPr>
          <p:cNvPr id="9" name="Text 5"/>
          <p:cNvSpPr txBox="1"/>
          <p:nvPr/>
        </p:nvSpPr>
        <p:spPr>
          <a:xfrm>
            <a:off x="548640" y="5303520"/>
            <a:ext cx="11094415" cy="457200"/>
          </a:xfrm>
          <a:prstGeom prst="rect">
            <a:avLst/>
          </a:prstGeom>
          <a:noFill/>
          <a:ln/>
        </p:spPr>
        <p:txBody>
          <a:bodyPr wrap="square" lIns="0" tIns="0" rIns="0" bIns="0" rtlCol="0" anchor="ctr"/>
          <a:lstStyle/>
          <a:p>
            <a:pPr indent="0" marL="0">
              <a:buNone/>
            </a:pPr>
            <a:r>
              <a:rPr lang="en-US" sz="1600" i="1" dirty="0">
                <a:solidFill>
                  <a:srgbClr val="46525F"/>
                </a:solidFill>
              </a:rPr>
              <a:t>Write down your answer, then continue to the next slide.</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4 · Scaling, normalization and sensitivity · Answer</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What happens, and why</a:t>
            </a:r>
            <a:endParaRPr lang="en-US" sz="3200" dirty="0"/>
          </a:p>
        </p:txBody>
      </p:sp>
      <p:sp>
        <p:nvSpPr>
          <p:cNvPr id="5" name="Text 2"/>
          <p:cNvSpPr txBox="1"/>
          <p:nvPr/>
        </p:nvSpPr>
        <p:spPr>
          <a:xfrm>
            <a:off x="548640" y="1600200"/>
            <a:ext cx="11094415" cy="868680"/>
          </a:xfrm>
          <a:prstGeom prst="rect">
            <a:avLst/>
          </a:prstGeom>
          <a:noFill/>
          <a:ln/>
        </p:spPr>
        <p:txBody>
          <a:bodyPr wrap="square" lIns="0" tIns="0" rIns="0" bIns="0" rtlCol="0" anchor="t"/>
          <a:lstStyle/>
          <a:p>
            <a:pPr indent="0" marL="0">
              <a:buNone/>
            </a:pPr>
            <a:r>
              <a:rPr lang="en-US" sz="1400" b="1" dirty="0">
                <a:solidFill>
                  <a:srgbClr val="46525F"/>
                </a:solidFill>
              </a:rPr>
              <a:t>Question: </a:t>
            </a:r>
            <a:pPr indent="0" marL="0">
              <a:buNone/>
            </a:pPr>
            <a:r>
              <a:rPr lang="en-US" sz="1400" dirty="0">
                <a:solidFill>
                  <a:srgbClr val="46525F"/>
                </a:solidFill>
              </a:rPr>
              <a:t>Does scaling change which design has the lowest R?</a:t>
            </a:r>
            <a:endParaRPr lang="en-US" sz="1400" dirty="0"/>
          </a:p>
        </p:txBody>
      </p:sp>
      <p:sp>
        <p:nvSpPr>
          <p:cNvPr id="6" name="answer-card"/>
          <p:cNvSpPr/>
          <p:nvPr/>
        </p:nvSpPr>
        <p:spPr>
          <a:xfrm>
            <a:off x="548640" y="2606040"/>
            <a:ext cx="11094415" cy="3566160"/>
          </a:xfrm>
          <a:prstGeom prst="roundRect">
            <a:avLst>
              <a:gd name="adj" fmla="val 3077"/>
            </a:avLst>
          </a:prstGeom>
          <a:solidFill>
            <a:schemeClr val="accent3">
              <a:alpha val="10000"/>
            </a:schemeClr>
          </a:solidFill>
          <a:ln w="12700">
            <a:solidFill>
              <a:schemeClr val="accent3">
                <a:alpha val="30000"/>
              </a:schemeClr>
            </a:solidFill>
            <a:prstDash val="solid"/>
          </a:ln>
        </p:spPr>
      </p:sp>
      <p:sp>
        <p:nvSpPr>
          <p:cNvPr id="7" name="icon-bg-answer"/>
          <p:cNvSpPr/>
          <p:nvPr/>
        </p:nvSpPr>
        <p:spPr>
          <a:xfrm>
            <a:off x="868680" y="2880360"/>
            <a:ext cx="731520" cy="731520"/>
          </a:xfrm>
          <a:prstGeom prst="ellipse">
            <a:avLst/>
          </a:prstGeom>
          <a:solidFill>
            <a:schemeClr val="accent3"/>
          </a:solidFill>
          <a:ln w="12700">
            <a:solidFill>
              <a:schemeClr val="accent3"/>
            </a:solidFill>
            <a:prstDash val="solid"/>
          </a:ln>
        </p:spPr>
      </p:sp>
      <p:pic>
        <p:nvPicPr>
          <p:cNvPr id="8" name="icon-answer" descr="preencoded.png">    </p:cNvPr>
          <p:cNvPicPr>
            <a:picLocks noChangeAspect="1"/>
          </p:cNvPicPr>
          <p:nvPr/>
        </p:nvPicPr>
        <p:blipFill>
          <a:blip r:embed="rId1"/>
          <a:stretch>
            <a:fillRect/>
          </a:stretch>
        </p:blipFill>
        <p:spPr>
          <a:xfrm>
            <a:off x="1044245" y="3055925"/>
            <a:ext cx="380390" cy="380390"/>
          </a:xfrm>
          <a:prstGeom prst="rect">
            <a:avLst/>
          </a:prstGeom>
        </p:spPr>
      </p:pic>
      <p:sp>
        <p:nvSpPr>
          <p:cNvPr id="9" name="text"/>
          <p:cNvSpPr txBox="1"/>
          <p:nvPr/>
        </p:nvSpPr>
        <p:spPr>
          <a:xfrm>
            <a:off x="1874520" y="2788920"/>
            <a:ext cx="9448495" cy="3200400"/>
          </a:xfrm>
          <a:prstGeom prst="rect">
            <a:avLst/>
          </a:prstGeom>
          <a:noFill/>
          <a:ln/>
        </p:spPr>
        <p:txBody>
          <a:bodyPr wrap="square" lIns="1270" tIns="1270" rIns="1270" bIns="1270" rtlCol="0" anchor="ctr"/>
          <a:lstStyle/>
          <a:p>
            <a:pPr indent="0" marL="0">
              <a:spcAft>
                <a:spcPts val="600"/>
              </a:spcAft>
              <a:buNone/>
            </a:pPr>
            <a:r>
              <a:rPr lang="en-US" sz="2600" dirty="0">
                <a:solidFill>
                  <a:schemeClr val="tx1"/>
                </a:solidFill>
              </a:rPr>
              <a:t>No. Scaling is a change of coordinates; the physical optimum is the same. It changes how methods that use distances or step sizes behave.</a:t>
            </a:r>
            <a:endParaRPr lang="en-US" sz="2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4 · Scaling, normalization and sensitivity · Common misconception</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Why scale variables?</a:t>
            </a:r>
            <a:endParaRPr lang="en-US" sz="3200" dirty="0"/>
          </a:p>
        </p:txBody>
      </p:sp>
      <p:sp>
        <p:nvSpPr>
          <p:cNvPr id="5" name="Misconception"/>
          <p:cNvSpPr/>
          <p:nvPr/>
        </p:nvSpPr>
        <p:spPr>
          <a:xfrm>
            <a:off x="548640" y="1691640"/>
            <a:ext cx="5364328" cy="2971800"/>
          </a:xfrm>
          <a:prstGeom prst="roundRect">
            <a:avLst>
              <a:gd name="adj" fmla="val 3692"/>
            </a:avLst>
          </a:prstGeom>
          <a:solidFill>
            <a:schemeClr val="accent6">
              <a:alpha val="9000"/>
            </a:schemeClr>
          </a:solidFill>
          <a:ln w="12700">
            <a:solidFill>
              <a:schemeClr val="accent6">
                <a:alpha val="30000"/>
              </a:schemeClr>
            </a:solidFill>
            <a:prstDash val="solid"/>
          </a:ln>
        </p:spPr>
      </p:sp>
      <p:sp>
        <p:nvSpPr>
          <p:cNvPr id="6" name="icon-bg-mis"/>
          <p:cNvSpPr/>
          <p:nvPr/>
        </p:nvSpPr>
        <p:spPr>
          <a:xfrm>
            <a:off x="822960" y="1874520"/>
            <a:ext cx="548640" cy="548640"/>
          </a:xfrm>
          <a:prstGeom prst="ellipse">
            <a:avLst/>
          </a:prstGeom>
          <a:solidFill>
            <a:schemeClr val="accent6"/>
          </a:solidFill>
          <a:ln w="12700">
            <a:solidFill>
              <a:schemeClr val="accent6"/>
            </a:solidFill>
            <a:prstDash val="solid"/>
          </a:ln>
        </p:spPr>
      </p:sp>
      <p:pic>
        <p:nvPicPr>
          <p:cNvPr id="7" name="icon-mis" descr="preencoded.png">    </p:cNvPr>
          <p:cNvPicPr>
            <a:picLocks noChangeAspect="1"/>
          </p:cNvPicPr>
          <p:nvPr/>
        </p:nvPicPr>
        <p:blipFill>
          <a:blip r:embed="rId1"/>
          <a:stretch>
            <a:fillRect/>
          </a:stretch>
        </p:blipFill>
        <p:spPr>
          <a:xfrm>
            <a:off x="954634" y="2006194"/>
            <a:ext cx="285293" cy="285293"/>
          </a:xfrm>
          <a:prstGeom prst="rect">
            <a:avLst/>
          </a:prstGeom>
        </p:spPr>
      </p:pic>
      <p:sp>
        <p:nvSpPr>
          <p:cNvPr id="8" name="Text 4"/>
          <p:cNvSpPr txBox="1"/>
          <p:nvPr/>
        </p:nvSpPr>
        <p:spPr>
          <a:xfrm>
            <a:off x="1508760" y="1901952"/>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Misconception</a:t>
            </a:r>
            <a:endParaRPr lang="en-US" sz="2000" dirty="0"/>
          </a:p>
        </p:txBody>
      </p:sp>
      <p:sp>
        <p:nvSpPr>
          <p:cNvPr id="9" name="text"/>
          <p:cNvSpPr txBox="1"/>
          <p:nvPr/>
        </p:nvSpPr>
        <p:spPr>
          <a:xfrm>
            <a:off x="777240" y="2560320"/>
            <a:ext cx="4907128" cy="201168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 Scaling is cosmetic and never changes results.</a:t>
            </a:r>
            <a:endParaRPr lang="en-US" sz="2000" dirty="0"/>
          </a:p>
        </p:txBody>
      </p:sp>
      <p:sp>
        <p:nvSpPr>
          <p:cNvPr id="10" name="What is actually true"/>
          <p:cNvSpPr/>
          <p:nvPr/>
        </p:nvSpPr>
        <p:spPr>
          <a:xfrm>
            <a:off x="6278728" y="1691640"/>
            <a:ext cx="5364328" cy="2971800"/>
          </a:xfrm>
          <a:prstGeom prst="roundRect">
            <a:avLst>
              <a:gd name="adj" fmla="val 3692"/>
            </a:avLst>
          </a:prstGeom>
          <a:solidFill>
            <a:schemeClr val="accent3">
              <a:alpha val="9000"/>
            </a:schemeClr>
          </a:solidFill>
          <a:ln w="12700">
            <a:solidFill>
              <a:schemeClr val="accent3">
                <a:alpha val="30000"/>
              </a:schemeClr>
            </a:solidFill>
            <a:prstDash val="solid"/>
          </a:ln>
        </p:spPr>
      </p:sp>
      <p:sp>
        <p:nvSpPr>
          <p:cNvPr id="11" name="icon-bg-cor"/>
          <p:cNvSpPr/>
          <p:nvPr/>
        </p:nvSpPr>
        <p:spPr>
          <a:xfrm>
            <a:off x="6553048" y="1874520"/>
            <a:ext cx="548640" cy="548640"/>
          </a:xfrm>
          <a:prstGeom prst="ellipse">
            <a:avLst/>
          </a:prstGeom>
          <a:solidFill>
            <a:schemeClr val="accent3"/>
          </a:solidFill>
          <a:ln w="12700">
            <a:solidFill>
              <a:schemeClr val="accent3"/>
            </a:solidFill>
            <a:prstDash val="solid"/>
          </a:ln>
        </p:spPr>
      </p:sp>
      <p:pic>
        <p:nvPicPr>
          <p:cNvPr id="12" name="icon-cor" descr="preencoded.png">    </p:cNvPr>
          <p:cNvPicPr>
            <a:picLocks noChangeAspect="1"/>
          </p:cNvPicPr>
          <p:nvPr/>
        </p:nvPicPr>
        <p:blipFill>
          <a:blip r:embed="rId2"/>
          <a:stretch>
            <a:fillRect/>
          </a:stretch>
        </p:blipFill>
        <p:spPr>
          <a:xfrm>
            <a:off x="6684721" y="2006194"/>
            <a:ext cx="285293" cy="285293"/>
          </a:xfrm>
          <a:prstGeom prst="rect">
            <a:avLst/>
          </a:prstGeom>
        </p:spPr>
      </p:pic>
      <p:sp>
        <p:nvSpPr>
          <p:cNvPr id="13" name="Text 8"/>
          <p:cNvSpPr txBox="1"/>
          <p:nvPr/>
        </p:nvSpPr>
        <p:spPr>
          <a:xfrm>
            <a:off x="7238848" y="1901952"/>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What is actually true</a:t>
            </a:r>
            <a:endParaRPr lang="en-US" sz="2000" dirty="0"/>
          </a:p>
        </p:txBody>
      </p:sp>
      <p:sp>
        <p:nvSpPr>
          <p:cNvPr id="14" name="text"/>
          <p:cNvSpPr txBox="1"/>
          <p:nvPr/>
        </p:nvSpPr>
        <p:spPr>
          <a:xfrm>
            <a:off x="6507328" y="2560320"/>
            <a:ext cx="4907128" cy="201168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 It changes distance-based models (GP, RBF, k-NN), regularized regression and optimizer step sizes — often dramatically.</a:t>
            </a:r>
            <a:endParaRPr lang="en-US" sz="2000" dirty="0"/>
          </a:p>
        </p:txBody>
      </p:sp>
      <p:sp>
        <p:nvSpPr>
          <p:cNvPr id="15" name="takeaway"/>
          <p:cNvSpPr/>
          <p:nvPr/>
        </p:nvSpPr>
        <p:spPr>
          <a:xfrm>
            <a:off x="548640" y="4892040"/>
            <a:ext cx="11094415" cy="1280160"/>
          </a:xfrm>
          <a:prstGeom prst="roundRect">
            <a:avLst>
              <a:gd name="adj" fmla="val 8571"/>
            </a:avLst>
          </a:prstGeom>
          <a:solidFill>
            <a:schemeClr val="accent1"/>
          </a:solidFill>
          <a:ln w="12700">
            <a:solidFill>
              <a:schemeClr val="accent1"/>
            </a:solidFill>
            <a:prstDash val="solid"/>
          </a:ln>
        </p:spPr>
      </p:sp>
      <p:sp>
        <p:nvSpPr>
          <p:cNvPr id="16" name="icon-bg-take"/>
          <p:cNvSpPr/>
          <p:nvPr/>
        </p:nvSpPr>
        <p:spPr>
          <a:xfrm>
            <a:off x="822960" y="5257800"/>
            <a:ext cx="548640" cy="548640"/>
          </a:xfrm>
          <a:prstGeom prst="ellipse">
            <a:avLst/>
          </a:prstGeom>
          <a:solidFill>
            <a:schemeClr val="tx2"/>
          </a:solidFill>
          <a:ln w="12700">
            <a:solidFill>
              <a:schemeClr val="tx2"/>
            </a:solidFill>
            <a:prstDash val="solid"/>
          </a:ln>
        </p:spPr>
      </p:sp>
      <p:pic>
        <p:nvPicPr>
          <p:cNvPr id="17" name="icon-take" descr="preencoded.png">    </p:cNvPr>
          <p:cNvPicPr>
            <a:picLocks noChangeAspect="1"/>
          </p:cNvPicPr>
          <p:nvPr/>
        </p:nvPicPr>
        <p:blipFill>
          <a:blip r:embed="rId3"/>
          <a:stretch>
            <a:fillRect/>
          </a:stretch>
        </p:blipFill>
        <p:spPr>
          <a:xfrm>
            <a:off x="954634" y="5389474"/>
            <a:ext cx="285293" cy="285293"/>
          </a:xfrm>
          <a:prstGeom prst="rect">
            <a:avLst/>
          </a:prstGeom>
        </p:spPr>
      </p:pic>
      <p:sp>
        <p:nvSpPr>
          <p:cNvPr id="18" name="Text 12"/>
          <p:cNvSpPr txBox="1"/>
          <p:nvPr/>
        </p:nvSpPr>
        <p:spPr>
          <a:xfrm>
            <a:off x="1554480" y="4983480"/>
            <a:ext cx="9859975" cy="1097280"/>
          </a:xfrm>
          <a:prstGeom prst="rect">
            <a:avLst/>
          </a:prstGeom>
          <a:noFill/>
          <a:ln/>
        </p:spPr>
        <p:txBody>
          <a:bodyPr wrap="square" lIns="635" tIns="635" rIns="635" bIns="635" rtlCol="0" anchor="ctr"/>
          <a:lstStyle/>
          <a:p>
            <a:pPr indent="0" marL="0">
              <a:buNone/>
            </a:pPr>
            <a:r>
              <a:rPr lang="en-US" sz="2200" b="1" dirty="0">
                <a:solidFill>
                  <a:srgbClr val="F2C14E"/>
                </a:solidFill>
              </a:rPr>
              <a:t>Takeaway  </a:t>
            </a:r>
            <a:pPr indent="0" marL="0">
              <a:buNone/>
            </a:pPr>
            <a:r>
              <a:rPr lang="en-US" sz="2200" dirty="0">
                <a:solidFill>
                  <a:srgbClr val="FFFFFF"/>
                </a:solidFill>
              </a:rPr>
              <a:t>Scale inputs (by bounds or training statistics) before distance-based modelling; report results in physical units.</a:t>
            </a:r>
            <a:endParaRPr lang="en-US" sz="2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4 · Scaling, normalization and sensitivity · Intuition</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Sensitivity of an engineering response</a:t>
            </a:r>
            <a:endParaRPr lang="en-US" sz="3200" dirty="0"/>
          </a:p>
        </p:txBody>
      </p:sp>
      <p:sp>
        <p:nvSpPr>
          <p:cNvPr id="5" name="icon-bg-intu"/>
          <p:cNvSpPr/>
          <p:nvPr/>
        </p:nvSpPr>
        <p:spPr>
          <a:xfrm>
            <a:off x="548640" y="1645920"/>
            <a:ext cx="502920" cy="502920"/>
          </a:xfrm>
          <a:prstGeom prst="ellipse">
            <a:avLst/>
          </a:prstGeom>
          <a:solidFill>
            <a:schemeClr val="accent1"/>
          </a:solidFill>
          <a:ln w="12700">
            <a:solidFill>
              <a:schemeClr val="accent1"/>
            </a:solidFill>
            <a:prstDash val="solid"/>
          </a:ln>
        </p:spPr>
      </p:sp>
      <p:pic>
        <p:nvPicPr>
          <p:cNvPr id="6" name="icon-intu" descr="preencoded.png">    </p:cNvPr>
          <p:cNvPicPr>
            <a:picLocks noChangeAspect="1"/>
          </p:cNvPicPr>
          <p:nvPr/>
        </p:nvPicPr>
        <p:blipFill>
          <a:blip r:embed="rId1"/>
          <a:stretch>
            <a:fillRect/>
          </a:stretch>
        </p:blipFill>
        <p:spPr>
          <a:xfrm>
            <a:off x="669341" y="1766621"/>
            <a:ext cx="261518" cy="261518"/>
          </a:xfrm>
          <a:prstGeom prst="rect">
            <a:avLst/>
          </a:prstGeom>
        </p:spPr>
      </p:pic>
      <p:sp>
        <p:nvSpPr>
          <p:cNvPr id="7" name="text"/>
          <p:cNvSpPr txBox="1"/>
          <p:nvPr/>
        </p:nvSpPr>
        <p:spPr>
          <a:xfrm>
            <a:off x="1188720" y="1572768"/>
            <a:ext cx="10408615" cy="1005840"/>
          </a:xfrm>
          <a:prstGeom prst="rect">
            <a:avLst/>
          </a:prstGeom>
          <a:noFill/>
          <a:ln/>
        </p:spPr>
        <p:txBody>
          <a:bodyPr wrap="square" lIns="1270" tIns="1270" rIns="1270" bIns="1270" rtlCol="0" anchor="t"/>
          <a:lstStyle/>
          <a:p>
            <a:pPr indent="0" marL="0">
              <a:spcAft>
                <a:spcPts val="600"/>
              </a:spcAft>
              <a:buNone/>
            </a:pPr>
            <a:r>
              <a:rPr lang="en-US" sz="1700" b="1" dirty="0">
                <a:solidFill>
                  <a:schemeClr val="tx1"/>
                </a:solidFill>
              </a:rPr>
              <a:t>Local sensitivity</a:t>
            </a:r>
            <a:pPr indent="0" marL="0">
              <a:spcAft>
                <a:spcPts val="600"/>
              </a:spcAft>
              <a:buNone/>
            </a:pPr>
            <a:r>
              <a:rPr lang="en-US" sz="1700" dirty="0">
                <a:solidFill>
                  <a:schemeClr val="tx1"/>
                </a:solidFill>
              </a:rPr>
              <a:t> asks: if I nudge one variable, how much does the response change? Raw derivatives depend on units; </a:t>
            </a:r>
            <a:pPr indent="0" marL="0">
              <a:spcAft>
                <a:spcPts val="600"/>
              </a:spcAft>
              <a:buNone/>
            </a:pPr>
            <a:r>
              <a:rPr lang="en-US" sz="1700" b="1" dirty="0">
                <a:solidFill>
                  <a:schemeClr val="tx1"/>
                </a:solidFill>
              </a:rPr>
              <a:t>elasticities</a:t>
            </a:r>
            <a:pPr indent="0" marL="0">
              <a:spcAft>
                <a:spcPts val="600"/>
              </a:spcAft>
              <a:buNone/>
            </a:pPr>
            <a:r>
              <a:rPr lang="en-US" sz="1700" dirty="0">
                <a:solidFill>
                  <a:schemeClr val="tx1"/>
                </a:solidFill>
              </a:rPr>
              <a:t> (percentage change per percentage change) or </a:t>
            </a:r>
            <a:pPr indent="0" marL="0">
              <a:spcAft>
                <a:spcPts val="600"/>
              </a:spcAft>
              <a:buNone/>
            </a:pPr>
            <a:r>
              <a:rPr lang="en-US" sz="1700" b="1" dirty="0">
                <a:solidFill>
                  <a:schemeClr val="tx1"/>
                </a:solidFill>
              </a:rPr>
              <a:t>range-scaled</a:t>
            </a:r>
            <a:pPr indent="0" marL="0">
              <a:spcAft>
                <a:spcPts val="600"/>
              </a:spcAft>
              <a:buNone/>
            </a:pPr>
            <a:r>
              <a:rPr lang="en-US" sz="1700" dirty="0">
                <a:solidFill>
                  <a:schemeClr val="tx1"/>
                </a:solidFill>
              </a:rPr>
              <a:t> derivatives allow fair comparison.</a:t>
            </a:r>
            <a:endParaRPr lang="en-US" sz="1700" dirty="0"/>
          </a:p>
        </p:txBody>
      </p:sp>
      <p:pic>
        <p:nvPicPr>
          <p:cNvPr id="8" name="figure" descr="Bar chart with four bars: elasticity with respect to s and t, and range-scaled sensitivities. Sliders choose s and t. At small gaps, R is very sensitive to s; near the valley, sensitivity to s is small.">    </p:cNvPr>
          <p:cNvPicPr>
            <a:picLocks noChangeAspect="1"/>
          </p:cNvPicPr>
          <p:nvPr/>
        </p:nvPicPr>
        <p:blipFill>
          <a:blip r:embed="rId2"/>
          <a:stretch>
            <a:fillRect/>
          </a:stretch>
        </p:blipFill>
        <p:spPr>
          <a:xfrm>
            <a:off x="2849422" y="2743200"/>
            <a:ext cx="6492852" cy="2880360"/>
          </a:xfrm>
          <a:prstGeom prst="rect">
            <a:avLst/>
          </a:prstGeom>
        </p:spPr>
      </p:pic>
      <p:sp>
        <p:nvSpPr>
          <p:cNvPr id="9" name="Text 4"/>
          <p:cNvSpPr txBox="1"/>
          <p:nvPr/>
        </p:nvSpPr>
        <p:spPr>
          <a:xfrm>
            <a:off x="548640" y="5669280"/>
            <a:ext cx="11094415" cy="384048"/>
          </a:xfrm>
          <a:prstGeom prst="rect">
            <a:avLst/>
          </a:prstGeom>
          <a:noFill/>
          <a:ln/>
        </p:spPr>
        <p:txBody>
          <a:bodyPr wrap="square" lIns="0" tIns="0" rIns="0" bIns="0" rtlCol="0" anchor="ctr"/>
          <a:lstStyle/>
          <a:p>
            <a:pPr algn="ctr" indent="0" marL="0">
              <a:buNone/>
            </a:pPr>
            <a:r>
              <a:rPr lang="en-US" sz="1200" i="1" dirty="0">
                <a:solidFill>
                  <a:srgbClr val="46525F"/>
                </a:solidFill>
              </a:rPr>
              <a:t>Elasticities and range-scaled sensitivities of R to s and t at a chosen design. (Interactive in the online course.)</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4 · Scaling, normalization and sensitivity · The mathematics</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Sensitivity of an engineering response</a:t>
            </a:r>
            <a:endParaRPr lang="en-US" sz="3200" dirty="0"/>
          </a:p>
        </p:txBody>
      </p:sp>
      <p:sp>
        <p:nvSpPr>
          <p:cNvPr id="5" name="icon-bg-math"/>
          <p:cNvSpPr/>
          <p:nvPr/>
        </p:nvSpPr>
        <p:spPr>
          <a:xfrm>
            <a:off x="548640" y="1645920"/>
            <a:ext cx="502920" cy="502920"/>
          </a:xfrm>
          <a:prstGeom prst="ellipse">
            <a:avLst/>
          </a:prstGeom>
          <a:solidFill>
            <a:schemeClr val="accent1"/>
          </a:solidFill>
          <a:ln w="12700">
            <a:solidFill>
              <a:schemeClr val="accent1"/>
            </a:solidFill>
            <a:prstDash val="solid"/>
          </a:ln>
        </p:spPr>
      </p:sp>
      <p:pic>
        <p:nvPicPr>
          <p:cNvPr id="6" name="icon-math" descr="preencoded.png">    </p:cNvPr>
          <p:cNvPicPr>
            <a:picLocks noChangeAspect="1"/>
          </p:cNvPicPr>
          <p:nvPr/>
        </p:nvPicPr>
        <p:blipFill>
          <a:blip r:embed="rId1"/>
          <a:stretch>
            <a:fillRect/>
          </a:stretch>
        </p:blipFill>
        <p:spPr>
          <a:xfrm>
            <a:off x="669341" y="1766621"/>
            <a:ext cx="261518" cy="261518"/>
          </a:xfrm>
          <a:prstGeom prst="rect">
            <a:avLst/>
          </a:prstGeom>
        </p:spPr>
      </p:pic>
      <p:sp>
        <p:nvSpPr>
          <p:cNvPr id="7" name="math-card"/>
          <p:cNvSpPr/>
          <p:nvPr/>
        </p:nvSpPr>
        <p:spPr>
          <a:xfrm>
            <a:off x="1143000" y="1600200"/>
            <a:ext cx="10500055" cy="1305560"/>
          </a:xfrm>
          <a:prstGeom prst="roundRect">
            <a:avLst>
              <a:gd name="adj" fmla="val 8405"/>
            </a:avLst>
          </a:prstGeom>
          <a:solidFill>
            <a:schemeClr val="bg2"/>
          </a:solidFill>
          <a:ln w="12700">
            <a:solidFill>
              <a:schemeClr val="bg2">
                <a:alpha val="30000"/>
              </a:schemeClr>
            </a:solidFill>
            <a:prstDash val="solid"/>
          </a:ln>
        </p:spPr>
      </p:sp>
      <p:sp>
        <p:nvSpPr>
          <p:cNvPr id="8" name="math-text"/>
          <p:cNvSpPr txBox="1"/>
          <p:nvPr/>
        </p:nvSpPr>
        <p:spPr>
          <a:xfrm>
            <a:off x="1234440" y="1645920"/>
            <a:ext cx="10408615" cy="1214120"/>
          </a:xfrm>
          <a:prstGeom prst="rect">
            <a:avLst/>
          </a:prstGeom>
          <a:noFill/>
          <a:ln/>
        </p:spPr>
        <p:txBody>
          <a:bodyPr wrap="square" lIns="1270" tIns="1270" rIns="1270" bIns="1270" rtlCol="0" anchor="ctr"/>
          <a:lstStyle/>
          <a:p>
            <a:pPr algn="ctr" indent="0" marL="0">
              <a:spcAft>
                <a:spcPts val="800"/>
              </a:spcAft>
              <a:buNone/>
            </a:pPr>
            <a:r>
              <a:rPr lang="en-US" sz="2000" dirty="0">
                <a:solidFill>
                  <a:schemeClr val="tx1"/>
                </a:solidFill>
              </a:rPr>
              <a:t>elasticity </a:t>
            </a:r>
            <a:pPr algn="ctr" indent="0" marL="0">
              <a:buNone/>
            </a:pPr>
            <a:r>
              <a:rPr lang="en-US" sz="2000" i="1" dirty="0">
                <a:solidFill>
                  <a:schemeClr val="tx1"/>
                </a:solidFill>
              </a:rPr>
              <a:t>E</a:t>
            </a:r>
            <a:pPr algn="ctr" indent="0" marL="0">
              <a:buNone/>
            </a:pPr>
            <a:r>
              <a:rPr lang="en-US" sz="2000" i="1" baseline="-40000" dirty="0">
                <a:solidFill>
                  <a:schemeClr val="tx1"/>
                </a:solidFill>
              </a:rPr>
              <a:t>x</a:t>
            </a:r>
            <a:pPr algn="ctr" indent="0" marL="0">
              <a:buNone/>
            </a:pPr>
            <a:r>
              <a:rPr lang="en-US" sz="2000" dirty="0">
                <a:solidFill>
                  <a:schemeClr val="tx1"/>
                </a:solidFill>
              </a:rPr>
              <a:t> = (∂</a:t>
            </a:r>
            <a:pPr algn="ctr" indent="0" marL="0">
              <a:buNone/>
            </a:pPr>
            <a:r>
              <a:rPr lang="en-US" sz="2000" i="1" dirty="0">
                <a:solidFill>
                  <a:schemeClr val="tx1"/>
                </a:solidFill>
              </a:rPr>
              <a:t>R</a:t>
            </a:r>
            <a:pPr algn="ctr" indent="0" marL="0">
              <a:buNone/>
            </a:pPr>
            <a:r>
              <a:rPr lang="en-US" sz="2000" dirty="0">
                <a:solidFill>
                  <a:schemeClr val="tx1"/>
                </a:solidFill>
              </a:rPr>
              <a:t>)/(∂</a:t>
            </a:r>
            <a:pPr algn="ctr" indent="0" marL="0">
              <a:buNone/>
            </a:pPr>
            <a:r>
              <a:rPr lang="en-US" sz="2000" i="1" dirty="0">
                <a:solidFill>
                  <a:schemeClr val="tx1"/>
                </a:solidFill>
              </a:rPr>
              <a:t>x</a:t>
            </a:r>
            <a:pPr algn="ctr" indent="0" marL="0">
              <a:buNone/>
            </a:pPr>
            <a:r>
              <a:rPr lang="en-US" sz="2000" dirty="0">
                <a:solidFill>
                  <a:schemeClr val="tx1"/>
                </a:solidFill>
              </a:rPr>
              <a:t>) · (</a:t>
            </a:r>
            <a:pPr algn="ctr" indent="0" marL="0">
              <a:buNone/>
            </a:pPr>
            <a:r>
              <a:rPr lang="en-US" sz="2000" i="1" dirty="0">
                <a:solidFill>
                  <a:schemeClr val="tx1"/>
                </a:solidFill>
              </a:rPr>
              <a:t>x</a:t>
            </a:r>
            <a:pPr algn="ctr" indent="0" marL="0">
              <a:buNone/>
            </a:pPr>
            <a:r>
              <a:rPr lang="en-US" sz="2000" dirty="0">
                <a:solidFill>
                  <a:schemeClr val="tx1"/>
                </a:solidFill>
              </a:rPr>
              <a:t>)/(</a:t>
            </a:r>
            <a:pPr algn="ctr" indent="0" marL="0">
              <a:buNone/>
            </a:pPr>
            <a:r>
              <a:rPr lang="en-US" sz="2000" i="1" dirty="0">
                <a:solidFill>
                  <a:schemeClr val="tx1"/>
                </a:solidFill>
              </a:rPr>
              <a:t>R</a:t>
            </a:r>
            <a:pPr algn="ctr" indent="0" marL="0">
              <a:buNone/>
            </a:pPr>
            <a:r>
              <a:rPr lang="en-US" sz="2000" dirty="0">
                <a:solidFill>
                  <a:schemeClr val="tx1"/>
                </a:solidFill>
              </a:rPr>
              <a:t>), range-scaled </a:t>
            </a:r>
            <a:pPr algn="ctr" indent="0" marL="0">
              <a:buNone/>
            </a:pPr>
            <a:r>
              <a:rPr lang="en-US" sz="2000" i="1" dirty="0">
                <a:solidFill>
                  <a:schemeClr val="tx1"/>
                </a:solidFill>
              </a:rPr>
              <a:t>S</a:t>
            </a:r>
            <a:pPr algn="ctr" indent="0" marL="0">
              <a:buNone/>
            </a:pPr>
            <a:r>
              <a:rPr lang="en-US" sz="2000" i="1" baseline="-40000" dirty="0">
                <a:solidFill>
                  <a:schemeClr val="tx1"/>
                </a:solidFill>
              </a:rPr>
              <a:t>x</a:t>
            </a:r>
            <a:pPr algn="ctr" indent="0" marL="0">
              <a:buNone/>
            </a:pPr>
            <a:r>
              <a:rPr lang="en-US" sz="2000" dirty="0">
                <a:solidFill>
                  <a:schemeClr val="tx1"/>
                </a:solidFill>
              </a:rPr>
              <a:t> = (∂</a:t>
            </a:r>
            <a:pPr algn="ctr" indent="0" marL="0">
              <a:buNone/>
            </a:pPr>
            <a:r>
              <a:rPr lang="en-US" sz="2000" i="1" dirty="0">
                <a:solidFill>
                  <a:schemeClr val="tx1"/>
                </a:solidFill>
              </a:rPr>
              <a:t>R</a:t>
            </a:r>
            <a:pPr algn="ctr" indent="0" marL="0">
              <a:buNone/>
            </a:pPr>
            <a:r>
              <a:rPr lang="en-US" sz="2000" dirty="0">
                <a:solidFill>
                  <a:schemeClr val="tx1"/>
                </a:solidFill>
              </a:rPr>
              <a:t>)/(∂</a:t>
            </a:r>
            <a:pPr algn="ctr" indent="0" marL="0">
              <a:buNone/>
            </a:pPr>
            <a:r>
              <a:rPr lang="en-US" sz="2000" i="1" dirty="0">
                <a:solidFill>
                  <a:schemeClr val="tx1"/>
                </a:solidFill>
              </a:rPr>
              <a:t>x</a:t>
            </a:r>
            <a:pPr algn="ctr" indent="0" marL="0">
              <a:buNone/>
            </a:pPr>
            <a:r>
              <a:rPr lang="en-US" sz="2000" dirty="0">
                <a:solidFill>
                  <a:schemeClr val="tx1"/>
                </a:solidFill>
              </a:rPr>
              <a:t>) · (</a:t>
            </a:r>
            <a:pPr algn="ctr" indent="0" marL="0">
              <a:buNone/>
            </a:pPr>
            <a:r>
              <a:rPr lang="en-US" sz="2000" i="1" dirty="0">
                <a:solidFill>
                  <a:schemeClr val="tx1"/>
                </a:solidFill>
              </a:rPr>
              <a:t>x</a:t>
            </a:r>
            <a:pPr algn="ctr" indent="0" marL="0">
              <a:buNone/>
            </a:pPr>
            <a:r>
              <a:rPr lang="en-US" sz="2000" baseline="-40000" dirty="0">
                <a:solidFill>
                  <a:schemeClr val="tx1"/>
                </a:solidFill>
              </a:rPr>
              <a:t>max</a:t>
            </a:r>
            <a:pPr algn="ctr" indent="0" marL="0">
              <a:buNone/>
            </a:pPr>
            <a:r>
              <a:rPr lang="en-US" sz="2000" dirty="0">
                <a:solidFill>
                  <a:schemeClr val="tx1"/>
                </a:solidFill>
              </a:rPr>
              <a:t> − </a:t>
            </a:r>
            <a:pPr algn="ctr" indent="0" marL="0">
              <a:buNone/>
            </a:pPr>
            <a:r>
              <a:rPr lang="en-US" sz="2000" i="1" dirty="0">
                <a:solidFill>
                  <a:schemeClr val="tx1"/>
                </a:solidFill>
              </a:rPr>
              <a:t>x</a:t>
            </a:r>
            <a:pPr algn="ctr" indent="0" marL="0">
              <a:buNone/>
            </a:pPr>
            <a:r>
              <a:rPr lang="en-US" sz="2000" baseline="-40000" dirty="0">
                <a:solidFill>
                  <a:schemeClr val="tx1"/>
                </a:solidFill>
              </a:rPr>
              <a:t>min</a:t>
            </a:r>
            <a:pPr algn="ctr" indent="0" marL="0">
              <a:buNone/>
            </a:pPr>
            <a:r>
              <a:rPr lang="en-US" sz="2000" dirty="0">
                <a:solidFill>
                  <a:schemeClr val="tx1"/>
                </a:solidFill>
              </a:rPr>
              <a:t>)</a:t>
            </a:r>
            <a:endParaRPr lang="en-US" sz="2000" dirty="0"/>
          </a:p>
          <a:p>
            <a:pPr indent="0" marL="0">
              <a:buNone/>
            </a:pPr>
            <a:r>
              <a:rPr lang="en-US" sz="2000" i="1" dirty="0">
                <a:solidFill>
                  <a:schemeClr val="tx1"/>
                </a:solidFill>
              </a:rPr>
              <a:t>E</a:t>
            </a:r>
            <a:pPr indent="0" marL="0">
              <a:buNone/>
            </a:pPr>
            <a:r>
              <a:rPr lang="en-US" sz="2000" baseline="-40000" dirty="0">
                <a:solidFill>
                  <a:schemeClr val="tx1"/>
                </a:solidFill>
              </a:rPr>
              <a:t>x</a:t>
            </a:r>
            <a:pPr indent="0" marL="0">
              <a:buNone/>
            </a:pPr>
            <a:r>
              <a:rPr lang="en-US" sz="2000" dirty="0">
                <a:solidFill>
                  <a:schemeClr val="tx1"/>
                </a:solidFill>
              </a:rPr>
              <a:t> is dimensionless; </a:t>
            </a:r>
            <a:pPr indent="0" marL="0">
              <a:buNone/>
            </a:pPr>
            <a:r>
              <a:rPr lang="en-US" sz="2000" i="1" dirty="0">
                <a:solidFill>
                  <a:schemeClr val="tx1"/>
                </a:solidFill>
              </a:rPr>
              <a:t>S</a:t>
            </a:r>
            <a:pPr indent="0" marL="0">
              <a:buNone/>
            </a:pPr>
            <a:r>
              <a:rPr lang="en-US" sz="2000" baseline="-40000" dirty="0">
                <a:solidFill>
                  <a:schemeClr val="tx1"/>
                </a:solidFill>
              </a:rPr>
              <a:t>x</a:t>
            </a:r>
            <a:pPr indent="0" marL="0">
              <a:buNone/>
            </a:pPr>
            <a:r>
              <a:rPr lang="en-US" sz="2000" dirty="0">
                <a:solidFill>
                  <a:schemeClr val="tx1"/>
                </a:solidFill>
              </a:rPr>
              <a:t> has the units of </a:t>
            </a:r>
            <a:pPr indent="0" marL="0">
              <a:buNone/>
            </a:pPr>
            <a:r>
              <a:rPr lang="en-US" sz="2000" i="1" dirty="0">
                <a:solidFill>
                  <a:schemeClr val="tx1"/>
                </a:solidFill>
              </a:rPr>
              <a:t>R</a:t>
            </a:r>
            <a:pPr indent="0" marL="0">
              <a:buNone/>
            </a:pPr>
            <a:r>
              <a:rPr lang="en-US" sz="2000" dirty="0">
                <a:solidFill>
                  <a:schemeClr val="tx1"/>
                </a:solidFill>
              </a:rPr>
              <a:t> (K/W).</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4 · Scaling, normalization and sensitivity · In engineering practice</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Sensitivity of an engineering response</a:t>
            </a:r>
            <a:endParaRPr lang="en-US" sz="3200" dirty="0"/>
          </a:p>
        </p:txBody>
      </p:sp>
      <p:sp>
        <p:nvSpPr>
          <p:cNvPr id="5" name="Engineering application"/>
          <p:cNvSpPr/>
          <p:nvPr/>
        </p:nvSpPr>
        <p:spPr>
          <a:xfrm>
            <a:off x="548640" y="1691640"/>
            <a:ext cx="5364328" cy="4480560"/>
          </a:xfrm>
          <a:prstGeom prst="roundRect">
            <a:avLst>
              <a:gd name="adj" fmla="val 2449"/>
            </a:avLst>
          </a:prstGeom>
          <a:solidFill>
            <a:schemeClr val="accent3">
              <a:alpha val="10000"/>
            </a:schemeClr>
          </a:solidFill>
          <a:ln w="12700">
            <a:solidFill>
              <a:schemeClr val="accent3">
                <a:alpha val="30000"/>
              </a:schemeClr>
            </a:solidFill>
            <a:prstDash val="solid"/>
          </a:ln>
        </p:spPr>
      </p:sp>
      <p:sp>
        <p:nvSpPr>
          <p:cNvPr id="6" name="icon-bg-app"/>
          <p:cNvSpPr/>
          <p:nvPr/>
        </p:nvSpPr>
        <p:spPr>
          <a:xfrm>
            <a:off x="822960" y="1920240"/>
            <a:ext cx="566928" cy="566928"/>
          </a:xfrm>
          <a:prstGeom prst="ellipse">
            <a:avLst/>
          </a:prstGeom>
          <a:solidFill>
            <a:schemeClr val="accent3"/>
          </a:solidFill>
          <a:ln w="12700">
            <a:solidFill>
              <a:schemeClr val="accent3"/>
            </a:solidFill>
            <a:prstDash val="solid"/>
          </a:ln>
        </p:spPr>
      </p:sp>
      <p:pic>
        <p:nvPicPr>
          <p:cNvPr id="7" name="icon-app" descr="preencoded.png">    </p:cNvPr>
          <p:cNvPicPr>
            <a:picLocks noChangeAspect="1"/>
          </p:cNvPicPr>
          <p:nvPr/>
        </p:nvPicPr>
        <p:blipFill>
          <a:blip r:embed="rId1"/>
          <a:stretch>
            <a:fillRect/>
          </a:stretch>
        </p:blipFill>
        <p:spPr>
          <a:xfrm>
            <a:off x="959023" y="2056303"/>
            <a:ext cx="294803" cy="294803"/>
          </a:xfrm>
          <a:prstGeom prst="rect">
            <a:avLst/>
          </a:prstGeom>
        </p:spPr>
      </p:pic>
      <p:sp>
        <p:nvSpPr>
          <p:cNvPr id="8" name="Text 4"/>
          <p:cNvSpPr txBox="1"/>
          <p:nvPr/>
        </p:nvSpPr>
        <p:spPr>
          <a:xfrm>
            <a:off x="1508760" y="1965960"/>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Engineering application</a:t>
            </a:r>
            <a:endParaRPr lang="en-US" sz="2000" dirty="0"/>
          </a:p>
        </p:txBody>
      </p:sp>
      <p:sp>
        <p:nvSpPr>
          <p:cNvPr id="9" name="text"/>
          <p:cNvSpPr txBox="1"/>
          <p:nvPr/>
        </p:nvSpPr>
        <p:spPr>
          <a:xfrm>
            <a:off x="777240" y="2697480"/>
            <a:ext cx="4907128" cy="333756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Structural design: tip deflection of a cantilever, δ = </a:t>
            </a:r>
            <a:pPr indent="0" marL="0">
              <a:spcAft>
                <a:spcPts val="600"/>
              </a:spcAft>
              <a:buNone/>
            </a:pPr>
            <a:r>
              <a:rPr lang="en-US" sz="2000" i="1" dirty="0">
                <a:solidFill>
                  <a:schemeClr val="tx1"/>
                </a:solidFill>
              </a:rPr>
              <a:t>F L</a:t>
            </a:r>
            <a:pPr indent="0" marL="0">
              <a:spcAft>
                <a:spcPts val="600"/>
              </a:spcAft>
              <a:buNone/>
            </a:pPr>
            <a:r>
              <a:rPr lang="en-US" sz="2000" dirty="0">
                <a:solidFill>
                  <a:schemeClr val="tx1"/>
                </a:solidFill>
              </a:rPr>
              <a:t>³/(3</a:t>
            </a:r>
            <a:pPr indent="0" marL="0">
              <a:spcAft>
                <a:spcPts val="600"/>
              </a:spcAft>
              <a:buNone/>
            </a:pPr>
            <a:r>
              <a:rPr lang="en-US" sz="2000" i="1" dirty="0">
                <a:solidFill>
                  <a:schemeClr val="tx1"/>
                </a:solidFill>
              </a:rPr>
              <a:t>EI</a:t>
            </a:r>
            <a:pPr indent="0" marL="0">
              <a:spcAft>
                <a:spcPts val="600"/>
              </a:spcAft>
              <a:buNone/>
            </a:pPr>
            <a:r>
              <a:rPr lang="en-US" sz="2000" dirty="0">
                <a:solidFill>
                  <a:schemeClr val="tx1"/>
                </a:solidFill>
              </a:rPr>
              <a:t>), has elasticity 3 with respect to length and −1 with respect to modulus: a 1% longer beam deflects about 3% more. Such insight tells you which tolerances matter.</a:t>
            </a:r>
            <a:endParaRPr lang="en-US" sz="2000" dirty="0"/>
          </a:p>
        </p:txBody>
      </p:sp>
      <p:sp>
        <p:nvSpPr>
          <p:cNvPr id="10" name="Practical tip"/>
          <p:cNvSpPr/>
          <p:nvPr/>
        </p:nvSpPr>
        <p:spPr>
          <a:xfrm>
            <a:off x="6278728" y="1691640"/>
            <a:ext cx="5364328" cy="4480560"/>
          </a:xfrm>
          <a:prstGeom prst="roundRect">
            <a:avLst>
              <a:gd name="adj" fmla="val 2449"/>
            </a:avLst>
          </a:prstGeom>
          <a:solidFill>
            <a:schemeClr val="accent4">
              <a:alpha val="10000"/>
            </a:schemeClr>
          </a:solidFill>
          <a:ln w="12700">
            <a:solidFill>
              <a:schemeClr val="accent4">
                <a:alpha val="30000"/>
              </a:schemeClr>
            </a:solidFill>
            <a:prstDash val="solid"/>
          </a:ln>
        </p:spPr>
      </p:sp>
      <p:sp>
        <p:nvSpPr>
          <p:cNvPr id="11" name="icon-bg-tip"/>
          <p:cNvSpPr/>
          <p:nvPr/>
        </p:nvSpPr>
        <p:spPr>
          <a:xfrm>
            <a:off x="6553048" y="1920240"/>
            <a:ext cx="566928" cy="566928"/>
          </a:xfrm>
          <a:prstGeom prst="ellipse">
            <a:avLst/>
          </a:prstGeom>
          <a:solidFill>
            <a:schemeClr val="accent4"/>
          </a:solidFill>
          <a:ln w="12700">
            <a:solidFill>
              <a:schemeClr val="accent4"/>
            </a:solidFill>
            <a:prstDash val="solid"/>
          </a:ln>
        </p:spPr>
      </p:sp>
      <p:pic>
        <p:nvPicPr>
          <p:cNvPr id="12" name="icon-tip" descr="preencoded.png">    </p:cNvPr>
          <p:cNvPicPr>
            <a:picLocks noChangeAspect="1"/>
          </p:cNvPicPr>
          <p:nvPr/>
        </p:nvPicPr>
        <p:blipFill>
          <a:blip r:embed="rId2"/>
          <a:stretch>
            <a:fillRect/>
          </a:stretch>
        </p:blipFill>
        <p:spPr>
          <a:xfrm>
            <a:off x="6689110" y="2056303"/>
            <a:ext cx="294803" cy="294803"/>
          </a:xfrm>
          <a:prstGeom prst="rect">
            <a:avLst/>
          </a:prstGeom>
        </p:spPr>
      </p:pic>
      <p:sp>
        <p:nvSpPr>
          <p:cNvPr id="13" name="Text 8"/>
          <p:cNvSpPr txBox="1"/>
          <p:nvPr/>
        </p:nvSpPr>
        <p:spPr>
          <a:xfrm>
            <a:off x="7238848" y="1965960"/>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Practical tip</a:t>
            </a:r>
            <a:endParaRPr lang="en-US" sz="2000" dirty="0"/>
          </a:p>
        </p:txBody>
      </p:sp>
      <p:sp>
        <p:nvSpPr>
          <p:cNvPr id="14" name="text"/>
          <p:cNvSpPr txBox="1"/>
          <p:nvPr/>
        </p:nvSpPr>
        <p:spPr>
          <a:xfrm>
            <a:off x="6507328" y="2697480"/>
            <a:ext cx="4907128" cy="333756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Sensitivities are local: they change across the design space. Evaluate them at several points or use global methods (beyond this course).</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4 · Scaling, normalization and sensitivity · Predict before you look</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Pause and predict</a:t>
            </a:r>
            <a:endParaRPr lang="en-US" sz="3200" dirty="0"/>
          </a:p>
        </p:txBody>
      </p:sp>
      <p:sp>
        <p:nvSpPr>
          <p:cNvPr id="5" name="question-card"/>
          <p:cNvSpPr/>
          <p:nvPr/>
        </p:nvSpPr>
        <p:spPr>
          <a:xfrm>
            <a:off x="548640" y="1737360"/>
            <a:ext cx="11094415" cy="3291840"/>
          </a:xfrm>
          <a:prstGeom prst="roundRect">
            <a:avLst>
              <a:gd name="adj" fmla="val 3333"/>
            </a:avLst>
          </a:prstGeom>
          <a:solidFill>
            <a:schemeClr val="accent2">
              <a:alpha val="9000"/>
            </a:schemeClr>
          </a:solidFill>
          <a:ln w="12700">
            <a:solidFill>
              <a:schemeClr val="accent2">
                <a:alpha val="30000"/>
              </a:schemeClr>
            </a:solidFill>
            <a:prstDash val="solid"/>
          </a:ln>
        </p:spPr>
      </p:sp>
      <p:sp>
        <p:nvSpPr>
          <p:cNvPr id="6" name="icon-bg-predict"/>
          <p:cNvSpPr/>
          <p:nvPr/>
        </p:nvSpPr>
        <p:spPr>
          <a:xfrm>
            <a:off x="868680" y="2011680"/>
            <a:ext cx="731520" cy="731520"/>
          </a:xfrm>
          <a:prstGeom prst="ellipse">
            <a:avLst/>
          </a:prstGeom>
          <a:solidFill>
            <a:schemeClr val="accent2"/>
          </a:solidFill>
          <a:ln w="12700">
            <a:solidFill>
              <a:schemeClr val="accent2"/>
            </a:solidFill>
            <a:prstDash val="solid"/>
          </a:ln>
        </p:spPr>
      </p:sp>
      <p:pic>
        <p:nvPicPr>
          <p:cNvPr id="7" name="icon-predict" descr="preencoded.png">    </p:cNvPr>
          <p:cNvPicPr>
            <a:picLocks noChangeAspect="1"/>
          </p:cNvPicPr>
          <p:nvPr/>
        </p:nvPicPr>
        <p:blipFill>
          <a:blip r:embed="rId1"/>
          <a:stretch>
            <a:fillRect/>
          </a:stretch>
        </p:blipFill>
        <p:spPr>
          <a:xfrm>
            <a:off x="1044245" y="2187245"/>
            <a:ext cx="380390" cy="380390"/>
          </a:xfrm>
          <a:prstGeom prst="rect">
            <a:avLst/>
          </a:prstGeom>
        </p:spPr>
      </p:pic>
      <p:sp>
        <p:nvSpPr>
          <p:cNvPr id="8" name="text"/>
          <p:cNvSpPr txBox="1"/>
          <p:nvPr/>
        </p:nvSpPr>
        <p:spPr>
          <a:xfrm>
            <a:off x="1874520" y="1965960"/>
            <a:ext cx="9448495" cy="2834640"/>
          </a:xfrm>
          <a:prstGeom prst="rect">
            <a:avLst/>
          </a:prstGeom>
          <a:noFill/>
          <a:ln/>
        </p:spPr>
        <p:txBody>
          <a:bodyPr wrap="square" lIns="1270" tIns="1270" rIns="1270" bIns="1270" rtlCol="0" anchor="ctr"/>
          <a:lstStyle/>
          <a:p>
            <a:pPr indent="0" marL="0">
              <a:spcAft>
                <a:spcPts val="600"/>
              </a:spcAft>
              <a:buNone/>
            </a:pPr>
            <a:r>
              <a:rPr lang="en-US" sz="2800" dirty="0">
                <a:solidFill>
                  <a:schemeClr val="tx1"/>
                </a:solidFill>
              </a:rPr>
              <a:t>For δ = F L³/(3 E I), what is the elasticity of δ with respect to F?</a:t>
            </a:r>
            <a:endParaRPr lang="en-US" sz="2800" dirty="0"/>
          </a:p>
        </p:txBody>
      </p:sp>
      <p:sp>
        <p:nvSpPr>
          <p:cNvPr id="9" name="Text 5"/>
          <p:cNvSpPr txBox="1"/>
          <p:nvPr/>
        </p:nvSpPr>
        <p:spPr>
          <a:xfrm>
            <a:off x="548640" y="5303520"/>
            <a:ext cx="11094415" cy="457200"/>
          </a:xfrm>
          <a:prstGeom prst="rect">
            <a:avLst/>
          </a:prstGeom>
          <a:noFill/>
          <a:ln/>
        </p:spPr>
        <p:txBody>
          <a:bodyPr wrap="square" lIns="0" tIns="0" rIns="0" bIns="0" rtlCol="0" anchor="ctr"/>
          <a:lstStyle/>
          <a:p>
            <a:pPr indent="0" marL="0">
              <a:buNone/>
            </a:pPr>
            <a:r>
              <a:rPr lang="en-US" sz="1600" i="1" dirty="0">
                <a:solidFill>
                  <a:srgbClr val="46525F"/>
                </a:solidFill>
              </a:rPr>
              <a:t>Write down your answer, then continue to the next slide.</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4 · Scaling, normalization and sensitivity · Answer</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What happens, and why</a:t>
            </a:r>
            <a:endParaRPr lang="en-US" sz="3200" dirty="0"/>
          </a:p>
        </p:txBody>
      </p:sp>
      <p:sp>
        <p:nvSpPr>
          <p:cNvPr id="5" name="Text 2"/>
          <p:cNvSpPr txBox="1"/>
          <p:nvPr/>
        </p:nvSpPr>
        <p:spPr>
          <a:xfrm>
            <a:off x="548640" y="1600200"/>
            <a:ext cx="11094415" cy="868680"/>
          </a:xfrm>
          <a:prstGeom prst="rect">
            <a:avLst/>
          </a:prstGeom>
          <a:noFill/>
          <a:ln/>
        </p:spPr>
        <p:txBody>
          <a:bodyPr wrap="square" lIns="0" tIns="0" rIns="0" bIns="0" rtlCol="0" anchor="t"/>
          <a:lstStyle/>
          <a:p>
            <a:pPr indent="0" marL="0">
              <a:buNone/>
            </a:pPr>
            <a:r>
              <a:rPr lang="en-US" sz="1400" b="1" dirty="0">
                <a:solidFill>
                  <a:srgbClr val="46525F"/>
                </a:solidFill>
              </a:rPr>
              <a:t>Question: </a:t>
            </a:r>
            <a:pPr indent="0" marL="0">
              <a:buNone/>
            </a:pPr>
            <a:r>
              <a:rPr lang="en-US" sz="1400" dirty="0">
                <a:solidFill>
                  <a:srgbClr val="46525F"/>
                </a:solidFill>
              </a:rPr>
              <a:t>For δ = F L³/(3 E I), what is the elasticity of δ with respect to F?</a:t>
            </a:r>
            <a:endParaRPr lang="en-US" sz="1400" dirty="0"/>
          </a:p>
        </p:txBody>
      </p:sp>
      <p:sp>
        <p:nvSpPr>
          <p:cNvPr id="6" name="answer-card"/>
          <p:cNvSpPr/>
          <p:nvPr/>
        </p:nvSpPr>
        <p:spPr>
          <a:xfrm>
            <a:off x="548640" y="2606040"/>
            <a:ext cx="11094415" cy="3566160"/>
          </a:xfrm>
          <a:prstGeom prst="roundRect">
            <a:avLst>
              <a:gd name="adj" fmla="val 3077"/>
            </a:avLst>
          </a:prstGeom>
          <a:solidFill>
            <a:schemeClr val="accent3">
              <a:alpha val="10000"/>
            </a:schemeClr>
          </a:solidFill>
          <a:ln w="12700">
            <a:solidFill>
              <a:schemeClr val="accent3">
                <a:alpha val="30000"/>
              </a:schemeClr>
            </a:solidFill>
            <a:prstDash val="solid"/>
          </a:ln>
        </p:spPr>
      </p:sp>
      <p:sp>
        <p:nvSpPr>
          <p:cNvPr id="7" name="icon-bg-answer"/>
          <p:cNvSpPr/>
          <p:nvPr/>
        </p:nvSpPr>
        <p:spPr>
          <a:xfrm>
            <a:off x="868680" y="2880360"/>
            <a:ext cx="731520" cy="731520"/>
          </a:xfrm>
          <a:prstGeom prst="ellipse">
            <a:avLst/>
          </a:prstGeom>
          <a:solidFill>
            <a:schemeClr val="accent3"/>
          </a:solidFill>
          <a:ln w="12700">
            <a:solidFill>
              <a:schemeClr val="accent3"/>
            </a:solidFill>
            <a:prstDash val="solid"/>
          </a:ln>
        </p:spPr>
      </p:sp>
      <p:pic>
        <p:nvPicPr>
          <p:cNvPr id="8" name="icon-answer" descr="preencoded.png">    </p:cNvPr>
          <p:cNvPicPr>
            <a:picLocks noChangeAspect="1"/>
          </p:cNvPicPr>
          <p:nvPr/>
        </p:nvPicPr>
        <p:blipFill>
          <a:blip r:embed="rId1"/>
          <a:stretch>
            <a:fillRect/>
          </a:stretch>
        </p:blipFill>
        <p:spPr>
          <a:xfrm>
            <a:off x="1044245" y="3055925"/>
            <a:ext cx="380390" cy="380390"/>
          </a:xfrm>
          <a:prstGeom prst="rect">
            <a:avLst/>
          </a:prstGeom>
        </p:spPr>
      </p:pic>
      <p:sp>
        <p:nvSpPr>
          <p:cNvPr id="9" name="text"/>
          <p:cNvSpPr txBox="1"/>
          <p:nvPr/>
        </p:nvSpPr>
        <p:spPr>
          <a:xfrm>
            <a:off x="1874520" y="2788920"/>
            <a:ext cx="9448495" cy="3200400"/>
          </a:xfrm>
          <a:prstGeom prst="rect">
            <a:avLst/>
          </a:prstGeom>
          <a:noFill/>
          <a:ln/>
        </p:spPr>
        <p:txBody>
          <a:bodyPr wrap="square" lIns="1270" tIns="1270" rIns="1270" bIns="1270" rtlCol="0" anchor="ctr"/>
          <a:lstStyle/>
          <a:p>
            <a:pPr indent="0" marL="0">
              <a:spcAft>
                <a:spcPts val="600"/>
              </a:spcAft>
              <a:buNone/>
            </a:pPr>
            <a:r>
              <a:rPr lang="en-US" sz="2600" dirty="0">
                <a:solidFill>
                  <a:schemeClr val="tx1"/>
                </a:solidFill>
              </a:rPr>
              <a:t>Exactly 1: deflection is proportional to load, so a 1% load increase gives 1% more deflection.</a:t>
            </a:r>
            <a:endParaRPr lang="en-US" sz="2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4 · Scaling, normalization and sensitivity · Common misconception</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Sensitivity of an engineering response</a:t>
            </a:r>
            <a:endParaRPr lang="en-US" sz="3200" dirty="0"/>
          </a:p>
        </p:txBody>
      </p:sp>
      <p:sp>
        <p:nvSpPr>
          <p:cNvPr id="5" name="Misconception"/>
          <p:cNvSpPr/>
          <p:nvPr/>
        </p:nvSpPr>
        <p:spPr>
          <a:xfrm>
            <a:off x="548640" y="1691640"/>
            <a:ext cx="5364328" cy="2971800"/>
          </a:xfrm>
          <a:prstGeom prst="roundRect">
            <a:avLst>
              <a:gd name="adj" fmla="val 3692"/>
            </a:avLst>
          </a:prstGeom>
          <a:solidFill>
            <a:schemeClr val="accent6">
              <a:alpha val="9000"/>
            </a:schemeClr>
          </a:solidFill>
          <a:ln w="12700">
            <a:solidFill>
              <a:schemeClr val="accent6">
                <a:alpha val="30000"/>
              </a:schemeClr>
            </a:solidFill>
            <a:prstDash val="solid"/>
          </a:ln>
        </p:spPr>
      </p:sp>
      <p:sp>
        <p:nvSpPr>
          <p:cNvPr id="6" name="icon-bg-mis"/>
          <p:cNvSpPr/>
          <p:nvPr/>
        </p:nvSpPr>
        <p:spPr>
          <a:xfrm>
            <a:off x="822960" y="1874520"/>
            <a:ext cx="548640" cy="548640"/>
          </a:xfrm>
          <a:prstGeom prst="ellipse">
            <a:avLst/>
          </a:prstGeom>
          <a:solidFill>
            <a:schemeClr val="accent6"/>
          </a:solidFill>
          <a:ln w="12700">
            <a:solidFill>
              <a:schemeClr val="accent6"/>
            </a:solidFill>
            <a:prstDash val="solid"/>
          </a:ln>
        </p:spPr>
      </p:sp>
      <p:pic>
        <p:nvPicPr>
          <p:cNvPr id="7" name="icon-mis" descr="preencoded.png">    </p:cNvPr>
          <p:cNvPicPr>
            <a:picLocks noChangeAspect="1"/>
          </p:cNvPicPr>
          <p:nvPr/>
        </p:nvPicPr>
        <p:blipFill>
          <a:blip r:embed="rId1"/>
          <a:stretch>
            <a:fillRect/>
          </a:stretch>
        </p:blipFill>
        <p:spPr>
          <a:xfrm>
            <a:off x="954634" y="2006194"/>
            <a:ext cx="285293" cy="285293"/>
          </a:xfrm>
          <a:prstGeom prst="rect">
            <a:avLst/>
          </a:prstGeom>
        </p:spPr>
      </p:pic>
      <p:sp>
        <p:nvSpPr>
          <p:cNvPr id="8" name="Text 4"/>
          <p:cNvSpPr txBox="1"/>
          <p:nvPr/>
        </p:nvSpPr>
        <p:spPr>
          <a:xfrm>
            <a:off x="1508760" y="1901952"/>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Misconception</a:t>
            </a:r>
            <a:endParaRPr lang="en-US" sz="2000" dirty="0"/>
          </a:p>
        </p:txBody>
      </p:sp>
      <p:sp>
        <p:nvSpPr>
          <p:cNvPr id="9" name="text"/>
          <p:cNvSpPr txBox="1"/>
          <p:nvPr/>
        </p:nvSpPr>
        <p:spPr>
          <a:xfrm>
            <a:off x="777240" y="2560320"/>
            <a:ext cx="4907128" cy="201168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 A large derivative always means an important variable.</a:t>
            </a:r>
            <a:endParaRPr lang="en-US" sz="2000" dirty="0"/>
          </a:p>
        </p:txBody>
      </p:sp>
      <p:sp>
        <p:nvSpPr>
          <p:cNvPr id="10" name="What is actually true"/>
          <p:cNvSpPr/>
          <p:nvPr/>
        </p:nvSpPr>
        <p:spPr>
          <a:xfrm>
            <a:off x="6278728" y="1691640"/>
            <a:ext cx="5364328" cy="2971800"/>
          </a:xfrm>
          <a:prstGeom prst="roundRect">
            <a:avLst>
              <a:gd name="adj" fmla="val 3692"/>
            </a:avLst>
          </a:prstGeom>
          <a:solidFill>
            <a:schemeClr val="accent3">
              <a:alpha val="9000"/>
            </a:schemeClr>
          </a:solidFill>
          <a:ln w="12700">
            <a:solidFill>
              <a:schemeClr val="accent3">
                <a:alpha val="30000"/>
              </a:schemeClr>
            </a:solidFill>
            <a:prstDash val="solid"/>
          </a:ln>
        </p:spPr>
      </p:sp>
      <p:sp>
        <p:nvSpPr>
          <p:cNvPr id="11" name="icon-bg-cor"/>
          <p:cNvSpPr/>
          <p:nvPr/>
        </p:nvSpPr>
        <p:spPr>
          <a:xfrm>
            <a:off x="6553048" y="1874520"/>
            <a:ext cx="548640" cy="548640"/>
          </a:xfrm>
          <a:prstGeom prst="ellipse">
            <a:avLst/>
          </a:prstGeom>
          <a:solidFill>
            <a:schemeClr val="accent3"/>
          </a:solidFill>
          <a:ln w="12700">
            <a:solidFill>
              <a:schemeClr val="accent3"/>
            </a:solidFill>
            <a:prstDash val="solid"/>
          </a:ln>
        </p:spPr>
      </p:sp>
      <p:pic>
        <p:nvPicPr>
          <p:cNvPr id="12" name="icon-cor" descr="preencoded.png">    </p:cNvPr>
          <p:cNvPicPr>
            <a:picLocks noChangeAspect="1"/>
          </p:cNvPicPr>
          <p:nvPr/>
        </p:nvPicPr>
        <p:blipFill>
          <a:blip r:embed="rId2"/>
          <a:stretch>
            <a:fillRect/>
          </a:stretch>
        </p:blipFill>
        <p:spPr>
          <a:xfrm>
            <a:off x="6684721" y="2006194"/>
            <a:ext cx="285293" cy="285293"/>
          </a:xfrm>
          <a:prstGeom prst="rect">
            <a:avLst/>
          </a:prstGeom>
        </p:spPr>
      </p:pic>
      <p:sp>
        <p:nvSpPr>
          <p:cNvPr id="13" name="Text 8"/>
          <p:cNvSpPr txBox="1"/>
          <p:nvPr/>
        </p:nvSpPr>
        <p:spPr>
          <a:xfrm>
            <a:off x="7238848" y="1901952"/>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What is actually true</a:t>
            </a:r>
            <a:endParaRPr lang="en-US" sz="2000" dirty="0"/>
          </a:p>
        </p:txBody>
      </p:sp>
      <p:sp>
        <p:nvSpPr>
          <p:cNvPr id="14" name="text"/>
          <p:cNvSpPr txBox="1"/>
          <p:nvPr/>
        </p:nvSpPr>
        <p:spPr>
          <a:xfrm>
            <a:off x="6507328" y="2560320"/>
            <a:ext cx="4907128" cy="201168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 Importance depends on how much the variable can actually vary (its range or tolerance). Multiply by the range, or use elasticities.</a:t>
            </a:r>
            <a:endParaRPr lang="en-US" sz="2000" dirty="0"/>
          </a:p>
        </p:txBody>
      </p:sp>
      <p:sp>
        <p:nvSpPr>
          <p:cNvPr id="15" name="takeaway"/>
          <p:cNvSpPr/>
          <p:nvPr/>
        </p:nvSpPr>
        <p:spPr>
          <a:xfrm>
            <a:off x="548640" y="4892040"/>
            <a:ext cx="11094415" cy="1280160"/>
          </a:xfrm>
          <a:prstGeom prst="roundRect">
            <a:avLst>
              <a:gd name="adj" fmla="val 8571"/>
            </a:avLst>
          </a:prstGeom>
          <a:solidFill>
            <a:schemeClr val="accent1"/>
          </a:solidFill>
          <a:ln w="12700">
            <a:solidFill>
              <a:schemeClr val="accent1"/>
            </a:solidFill>
            <a:prstDash val="solid"/>
          </a:ln>
        </p:spPr>
      </p:sp>
      <p:sp>
        <p:nvSpPr>
          <p:cNvPr id="16" name="icon-bg-take"/>
          <p:cNvSpPr/>
          <p:nvPr/>
        </p:nvSpPr>
        <p:spPr>
          <a:xfrm>
            <a:off x="822960" y="5257800"/>
            <a:ext cx="548640" cy="548640"/>
          </a:xfrm>
          <a:prstGeom prst="ellipse">
            <a:avLst/>
          </a:prstGeom>
          <a:solidFill>
            <a:schemeClr val="tx2"/>
          </a:solidFill>
          <a:ln w="12700">
            <a:solidFill>
              <a:schemeClr val="tx2"/>
            </a:solidFill>
            <a:prstDash val="solid"/>
          </a:ln>
        </p:spPr>
      </p:sp>
      <p:pic>
        <p:nvPicPr>
          <p:cNvPr id="17" name="icon-take" descr="preencoded.png">    </p:cNvPr>
          <p:cNvPicPr>
            <a:picLocks noChangeAspect="1"/>
          </p:cNvPicPr>
          <p:nvPr/>
        </p:nvPicPr>
        <p:blipFill>
          <a:blip r:embed="rId3"/>
          <a:stretch>
            <a:fillRect/>
          </a:stretch>
        </p:blipFill>
        <p:spPr>
          <a:xfrm>
            <a:off x="954634" y="5389474"/>
            <a:ext cx="285293" cy="285293"/>
          </a:xfrm>
          <a:prstGeom prst="rect">
            <a:avLst/>
          </a:prstGeom>
        </p:spPr>
      </p:pic>
      <p:sp>
        <p:nvSpPr>
          <p:cNvPr id="18" name="Text 12"/>
          <p:cNvSpPr txBox="1"/>
          <p:nvPr/>
        </p:nvSpPr>
        <p:spPr>
          <a:xfrm>
            <a:off x="1554480" y="4983480"/>
            <a:ext cx="9859975" cy="1097280"/>
          </a:xfrm>
          <a:prstGeom prst="rect">
            <a:avLst/>
          </a:prstGeom>
          <a:noFill/>
          <a:ln/>
        </p:spPr>
        <p:txBody>
          <a:bodyPr wrap="square" lIns="635" tIns="635" rIns="635" bIns="635" rtlCol="0" anchor="ctr"/>
          <a:lstStyle/>
          <a:p>
            <a:pPr indent="0" marL="0">
              <a:buNone/>
            </a:pPr>
            <a:r>
              <a:rPr lang="en-US" sz="2200" b="1" dirty="0">
                <a:solidFill>
                  <a:srgbClr val="F2C14E"/>
                </a:solidFill>
              </a:rPr>
              <a:t>Takeaway  </a:t>
            </a:r>
            <a:pPr indent="0" marL="0">
              <a:buNone/>
            </a:pPr>
            <a:r>
              <a:rPr lang="en-US" sz="2200" dirty="0">
                <a:solidFill>
                  <a:srgbClr val="FFFFFF"/>
                </a:solidFill>
              </a:rPr>
              <a:t>Use elasticities or range-scaled derivatives to compare sensitivities across variables with different units and ranges.</a:t>
            </a:r>
            <a:endParaRPr lang="en-US" sz="2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Summary</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Key takeaways from this lesson</a:t>
            </a:r>
            <a:endParaRPr lang="en-US" sz="3200" dirty="0"/>
          </a:p>
        </p:txBody>
      </p:sp>
      <p:sp>
        <p:nvSpPr>
          <p:cNvPr id="5" name="takeaway-1"/>
          <p:cNvSpPr/>
          <p:nvPr/>
        </p:nvSpPr>
        <p:spPr>
          <a:xfrm>
            <a:off x="548640" y="1645920"/>
            <a:ext cx="5387188" cy="2103120"/>
          </a:xfrm>
          <a:prstGeom prst="roundRect">
            <a:avLst>
              <a:gd name="adj" fmla="val 5217"/>
            </a:avLst>
          </a:prstGeom>
          <a:solidFill>
            <a:schemeClr val="accent1">
              <a:alpha val="7000"/>
            </a:schemeClr>
          </a:solidFill>
          <a:ln w="12700">
            <a:solidFill>
              <a:schemeClr val="accent1">
                <a:alpha val="30000"/>
              </a:schemeClr>
            </a:solidFill>
            <a:prstDash val="solid"/>
          </a:ln>
        </p:spPr>
      </p:sp>
      <p:sp>
        <p:nvSpPr>
          <p:cNvPr id="6" name="Text 3"/>
          <p:cNvSpPr txBox="1"/>
          <p:nvPr/>
        </p:nvSpPr>
        <p:spPr>
          <a:xfrm>
            <a:off x="713232" y="1810512"/>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234440" y="1719072"/>
            <a:ext cx="4564228" cy="1956816"/>
          </a:xfrm>
          <a:prstGeom prst="rect">
            <a:avLst/>
          </a:prstGeom>
          <a:noFill/>
          <a:ln/>
        </p:spPr>
        <p:txBody>
          <a:bodyPr wrap="square" lIns="254" tIns="254" rIns="254" bIns="254" rtlCol="0" anchor="ctr"/>
          <a:lstStyle/>
          <a:p>
            <a:pPr indent="0" marL="0">
              <a:buNone/>
            </a:pPr>
            <a:r>
              <a:rPr lang="en-US" sz="2100" b="1" dirty="0">
                <a:solidFill>
                  <a:schemeClr val="tx2"/>
                </a:solidFill>
              </a:rPr>
              <a:t>Why scale variables?</a:t>
            </a:r>
            <a:endParaRPr lang="en-US" sz="2100" dirty="0"/>
          </a:p>
          <a:p>
            <a:pPr indent="0" marL="0">
              <a:buNone/>
            </a:pPr>
            <a:r>
              <a:rPr lang="en-US" sz="2100" dirty="0">
                <a:solidFill>
                  <a:schemeClr val="tx1"/>
                </a:solidFill>
              </a:rPr>
              <a:t>Scale inputs (by bounds or training statistics) before distance-based modelling; report results in physical units.</a:t>
            </a:r>
            <a:endParaRPr lang="en-US" sz="2100" dirty="0"/>
          </a:p>
        </p:txBody>
      </p:sp>
      <p:sp>
        <p:nvSpPr>
          <p:cNvPr id="8" name="takeaway-2"/>
          <p:cNvSpPr/>
          <p:nvPr/>
        </p:nvSpPr>
        <p:spPr>
          <a:xfrm>
            <a:off x="6255868" y="1645920"/>
            <a:ext cx="5387188" cy="2103120"/>
          </a:xfrm>
          <a:prstGeom prst="roundRect">
            <a:avLst>
              <a:gd name="adj" fmla="val 5217"/>
            </a:avLst>
          </a:prstGeom>
          <a:solidFill>
            <a:schemeClr val="accent1">
              <a:alpha val="7000"/>
            </a:schemeClr>
          </a:solidFill>
          <a:ln w="12700">
            <a:solidFill>
              <a:schemeClr val="accent1">
                <a:alpha val="30000"/>
              </a:schemeClr>
            </a:solidFill>
            <a:prstDash val="solid"/>
          </a:ln>
        </p:spPr>
      </p:sp>
      <p:sp>
        <p:nvSpPr>
          <p:cNvPr id="9" name="Text 6"/>
          <p:cNvSpPr txBox="1"/>
          <p:nvPr/>
        </p:nvSpPr>
        <p:spPr>
          <a:xfrm>
            <a:off x="6420460" y="1810512"/>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7"/>
          <p:cNvSpPr txBox="1"/>
          <p:nvPr/>
        </p:nvSpPr>
        <p:spPr>
          <a:xfrm>
            <a:off x="6941668" y="1719072"/>
            <a:ext cx="4564228" cy="1956816"/>
          </a:xfrm>
          <a:prstGeom prst="rect">
            <a:avLst/>
          </a:prstGeom>
          <a:noFill/>
          <a:ln/>
        </p:spPr>
        <p:txBody>
          <a:bodyPr wrap="square" lIns="254" tIns="254" rIns="254" bIns="254" rtlCol="0" anchor="ctr"/>
          <a:lstStyle/>
          <a:p>
            <a:pPr indent="0" marL="0">
              <a:buNone/>
            </a:pPr>
            <a:r>
              <a:rPr lang="en-US" sz="1700" b="1" dirty="0">
                <a:solidFill>
                  <a:schemeClr val="tx2"/>
                </a:solidFill>
              </a:rPr>
              <a:t>Sensitivity of an engineering response</a:t>
            </a:r>
            <a:endParaRPr lang="en-US" sz="1700" dirty="0"/>
          </a:p>
          <a:p>
            <a:pPr indent="0" marL="0">
              <a:buNone/>
            </a:pPr>
            <a:r>
              <a:rPr lang="en-US" sz="1700" dirty="0">
                <a:solidFill>
                  <a:schemeClr val="tx1"/>
                </a:solidFill>
              </a:rPr>
              <a:t>Use elasticities or range-scaled derivatives to compare sensitivities across variables with different units and ranges.</a:t>
            </a:r>
            <a:endParaRPr lang="en-US" sz="17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lIns="0" tIns="0" rIns="0" bIns="0" rtlCol="0"/>
          <a:lstStyle/>
          <a:p>
            <a:pPr indent="0" marL="0">
              <a:buNone/>
            </a:pPr>
            <a:r>
              <a:rPr lang="en-US" sz="1800" b="1" spc="200" kern="0" dirty="0">
                <a:solidFill>
                  <a:srgbClr val="F2C14E"/>
                </a:solidFill>
              </a:rPr>
              <a:t>UP NEXT · LESSON 4.1</a:t>
            </a: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lIns="0" tIns="0" rIns="0" bIns="0" rtlCol="0" anchor="t"/>
          <a:lstStyle/>
          <a:p>
            <a:pPr algn="l" indent="0" marL="0">
              <a:buNone/>
            </a:pPr>
            <a:r>
              <a:rPr lang="en-US" sz="4400" b="1" dirty="0">
                <a:solidFill>
                  <a:schemeClr val="bg1"/>
                </a:solidFill>
              </a:rPr>
              <a:t>Linear regression, residuals and least squares</a:t>
            </a: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lIns="0" tIns="0" rIns="0" bIns="0" rtlCol="0" anchor="t"/>
          <a:lstStyle/>
          <a:p>
            <a:pPr indent="0" marL="0">
              <a:buNone/>
            </a:pPr>
            <a:r>
              <a:rPr lang="en-US" sz="1800" dirty="0">
                <a:solidFill>
                  <a:srgbClr val="D6E2F0"/>
                </a:solidFill>
              </a:rPr>
              <a:t>That completes Module 3. Before moving on, review the Module 3 flashcards and take its quiz in the course (pass mark 70%). Next: Module 4, Your first regression model.</a:t>
            </a:r>
            <a:endParaRPr lang="en-US" sz="1800" dirty="0"/>
          </a:p>
        </p:txBody>
      </p:sp>
      <p:sp>
        <p:nvSpPr>
          <p:cNvPr id="5" name="Shape 3"/>
          <p:cNvSpPr/>
          <p:nvPr/>
        </p:nvSpPr>
        <p:spPr>
          <a:xfrm>
            <a:off x="8732520" y="1417320"/>
            <a:ext cx="2926080" cy="2926080"/>
          </a:xfrm>
          <a:prstGeom prst="ellipse">
            <a:avLst/>
          </a:prstGeom>
          <a:solidFill>
            <a:schemeClr val="bg1">
              <a:alpha val="12000"/>
            </a:schemeClr>
          </a:solidFill>
          <a:ln w="38100">
            <a:solidFill>
              <a:srgbClr val="F2C14E"/>
            </a:solidFill>
            <a:prstDash val="solid"/>
          </a:ln>
        </p:spPr>
      </p:sp>
      <p:pic>
        <p:nvPicPr>
          <p:cNvPr id="6" name="icon-next" descr="preencoded.png">    </p:cNvPr>
          <p:cNvPicPr>
            <a:picLocks noChangeAspect="1"/>
          </p:cNvPicPr>
          <p:nvPr/>
        </p:nvPicPr>
        <p:blipFill>
          <a:blip r:embed="rId1"/>
          <a:stretch>
            <a:fillRect/>
          </a:stretch>
        </p:blipFill>
        <p:spPr>
          <a:xfrm>
            <a:off x="9646920" y="2331720"/>
            <a:ext cx="1097280" cy="1097280"/>
          </a:xfrm>
          <a:prstGeom prst="rect">
            <a:avLst/>
          </a:prstGeom>
        </p:spPr>
      </p:pic>
    </p:spTree>
  </p:cSld>
  <p:clrMapOvr>
    <a:masterClrMapping/>
  </p:clrMapOvr>
</p:sld>
</file>

<file path=ppt/theme/theme1.xml><?xml version="1.0" encoding="utf-8"?>
<a:theme xmlns:a="http://schemas.openxmlformats.org/drawingml/2006/main" name="MLSO Course">
  <a:themeElements>
    <a:clrScheme name="MLSO Course">
      <a:dk1>
        <a:srgbClr val="18212B"/>
      </a:dk1>
      <a:lt1>
        <a:srgbClr val="FFFFFF"/>
      </a:lt1>
      <a:dk2>
        <a:srgbClr val="123B6B"/>
      </a:dk2>
      <a:lt2>
        <a:srgbClr val="EEF2F7"/>
      </a:lt2>
      <a:accent1>
        <a:srgbClr val="1F5FA8"/>
      </a:accent1>
      <a:accent2>
        <a:srgbClr val="C2500A"/>
      </a:accent2>
      <a:accent3>
        <a:srgbClr val="1A6E3D"/>
      </a:accent3>
      <a:accent4>
        <a:srgbClr val="B98500"/>
      </a:accent4>
      <a:accent5>
        <a:srgbClr val="7A3FB0"/>
      </a:accent5>
      <a:accent6>
        <a:srgbClr val="B3261E"/>
      </a:accent6>
      <a:hlink>
        <a:srgbClr val="1F5FA8"/>
      </a:hlink>
      <a:folHlink>
        <a:srgbClr val="7A3FB0"/>
      </a:folHlink>
    </a:clrScheme>
    <a:fontScheme name="MLSO Cours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Self-paced course (CC BY 4.0)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3, Lesson 4: Scaling, normalization and sensitivity</dc:title>
  <dc:subject>Machine Learning Fundamentals for Surrogate-Based Engineering Optimization</dc:subject>
  <dc:creator>Prof. Mazharul Islam</dc:creator>
  <cp:lastModifiedBy>Prof. Mazharul Islam</cp:lastModifiedBy>
  <cp:revision>1</cp:revision>
  <dcterms:created xsi:type="dcterms:W3CDTF">2026-10-07T01:12:30Z</dcterms:created>
  <dcterms:modified xsi:type="dcterms:W3CDTF">2026-10-07T01:12:30Z</dcterms:modified>
</cp:coreProperties>
</file>