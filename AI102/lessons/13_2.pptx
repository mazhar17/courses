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8aa6d5-fdc5-2b1c-5e5f-f88c806a28ac}">
          <p14:sldIdLst>
            <p14:sldId id="256"/>
          </p14:sldIdLst>
        </p14:section>
        <p14:section name="Lesson 2: Baselines, fair comparisons, repeated experiments and variability" id="{d0be503e-4330-5136-658f-41177930cadb}">
          <p14:sldIdLst>
            <p14:sldId id="257"/>
            <p14:sldId id="258"/>
            <p14:sldId id="259"/>
            <p14:sldId id="260"/>
            <p14:sldId id="261"/>
            <p14:sldId id="262"/>
          </p14:sldIdLst>
        </p14:section>
        <p14:section name="Summary" id="{3b2003cf-195c-03d0-63ce-34f3ef14eeeb}">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13, Lesson 2 of the self-paced course Machine Learning Fundamentals for Surrogate-Based Engineering Optimization: Baselines, fair comparisons, repeated experiments and variability. This lesson belongs to the module Reproducible engineering research and takes about 10 minutes. In this lesson: One run is an anecdote.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run is an anecdote. Surrogate-optimization results depend on the initial sample, the optimizer start points and hyperparameter fits. One run can be lucky or unlucky. Repeat with several seeds, compare against simple baselines with the same evaluation budget, and report the spread. Look at the figure. Computed live: final optimality gap of random search and sequential SBO over 12 seeds each, with a 16-evaluation budget. Box plots with individual points: random search shows a wide spread of gaps; sequential SBO shows a lower median and narrower spread, though individual runs vary.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Summaries for r repeated runs with final gaps Δ_1…Δ_r: median, interquartile range, min–max, and the fraction of runs reaching a target (e.g., within 1% of the best known). Avoid reporting only the best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Fair comparison checklist: same budget of original-model evaluations; same bounds and constraints; same initial design (or same sampler with matched seeds); the same number of repeats; report verified values only. A practical tip: Decide the number of repeats and the comparison metric before running the study, to avoid selective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Method A beats method B in 1 run out of 1. Method B beats A in 8 of 10 seeds. Which statement is defensible?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That B tends to outperform A on this problem with this budget (8/10 seeds) — not a universal claim, and not that A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Reporting the best of several runs shows what the method can do. In fact: It shows what luck can do. Report the distribution, or at least the median and range. The takeaway: Repeat with seeds, compare with baselines at equal budgets, report distributions.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One run is an anecdote: Repeat with seeds, compare with baselines at equal budgets, report distributions.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2 of Module 13: Baselines, fair comparisons, repeated experiments and variability. Next comes Lesson 3: Reporting, synthetic vs experimental evidence,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13, Lesson 2 · Baselines, fair comparisons, repeated experiments and variability</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13, Lesson 2 · Baselines, fair comparisons, repeated experiments and variability</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13 · LESSON 2 OF 3 · ≈ 10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Baselines, fair comparisons, repeated experiments and variability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13: Reproducible engineering research</a:t>
            </a:r>
            <a:endParaRPr lang="en-US" sz="1800" dirty="0"/>
          </a:p>
          <a:p>
            <a:pPr marL="342900" indent="-342900">
              <a:buSzPct val="100000"/>
              <a:buChar char="•"/>
            </a:pPr>
            <a:r>
              <a:rPr lang="en-US" sz="1800" dirty="0">
                <a:solidFill>
                  <a:srgbClr val="D6E2F0"/>
                </a:solidFill>
              </a:rPr>
              <a:t>One run is an anecdote</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13.2</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Baselines, fair comparisons, repeated experiments and variability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One run is an anecdote</a:t>
            </a:r>
            <a:endParaRPr lang="en-US" sz="3200" dirty="0"/>
          </a:p>
        </p:txBody>
      </p:sp>
      <p:sp>
        <p:nvSpPr>
          <p:cNvPr id="5" name="intuition-card"/>
          <p:cNvSpPr/>
          <p:nvPr/>
        </p:nvSpPr>
        <p:spPr>
          <a:xfrm>
            <a:off x="548640" y="1691640"/>
            <a:ext cx="5120640"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777240" y="1874520"/>
            <a:ext cx="502920" cy="502920"/>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8" name="text"/>
          <p:cNvSpPr txBox="1"/>
          <p:nvPr/>
        </p:nvSpPr>
        <p:spPr>
          <a:xfrm>
            <a:off x="685800" y="2468880"/>
            <a:ext cx="4846320" cy="36118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Surrogate-optimization results depend on the initial sample, the optimizer start points and hyperparameter fits. One run can be lucky or unlucky. Repeat with several seeds, compare against simple baselines with the same evaluation budget, and report the spread.</a:t>
            </a:r>
            <a:endParaRPr lang="en-US" sz="2000" dirty="0"/>
          </a:p>
        </p:txBody>
      </p:sp>
      <p:pic>
        <p:nvPicPr>
          <p:cNvPr id="9" name="figure" descr="Box plots with individual points: random search shows a wide spread of gaps; sequential SBO shows a lower median and narrower spread, though individual runs vary.">    </p:cNvPr>
          <p:cNvPicPr>
            <a:picLocks noChangeAspect="1"/>
          </p:cNvPicPr>
          <p:nvPr/>
        </p:nvPicPr>
        <p:blipFill>
          <a:blip r:embed="rId2"/>
          <a:stretch>
            <a:fillRect/>
          </a:stretch>
        </p:blipFill>
        <p:spPr>
          <a:xfrm>
            <a:off x="5989320" y="1691640"/>
            <a:ext cx="5653735" cy="3036576"/>
          </a:xfrm>
          <a:prstGeom prst="rect">
            <a:avLst/>
          </a:prstGeom>
        </p:spPr>
      </p:pic>
      <p:sp>
        <p:nvSpPr>
          <p:cNvPr id="10" name="Text 5"/>
          <p:cNvSpPr txBox="1"/>
          <p:nvPr/>
        </p:nvSpPr>
        <p:spPr>
          <a:xfrm>
            <a:off x="5989320" y="4773936"/>
            <a:ext cx="5653735" cy="1443984"/>
          </a:xfrm>
          <a:prstGeom prst="rect">
            <a:avLst/>
          </a:prstGeom>
          <a:noFill/>
          <a:ln/>
        </p:spPr>
        <p:txBody>
          <a:bodyPr wrap="square" lIns="0" tIns="0" rIns="0" bIns="0" rtlCol="0" anchor="t"/>
          <a:lstStyle/>
          <a:p>
            <a:pPr indent="0" marL="0">
              <a:buNone/>
            </a:pPr>
            <a:r>
              <a:rPr lang="en-US" sz="1200" i="1" dirty="0">
                <a:solidFill>
                  <a:srgbClr val="46525F"/>
                </a:solidFill>
              </a:rPr>
              <a:t>Computed live: final optimality gap of random search and sequential SBO over 12 seeds each, with a 16-evaluation budget.</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Baselines, fair comparisons, repeated experiments and variability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One run is an anecdote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203960"/>
          </a:xfrm>
          <a:prstGeom prst="roundRect">
            <a:avLst>
              <a:gd name="adj" fmla="val 9114"/>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112520"/>
          </a:xfrm>
          <a:prstGeom prst="rect">
            <a:avLst/>
          </a:prstGeom>
          <a:noFill/>
          <a:ln/>
        </p:spPr>
        <p:txBody>
          <a:bodyPr wrap="square" lIns="1270" tIns="1270" rIns="1270" bIns="1270" rtlCol="0" anchor="ctr"/>
          <a:lstStyle/>
          <a:p>
            <a:pPr indent="0" marL="0">
              <a:buNone/>
            </a:pPr>
            <a:r>
              <a:rPr lang="en-US" sz="2000" dirty="0">
                <a:solidFill>
                  <a:schemeClr val="tx1"/>
                </a:solidFill>
              </a:rPr>
              <a:t>Summaries for </a:t>
            </a:r>
            <a:pPr indent="0" marL="0">
              <a:buNone/>
            </a:pPr>
            <a:r>
              <a:rPr lang="en-US" sz="2000" i="1" dirty="0">
                <a:solidFill>
                  <a:schemeClr val="tx1"/>
                </a:solidFill>
              </a:rPr>
              <a:t>r</a:t>
            </a:r>
            <a:pPr indent="0" marL="0">
              <a:buNone/>
            </a:pPr>
            <a:r>
              <a:rPr lang="en-US" sz="2000" dirty="0">
                <a:solidFill>
                  <a:schemeClr val="tx1"/>
                </a:solidFill>
              </a:rPr>
              <a:t> repeated runs with final gaps Δ</a:t>
            </a:r>
            <a:pPr indent="0" marL="0">
              <a:buNone/>
            </a:pPr>
            <a:r>
              <a:rPr lang="en-US" sz="2000" baseline="-40000" dirty="0">
                <a:solidFill>
                  <a:schemeClr val="tx1"/>
                </a:solidFill>
              </a:rPr>
              <a:t>1</a:t>
            </a:r>
            <a:pPr indent="0" marL="0">
              <a:buNone/>
            </a:pPr>
            <a:r>
              <a:rPr lang="en-US" sz="2000" dirty="0">
                <a:solidFill>
                  <a:schemeClr val="tx1"/>
                </a:solidFill>
              </a:rPr>
              <a:t>…Δ</a:t>
            </a:r>
            <a:pPr indent="0" marL="0">
              <a:buNone/>
            </a:pPr>
            <a:r>
              <a:rPr lang="en-US" sz="2000" baseline="-40000" dirty="0">
                <a:solidFill>
                  <a:schemeClr val="tx1"/>
                </a:solidFill>
              </a:rPr>
              <a:t>r</a:t>
            </a:r>
            <a:pPr indent="0" marL="0">
              <a:buNone/>
            </a:pPr>
            <a:r>
              <a:rPr lang="en-US" sz="2000" dirty="0">
                <a:solidFill>
                  <a:schemeClr val="tx1"/>
                </a:solidFill>
              </a:rPr>
              <a:t>: median, interquartile range, min–max, and the fraction of runs reaching a target (e.g., within 1% of the best known). Avoid reporting only the best run.</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Baselines, fair comparisons, repeated experiments and variability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One run is an anecdote</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Fair comparison checklist: same budget of original-model evaluations; same bounds and constraints; same initial design (or same sampler with matched seeds); the same number of repeats; report verified values only.</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Decide the number of repeats and the comparison metric before running the study, to avoid selective reporting.</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Baselines, fair comparisons, repeated experiments and variability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Method A beats method B in 1 run out of 1. Method B beats A in 8 of 10 seeds. Which statement is defensible?</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Baselines, fair comparisons, repeated experiments and variability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Method A beats method B in 1 run out of 1. Method B beats A in 8 of 10 seeds. Which statement is defensible?</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That B tends to outperform A on this problem with this budget (8/10 seeds) — not a universal claim, and not that A is better.</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2 · Baselines, fair comparisons, repeated experiments and variability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One run is an anecdote</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Reporting the best of several runs shows what the method can do.</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shows what luck can do. Report the distribution, or at least the median and range.</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Repeat with seeds, compare with baselines at equal budgets, report distributions.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200" b="1" dirty="0">
                <a:solidFill>
                  <a:schemeClr val="tx2"/>
                </a:solidFill>
              </a:rPr>
              <a:t>One run is an anecdote</a:t>
            </a:r>
            <a:endParaRPr lang="en-US" sz="2200" dirty="0"/>
          </a:p>
          <a:p>
            <a:pPr indent="0" marL="0">
              <a:buNone/>
            </a:pPr>
            <a:r>
              <a:rPr lang="en-US" sz="2200" dirty="0">
                <a:solidFill>
                  <a:schemeClr val="tx1"/>
                </a:solidFill>
              </a:rPr>
              <a:t>Repeat with seeds, compare with baselines at equal budgets, report distributions.</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13.3</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Reporting, synthetic vs experimental evidence, ethics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Next in Module 13: Lesson 3. Mark this lesson complete in the course before continuing.</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13, Lesson 2: Baselines, fair comparisons, repeated experiments and variability</dc:title>
  <dc:subject>Machine Learning Fundamentals for Surrogate-Based Engineering Optimization</dc:subject>
  <dc:creator>Prof. Mazharul Islam</dc:creator>
  <cp:lastModifiedBy>Prof. Mazharul Islam</cp:lastModifiedBy>
  <cp:revision>1</cp:revision>
  <dcterms:created xsi:type="dcterms:W3CDTF">2026-10-07T01:12:32Z</dcterms:created>
  <dcterms:modified xsi:type="dcterms:W3CDTF">2026-10-07T01:12:32Z</dcterms:modified>
</cp:coreProperties>
</file>