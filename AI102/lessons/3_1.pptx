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29614b4-9fdc-3cec-8759-ec8040315d08}">
          <p14:sldIdLst>
            <p14:sldId id="256"/>
          </p14:sldIdLst>
        </p14:section>
        <p14:section name="Lesson 1: Functions, vectors, matrices and gradients" id="{bcb1943f-a03f-9e78-1321-7ca067a04b88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ummary" id="{5de7ea5f-abe3-b108-bac3-4f6420565641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3, Lesson 1 of the self-paced course Machine Learning Fundamentals for Surrogate-Based Engineering Optimization: Functions, vectors, matrices and gradients. This lesson belongs to the module Mathematics and data intuition and takes about 10 minutes. In this lesson: A design response is a function of a vector.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design response is a function of a vector. The heat sink’s thermal resistance depends on two numbers: R = f(s, t). Collect them into a vector x = (s, t). The set of all allowed x is the design space. A colour map of R over the design space is the response surface. The gradient ∇R points uphill; −∇R points in the direction of fastest decrease. Look at the figure. Thermal resistance over the design space, with arrows showing the direction of steepest decrease (−∇R in scaled variables). Colour map of R over fin gap and fin thickness, with white arrows. At small gaps arrows point strongly toward larger gaps; near the valley around s ≈ 1.9 mm arrows are short or point toward thinner fins.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∇R(x) = ( (∂R)/(∂s), (∂R)/(∂t) ) x is the design vector (s, t), in mm. ∂R/∂s is the change of R per unit change of s with t fixed, in K/(W·mm). ∇R is the gradient vector, in K/(W·mm). A matrix is a 2-D array of numbers; the dataset X (n × d) is one. A linear model computes ŷ = Xβ — a matrix–vector product: each prediction is a weighted sum of the features. Derivatives can be approximated numerically: ∂R/∂s ≈ [R(s+h, t) − R(s−h, t)]/(2h).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At s = 1.0 mm, t = 0.6 mm the model gives ∂R/∂s ≈ -3.608 K/(W·mm): widening the gap by 0.1 mm lowers R by about 0.36 K/W. Gradient-based optimizers (Module 10) follow such derivatives. A practical tip: Compare sensitivities only after scaling or normalizing (next lessons); ∂R/∂s and ∂R/∂t share units here, but in general variables have different units and ranges.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Near the bottom of the valley in R, what is the magnitude of the gradient?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Close to zero: at an interior minimum the slope in every direction vanishes (∇R = 0). Constrained optima are an exception — the gradient need not vanish there (Module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The gradient points toward the minimum. In fact: It points uphill, in the direction of steepest increase. Its negative points downhill — and only locally; the true minimum may lie elsewhere. The takeaway: R = f(x) over a design space; the gradient gives local slopes, with units of output per unit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A design response is a function of a vector: R = f(x) over a design space; the gradient gives local slopes, with units of output per unit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1 of Module 3: Functions, vectors, matrices and gradients. Next comes Lesson 2: Mean, variance, measurement noise and outliers.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3, Lesson 1 · Functions, vectors, matrices and gradients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3, Lesson 1 · Functions, vectors, matrices and gradients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03 · LESSON 1 OF 4 · ≈ 10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Functions, vectors, matrices and gradients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3: Mathematics and data intuition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A design response is a function of a vector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3.1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Functions, vectors, matrices and gradients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A design response is a function of a vector</a:t>
            </a:r>
            <a:endParaRPr lang="en-US" sz="3100" dirty="0"/>
          </a:p>
        </p:txBody>
      </p:sp>
      <p:sp>
        <p:nvSpPr>
          <p:cNvPr id="5" name="intuition-card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icon-bg-intu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261518" cy="261518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85800" y="2468880"/>
            <a:ext cx="484632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The heat sink’s thermal resistance depends on two numbers: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=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,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). Collect them into a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vector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= (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,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). The set of all allowed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is the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design space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. A colour map of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over the design space is the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response surface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. The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gradient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∇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points uphill; −∇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points in the direction of fastest decrease.</a:t>
            </a:r>
            <a:endParaRPr lang="en-US" sz="2000" dirty="0"/>
          </a:p>
        </p:txBody>
      </p:sp>
      <p:pic>
        <p:nvPicPr>
          <p:cNvPr id="9" name="figure" descr="Colour map of R over fin gap and fin thickness, with white arrows. At small gaps arrows point strongly toward larger gaps; near the valley around s ≈ 1.9 mm arrows are short or point toward thinner fin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5653735" cy="3724419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89320" y="5461779"/>
            <a:ext cx="5653735" cy="75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Thermal resistance over the design space, with arrows showing the direction of steepest decrease (−∇R in scaled variables).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Functions, vectors, matrices and gradients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A design response is a function of a vector</a:t>
            </a:r>
            <a:endParaRPr lang="en-US" sz="31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584200"/>
          </a:xfrm>
          <a:prstGeom prst="roundRect">
            <a:avLst>
              <a:gd name="adj" fmla="val 18783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492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∇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= ( (∂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)/(∂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s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), (∂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)/(∂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t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)</a:t>
            </a:r>
            <a:endParaRPr lang="en-US" sz="2000" dirty="0"/>
          </a:p>
        </p:txBody>
      </p:sp>
      <p:graphicFrame>
        <p:nvGraphicFramePr>
          <p:cNvPr id="4" name="math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2367280"/>
          <a:ext cx="10408615" cy="914400"/>
        </p:xfrm>
        <a:graphic>
          <a:graphicData uri="http://schemas.openxmlformats.org/drawingml/2006/table">
            <a:tbl>
              <a:tblPr/>
              <a:tblGrid>
                <a:gridCol w="2289895"/>
                <a:gridCol w="6036997"/>
                <a:gridCol w="208172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x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design vector (s, t)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mm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∂R/∂s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change of R per unit change of s with t fixed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K/(W·mm)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∇R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gradient vector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K/(W·mm)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math-card"/>
          <p:cNvSpPr/>
          <p:nvPr/>
        </p:nvSpPr>
        <p:spPr>
          <a:xfrm>
            <a:off x="1143000" y="4525264"/>
            <a:ext cx="10500055" cy="1513840"/>
          </a:xfrm>
          <a:prstGeom prst="roundRect">
            <a:avLst>
              <a:gd name="adj" fmla="val 7248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11" name="math-text"/>
          <p:cNvSpPr txBox="1"/>
          <p:nvPr/>
        </p:nvSpPr>
        <p:spPr>
          <a:xfrm>
            <a:off x="1234440" y="4570984"/>
            <a:ext cx="10408615" cy="1422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matrix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is a 2-D array of numbers; the dataset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(n × d) is one. A linear model computes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ŷ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Xβ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— a matrix–vector product: each prediction is a weighted sum of the features. Derivatives can be approximated numerically: ∂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/∂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s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≈ [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s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+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h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t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−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s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−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h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t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)]/(2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h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Functions, vectors, matrices and gradients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A design response is a function of a vector</a:t>
            </a:r>
            <a:endParaRPr lang="en-US" sz="31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At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= 1.0 mm,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= 0.6 mm the model gives ∂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/∂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≈ -3.608 K/(W·mm): widening the gap by 0.1 mm lowers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by about 0.36 K/W. Gradient-based optimizers (Module 10) follow such derivatives.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Compare sensitivities only after scaling or normalizing (next lessons); ∂R/∂s and ∂R/∂t share units here, but in general variables have different units and ranges.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Functions, vectors, matrices and gradients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Near the bottom of the valley in R, what is the magnitude of the gradient?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Functions, vectors, matrices and gradients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Near the bottom of the valley in R, what is the magnitude of the gradient?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Close to zero: at an interior minimum the slope in every direction vanishes (∇R = 0). Constrained optima are an exception — the gradient need not vanish there (Module 10).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Functions, vectors, matrices and gradients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A design response is a function of a vector</a:t>
            </a:r>
            <a:endParaRPr lang="en-US" sz="31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The gradient points toward the minimum.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It points uphill, in the direction of steepest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increase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. Its negative points downhill — and only locally; the true minimum may lie elsewhere.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R = f(x) over a design space; the gradient gives local slopes, with units of output per unit input.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 design response is a function of a vector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R = f(x) over a design space; the gradient gives local slopes, with units of output per unit input.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3.2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Mean, variance, measurement noise and outliers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Next in Module 3: Lesson 2. Mark this lesson complete in the course before continuing.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3, Lesson 1: Functions, vectors, matrices and gradients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2026-10-07T01:12:30Z</dcterms:created>
  <dcterms:modified xsi:type="dcterms:W3CDTF">2026-10-07T01:12:30Z</dcterms:modified>
</cp:coreProperties>
</file>